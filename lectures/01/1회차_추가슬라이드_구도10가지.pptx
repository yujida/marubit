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5교시 추가안 · 구도 10가지" id="{30018b1d-6f62-f01f-38c8-a87d4a59e31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[추가안 시작] "구도는 외우는 규칙이 아니라, 보는 사람의 시선을 어디로 보낼지 정하는 선택입니다."
오늘은 10가지를 '이름과 느낌'까지만. 다 외울 필요 없고, 실습에서 3개 이상 찾아 찍으면 성공.
흐름: 점(삼분할 · 교차점 · 황금비) → 선(수평 · 수직, 사선, S자, 유도선) → 도형(삼각형, 원형, 프레임).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격자는 오전에 켜 둔 그대로. 가운데 두기 vs 삼분할을 같은 장면으로 비교해 보여 주면 바로 이해합니다.
느낌: 가운데를 비워 자연스럽고 여유 있는 균형
이렇게 찍기: 격자를 켜고 주인공은 세로선 위에, 수평선은 가로선 위에. 가운데에 두는 습관부터 깨기.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시선 여백(looking room)과 함께 설명. 오른쪽을 보는 사람은 왼쪽 위 점, 왼쪽을 보는 사람은 오른쪽 위 점.
느낌: 격자의 네 점은 시선이 가장 먼저 닿는 자리
이렇게 찍기: 인물은 눈을, 물건은 핵심 부분(라떼아트 · 로고)을 점 위에. 보는 방향의 반대편 점을 고르면 앞에 여백이 생깁니다.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황금비는 '정답 공식'이 아니라 가이드라는 점을 분명히. 현장에서 나선을 맞추기는 어렵고, 편집 단계의 자르기에서 쓰기 좋습니다.
느낌: 1 : 1.618. 삼분할보다 조금 더 안쪽, 더 우아한 흐름
이렇게 찍기: 선을 3등분(33%) 대신 약 38% · 62% 자리에. 나선이 말려 들어가는 끝에 주인공을 두면 시선이 곡선을 타고 들어갑니다.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아이폰: 설정 &gt; 카메라 &gt; 수평계. 갤럭시: 카메라 설정 &gt; 수직/수평 안내선. 4교시에 켰는지 다시 확인.
느낌: 가로선은 고요 · 안정 · 넓음, 세로선은 높이 · 힘 · 단단함
이렇게 찍기: 수평선은 가운데 말고 위 1/3이나 아래 1/3에(하늘이 주인공이면 아래로). 수평계를 켜서 기울지 않게.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정면에서 찍은 계단 vs 비스듬히 찍은 계단을 비교. 인트로 · 운동 · 여행 숏폼에 자주 쓰는 구도.
느낌: 움직임 · 속도 · 긴장. 멈춘 장면에도 방향이 생긴다
이렇게 찍기: 계단 · 난간 · 그림자 · 길이 화면을 모서리에서 모서리로 가로지르게. 카메라를 기울이는 '더치 앵글'은 긴장을 줄 때만 짧게.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크루 단체 사진을 이 구도로 찍어 보게 하면 바로 실습이 됩니다. 대화 장면도 두 사람 + 앞의 물건이 삼각형.
느낌: 바로 선 삼각형은 안정 · 든든함, 거꾸로 선 삼각형은 긴장
이렇게 찍기: 셋을 일렬로 세우지 말고 높이를 다르게. 단체 사진은 가운데를 높게, 정물은 큰 것 하나 + 작은 것 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영상에서는 탑뷰로 접시를 천천히 돌리거나, 원을 따라 카메라가 도는 아크 샷으로 이어집니다(4회차 정보성 · 제품 리뷰).
느낌: 시선이 화면 안을 돌며 머문다. 완결 · 조화 · 모임
이렇게 찍기: 접시 · 컵 · 시계 같은 동그라미를 바로 위에서(탑뷰). 소품을 원을 따라 놓고 가운데에 주인공.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여행 · 산책 브이로그 오프닝에 좋습니다. 곡선 끝에 작은 인물을 두면 규모감까지.
느낌: 부드러움 · 여유 · 깊이. 시선이 천천히 안쪽으로 걸어 들어간다
이렇게 찍기: 가까운 아래에서 시작해 멀리 위로 사라지는 곡선 찾기. 조금 높은 곳에서 내려다보면 잘 보입니다. 한 번만 휘면 C자 곡선.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1회차 본편의 '리딩 라인'을 확장한 장. 브이로그 오프닝 단골: 복도 끝에서 걸어오는 나.
느낌: 선들이 한 점으로 모이며 '여기를 보라'고 가리킨다. 깊이감
이렇게 찍기: 복도 · 길 · 책상 줄의 선이 모이는 곳에 주인공. 폰을 무릎 높이로 낮추면 바닥 선이 길어져 효과가 커집니다.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이야기 속으로 '들어가는' 느낌을 줄 때. 6교시 5샷 시퀀스의 오프닝 샷으로 연결할 수 있습니다.
느낌: 시선을 가두고 집중시킨다. 엿보는 느낌 · 앞뒤 깊이
이렇게 찍기: 문 · 창문 · 나뭇가지 · 어깨 너머로 주인공을 한 번 더 감싸기. 앞의 틀은 어둡게, 주인공은 밝은 쪽에.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[보너스] 시간이 남으면. 대칭은 복도 · 건물 정면, 여백은 하늘 · 벽, 전경 겹치기는 화분 · 잎을 렌즈 앞에, 패턴과 깨기는 같은 의자 · 컵이 줄지어 있을 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[정리] 표는 워크북 · 핸드북에 그대로 넣을 수 있는 형태. "내 채널 아이템에 맞는 구도 두 개에 동그라미."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[실습] 크루별로 학교 공간에서 15분. 한 칸에 사진 한 장, 가로 · 세로 · 대각선 한 줄을 채우면 빙고.
가운데 칸은 황금비 도전(어려우면 자유). 다른 사람이 나오면 동의 받기.
돌아와서: 크루 베스트 1장을 ChatGPT에 올려 피드백 → 단톡방 공유.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21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233172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4206240"/>
            <a:ext cx="65836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121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3246120"/>
            <a:ext cx="7680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4480560"/>
            <a:ext cx="71323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AI콘텐츠 크리에이터 실무 · 촬영편집 1회차 — 추가안: 구도 10가지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rgbClr val="121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103120"/>
            <a:ext cx="97840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188720" y="3977640"/>
            <a:ext cx="97840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ctr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5교시 · 화면의 언어 — 추가안: 구도 10가지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구도 10가지 · 화면 안에 숨은 선 · 점 · 도형</a:t>
            </a:r>
            <a:endParaRPr lang="en-US" sz="2800" dirty="0"/>
          </a:p>
        </p:txBody>
      </p:sp>
      <p:pic>
        <p:nvPicPr>
          <p:cNvPr id="12" name="Image 0" descr="삼분할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1981139" cy="132075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" y="2966679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01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069848" y="2966679"/>
            <a:ext cx="15970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삼분할</a:t>
            </a:r>
            <a:endParaRPr lang="en-US" sz="1400" dirty="0"/>
          </a:p>
        </p:txBody>
      </p:sp>
      <p:pic>
        <p:nvPicPr>
          <p:cNvPr id="15" name="Image 1" descr="교차점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539" y="1554480"/>
            <a:ext cx="1981139" cy="132075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895539" y="2966679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02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3279587" y="2966679"/>
            <a:ext cx="15970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교차점</a:t>
            </a:r>
            <a:endParaRPr lang="en-US" sz="1400" dirty="0"/>
          </a:p>
        </p:txBody>
      </p:sp>
      <p:pic>
        <p:nvPicPr>
          <p:cNvPr id="18" name="Image 2" descr="황금비 · 황금나선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278" y="1554480"/>
            <a:ext cx="1981139" cy="1320759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105278" y="2966679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03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5489326" y="2966679"/>
            <a:ext cx="15970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황금비 · 황금나선</a:t>
            </a:r>
            <a:endParaRPr lang="en-US" sz="1400" dirty="0"/>
          </a:p>
        </p:txBody>
      </p:sp>
      <p:pic>
        <p:nvPicPr>
          <p:cNvPr id="21" name="Image 3" descr="수평선 · 수직선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017" y="1554480"/>
            <a:ext cx="1981139" cy="1320759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315017" y="2966679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7699065" y="2966679"/>
            <a:ext cx="15970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수평선 · 수직선</a:t>
            </a:r>
            <a:endParaRPr lang="en-US" sz="1400" dirty="0"/>
          </a:p>
        </p:txBody>
      </p:sp>
      <p:pic>
        <p:nvPicPr>
          <p:cNvPr id="24" name="Image 4" descr="사선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4756" y="1554480"/>
            <a:ext cx="1981139" cy="1320759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9524756" y="2966679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05</a:t>
            </a:r>
            <a:endParaRPr lang="en-US" sz="1300" dirty="0"/>
          </a:p>
        </p:txBody>
      </p:sp>
      <p:sp>
        <p:nvSpPr>
          <p:cNvPr id="26" name="Text 18"/>
          <p:cNvSpPr txBox="1"/>
          <p:nvPr/>
        </p:nvSpPr>
        <p:spPr>
          <a:xfrm>
            <a:off x="9908804" y="2966679"/>
            <a:ext cx="15970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사선</a:t>
            </a:r>
            <a:endParaRPr lang="en-US" sz="1400" dirty="0"/>
          </a:p>
        </p:txBody>
      </p:sp>
      <p:pic>
        <p:nvPicPr>
          <p:cNvPr id="27" name="Image 5" descr="삼각형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533607"/>
            <a:ext cx="1981139" cy="1320759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85800" y="4945807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06</a:t>
            </a:r>
            <a:endParaRPr lang="en-US" sz="1300" dirty="0"/>
          </a:p>
        </p:txBody>
      </p:sp>
      <p:sp>
        <p:nvSpPr>
          <p:cNvPr id="29" name="Text 20"/>
          <p:cNvSpPr txBox="1"/>
          <p:nvPr/>
        </p:nvSpPr>
        <p:spPr>
          <a:xfrm>
            <a:off x="1069848" y="4945807"/>
            <a:ext cx="15970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삼각형</a:t>
            </a:r>
            <a:endParaRPr lang="en-US" sz="1400" dirty="0"/>
          </a:p>
        </p:txBody>
      </p:sp>
      <p:pic>
        <p:nvPicPr>
          <p:cNvPr id="30" name="Image 6" descr="원형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5539" y="3533607"/>
            <a:ext cx="1981139" cy="1320759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2895539" y="4945807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07</a:t>
            </a:r>
            <a:endParaRPr lang="en-US" sz="1300" dirty="0"/>
          </a:p>
        </p:txBody>
      </p:sp>
      <p:sp>
        <p:nvSpPr>
          <p:cNvPr id="32" name="Text 22"/>
          <p:cNvSpPr txBox="1"/>
          <p:nvPr/>
        </p:nvSpPr>
        <p:spPr>
          <a:xfrm>
            <a:off x="3279587" y="4945807"/>
            <a:ext cx="15970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원형</a:t>
            </a:r>
            <a:endParaRPr lang="en-US" sz="1400" dirty="0"/>
          </a:p>
        </p:txBody>
      </p:sp>
      <p:pic>
        <p:nvPicPr>
          <p:cNvPr id="33" name="Image 7" descr="S자 곡선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05278" y="3533607"/>
            <a:ext cx="1981139" cy="1320759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5105278" y="4945807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08</a:t>
            </a:r>
            <a:endParaRPr lang="en-US" sz="1300" dirty="0"/>
          </a:p>
        </p:txBody>
      </p:sp>
      <p:sp>
        <p:nvSpPr>
          <p:cNvPr id="35" name="Text 24"/>
          <p:cNvSpPr txBox="1"/>
          <p:nvPr/>
        </p:nvSpPr>
        <p:spPr>
          <a:xfrm>
            <a:off x="5489326" y="4945807"/>
            <a:ext cx="15970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S자 곡선</a:t>
            </a:r>
            <a:endParaRPr lang="en-US" sz="1400" dirty="0"/>
          </a:p>
        </p:txBody>
      </p:sp>
      <p:pic>
        <p:nvPicPr>
          <p:cNvPr id="36" name="Image 8" descr="유도선 · 소실점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017" y="3533607"/>
            <a:ext cx="1981139" cy="1320759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7315017" y="4945807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09</a:t>
            </a:r>
            <a:endParaRPr lang="en-US" sz="1300" dirty="0"/>
          </a:p>
        </p:txBody>
      </p:sp>
      <p:sp>
        <p:nvSpPr>
          <p:cNvPr id="38" name="Text 26"/>
          <p:cNvSpPr txBox="1"/>
          <p:nvPr/>
        </p:nvSpPr>
        <p:spPr>
          <a:xfrm>
            <a:off x="7699065" y="4945807"/>
            <a:ext cx="15970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유도선 · 소실점</a:t>
            </a:r>
            <a:endParaRPr lang="en-US" sz="1400" dirty="0"/>
          </a:p>
        </p:txBody>
      </p:sp>
      <p:pic>
        <p:nvPicPr>
          <p:cNvPr id="39" name="Image 9" descr="프레임 속 프레임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4756" y="3533607"/>
            <a:ext cx="1981139" cy="1320759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9524756" y="4945807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10</a:t>
            </a:r>
            <a:endParaRPr lang="en-US" sz="1300" dirty="0"/>
          </a:p>
        </p:txBody>
      </p:sp>
      <p:sp>
        <p:nvSpPr>
          <p:cNvPr id="41" name="Text 28"/>
          <p:cNvSpPr txBox="1"/>
          <p:nvPr/>
        </p:nvSpPr>
        <p:spPr>
          <a:xfrm>
            <a:off x="9908804" y="4945807"/>
            <a:ext cx="15970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프레임 속 프레임</a:t>
            </a:r>
            <a:endParaRPr lang="en-US" sz="1400" dirty="0"/>
          </a:p>
        </p:txBody>
      </p:sp>
      <p:sp>
        <p:nvSpPr>
          <p:cNvPr id="42" name="Shape 29"/>
          <p:cNvSpPr/>
          <p:nvPr/>
        </p:nvSpPr>
        <p:spPr>
          <a:xfrm>
            <a:off x="685800" y="562356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43" name="Text 30"/>
          <p:cNvSpPr txBox="1"/>
          <p:nvPr/>
        </p:nvSpPr>
        <p:spPr>
          <a:xfrm>
            <a:off x="960120" y="562356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구도는 규칙이 아니라 선택: 보는 사람의 시선을 어디로 보낼지 내가 정하는 것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5교시 · 화면의 언어 — 추가안: 구도 10가지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구도 01 · 삼분할</a:t>
            </a:r>
            <a:endParaRPr lang="en-US" sz="2800" dirty="0"/>
          </a:p>
        </p:txBody>
      </p:sp>
      <p:pic>
        <p:nvPicPr>
          <p:cNvPr id="12" name="Image 0" descr="삼분할 구도 도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5760720" cy="3840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0" y="1572768"/>
            <a:ext cx="4647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RULE OF THIRDS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6858000" y="1874520"/>
            <a:ext cx="4647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가운데를 비워 자연스럽고 여유 있는 균형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858000" y="26609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858000" y="27249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이렇게 찍기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6858000" y="29718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격자를 켜고 주인공은 세로선 위에, 수평선은 가로선 위에. 가운데에 두는 습관부터 깨기.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858000" y="35753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0" y="36393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학교에서 찾기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6858000" y="38862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운동장 끝 하늘, 창가 벤치에 앉은 짝, 넓은 복도 한쪽에 선 사람.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858000" y="44897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58000" y="45537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세로 9:16에서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858000" y="48006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세로 화면은 가로선 두 개가 핵심. 얼굴은 위쪽 선, 자막은 아래쪽 선 근처에.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85800" y="562356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960120" y="562356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가운데를 비우면 화면이 숨을 쉽니다. 모든 구도의 출발점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5교시 · 화면의 언어 — 추가안: 구도 10가지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구도 02 · 교차점</a:t>
            </a:r>
            <a:endParaRPr lang="en-US" sz="2800" dirty="0"/>
          </a:p>
        </p:txBody>
      </p:sp>
      <p:pic>
        <p:nvPicPr>
          <p:cNvPr id="12" name="Image 0" descr="교차점 구도 도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5760720" cy="3840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0" y="1572768"/>
            <a:ext cx="4647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POWER POINTS (INTERSECTIONS)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6858000" y="1874520"/>
            <a:ext cx="4647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격자의 네 점은 시선이 가장 먼저 닿는 자리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858000" y="26609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858000" y="27249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이렇게 찍기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6858000" y="29718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인물은 눈을, 물건은 핵심 부분(라떼아트 · 로고)을 점 위에. 보는 방향의 반대편 점을 고르면 앞에 여백이 생깁니다.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858000" y="35753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0" y="36393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학교에서 찾기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6858000" y="38862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짝의 얼굴 클로즈업, 책상 위 컵 하나, 손에 든 소품.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858000" y="44897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58000" y="45537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세로 9:16에서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858000" y="48006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세로에선 위쪽 두 점이 얼굴 자리. 오른쪽 아래 점은 버튼 · 캡션에 가리기 쉬우니 피하기.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85800" y="562356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960120" y="562356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선보다 점이 더 셉니다. 주인공의 '눈'을 점에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5교시 · 화면의 언어 — 추가안: 구도 10가지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구도 03 · 황금비 · 황금나선</a:t>
            </a:r>
            <a:endParaRPr lang="en-US" sz="2800" dirty="0"/>
          </a:p>
        </p:txBody>
      </p:sp>
      <p:pic>
        <p:nvPicPr>
          <p:cNvPr id="12" name="Image 0" descr="황금비 · 황금나선 구도 도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5760720" cy="3840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0" y="1572768"/>
            <a:ext cx="4647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GOLDEN RATIO · FIBONACCI SPIRAL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6858000" y="1874520"/>
            <a:ext cx="4647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 : 1.618. 삼분할보다 조금 더 안쪽, 더 우아한 흐름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858000" y="26609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858000" y="27249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이렇게 찍기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6858000" y="29718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선을 3등분(33%) 대신 약 38% · 62% 자리에. 나선이 말려 들어가는 끝에 주인공을 두면 시선이 곡선을 타고 들어갑니다.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858000" y="35753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0" y="36393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학교에서 찾기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6858000" y="38862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음식 플레이팅, 굽은 계단 난간, 꽃 · 화분 같은 곡선 소품.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858000" y="44897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58000" y="45537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세로 9:16에서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858000" y="48006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나선을 세로로 돌려 쓰고 나선 끝을 얼굴이나 제품에. 찍을 땐 삼분할, 고르고 자를 땐 황금비로 다듬기.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85800" y="562356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960120" y="562356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삼분할의 정밀 버전. 찍을 땐 삼분할, 다듬을 땐 황금비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5교시 · 화면의 언어 — 추가안: 구도 10가지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구도 04 · 수평선 · 수직선</a:t>
            </a:r>
            <a:endParaRPr lang="en-US" sz="2800" dirty="0"/>
          </a:p>
        </p:txBody>
      </p:sp>
      <p:pic>
        <p:nvPicPr>
          <p:cNvPr id="12" name="Image 0" descr="수평선 · 수직선 구도 도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5760720" cy="3840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0" y="1572768"/>
            <a:ext cx="4647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HORIZONTAL &amp; VERTICAL LINES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6858000" y="1874520"/>
            <a:ext cx="4647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가로선은 고요 · 안정 · 넓음, 세로선은 높이 · 힘 · 단단함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858000" y="26609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858000" y="27249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이렇게 찍기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6858000" y="29718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수평선은 가운데 말고 위 1/3이나 아래 1/3에(하늘이 주인공이면 아래로). 수평계를 켜서 기울지 않게.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858000" y="35753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0" y="36393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학교에서 찾기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6858000" y="38862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창틀, 칠판, 운동장 끝선, 복도 기둥, 건물 세로선.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858000" y="44897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58000" y="45537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세로 9:16에서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858000" y="48006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세로 화면은 세로선이 강한 화면. 폰을 위로 꺾으면 건물 세로선이 기울어지니 폰을 똑바로 세우기.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85800" y="562356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960120" y="562356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선이 비뚤어지면 영상 전체가 아마추어처럼 보입니다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5교시 · 화면의 언어 — 추가안: 구도 10가지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구도 05 · 사선</a:t>
            </a:r>
            <a:endParaRPr lang="en-US" sz="2800" dirty="0"/>
          </a:p>
        </p:txBody>
      </p:sp>
      <p:pic>
        <p:nvPicPr>
          <p:cNvPr id="12" name="Image 0" descr="사선 구도 도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5760720" cy="3840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0" y="1572768"/>
            <a:ext cx="4647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DIAGONAL LINES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6858000" y="1874520"/>
            <a:ext cx="4647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움직임 · 속도 · 긴장. 멈춘 장면에도 방향이 생긴다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858000" y="26609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858000" y="27249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이렇게 찍기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6858000" y="29718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계단 · 난간 · 그림자 · 길이 화면을 모서리에서 모서리로 가로지르게. 카메라를 기울이는 '더치 앵글'은 긴장을 줄 때만 짧게.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858000" y="35753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0" y="36393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학교에서 찾기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6858000" y="38862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계단, 경사로, 에스컬레이터, 오후에 비스듬히 들어오는 햇살 그림자.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858000" y="44897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58000" y="45537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세로 9:16에서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858000" y="48006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세로 화면에선 사선이 길어져 효과가 더 커집니다. 짧은 계단도 깊고 높아 보여요.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85800" y="562356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960120" y="562356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똑같은 계단도 비스듬히 넣으면 움직이기 시작합니다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5교시 · 화면의 언어 — 추가안: 구도 10가지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구도 06 · 삼각형</a:t>
            </a:r>
            <a:endParaRPr lang="en-US" sz="2800" dirty="0"/>
          </a:p>
        </p:txBody>
      </p:sp>
      <p:pic>
        <p:nvPicPr>
          <p:cNvPr id="12" name="Image 0" descr="삼각형 구도 도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5760720" cy="3840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0" y="1572768"/>
            <a:ext cx="4647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TRIANGLE COMPOSITION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6858000" y="1874520"/>
            <a:ext cx="4647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바로 선 삼각형은 안정 · 든든함, 거꾸로 선 삼각형은 긴장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858000" y="26609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858000" y="27249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이렇게 찍기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6858000" y="29718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셋을 일렬로 세우지 말고 높이를 다르게. 단체 사진은 가운데를 높게, 정물은 큰 것 하나 + 작은 것 둘.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858000" y="35753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0" y="36393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학교에서 찾기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6858000" y="38862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컵 · 디저트 · 화분 세 개, 크루 단체 사진, 앉은 사람의 상반신(머리가 꼭짓점).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858000" y="44897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58000" y="45537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세로 9:16에서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858000" y="48006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세로에선 위아래로 긴 삼각형. 얼굴이 꼭짓점, 두 손과 소품이 밑변.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85800" y="562356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960120" y="562356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셋을 일렬로 세우지 말고, 높이를 다르게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5교시 · 화면의 언어 — 추가안: 구도 10가지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구도 07 · 원형</a:t>
            </a:r>
            <a:endParaRPr lang="en-US" sz="2800" dirty="0"/>
          </a:p>
        </p:txBody>
      </p:sp>
      <p:pic>
        <p:nvPicPr>
          <p:cNvPr id="12" name="Image 0" descr="원형 구도 도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5760720" cy="3840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0" y="1572768"/>
            <a:ext cx="4647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CIRCULAR COMPOSITION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6858000" y="1874520"/>
            <a:ext cx="4647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시선이 화면 안을 돌며 머문다. 완결 · 조화 · 모임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858000" y="26609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858000" y="27249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이렇게 찍기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6858000" y="29718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접시 · 컵 · 시계 같은 동그라미를 바로 위에서(탑뷰). 소품을 원을 따라 놓고 가운데에 주인공.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858000" y="35753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0" y="36393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학교에서 찾기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6858000" y="38862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카페 테이블 탑뷰, 둘러앉은 크루, 둥근 창, 나선 계단을 위에서.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858000" y="44897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58000" y="45537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세로 9:16에서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858000" y="48006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원이 가로 폭을 꽉 채우게 놓고, 위 · 아래는 자막 자리로 비우기.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85800" y="562356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960120" y="562356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동그라미는 시선을 가둡니다. 음식 · 제품 콘텐츠의 기본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5교시 · 화면의 언어 — 추가안: 구도 10가지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구도 08 · S자 곡선</a:t>
            </a:r>
            <a:endParaRPr lang="en-US" sz="2800" dirty="0"/>
          </a:p>
        </p:txBody>
      </p:sp>
      <p:pic>
        <p:nvPicPr>
          <p:cNvPr id="12" name="Image 0" descr="S자 곡선 구도 도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5760720" cy="3840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0" y="1572768"/>
            <a:ext cx="4647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S-CURVE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6858000" y="1874520"/>
            <a:ext cx="4647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부드러움 · 여유 · 깊이. 시선이 천천히 안쪽으로 걸어 들어간다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858000" y="26609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858000" y="27249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이렇게 찍기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6858000" y="29718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가까운 아래에서 시작해 멀리 위로 사라지는 곡선 찾기. 조금 높은 곳에서 내려다보면 잘 보입니다. 한 번만 휘면 C자 곡선.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858000" y="35753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0" y="36393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학교에서 찾기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6858000" y="38862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굽은 산책로, 하천, 휘어진 계단 · 난간, 줄 서 있는 사람들.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858000" y="44897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58000" y="45537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세로 9:16에서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858000" y="48006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세로 화면과 가장 잘 맞는 선. 화면 아래에서 위 끝까지 이어지게.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85800" y="562356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960120" y="562356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직선은 가리키고, 곡선은 데려갑니다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5교시 · 화면의 언어 — 추가안: 구도 10가지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구도 09 · 유도선 · 소실점</a:t>
            </a:r>
            <a:endParaRPr lang="en-US" sz="2800" dirty="0"/>
          </a:p>
        </p:txBody>
      </p:sp>
      <p:pic>
        <p:nvPicPr>
          <p:cNvPr id="12" name="Image 0" descr="유도선 · 소실점 구도 도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5760720" cy="3840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0" y="1572768"/>
            <a:ext cx="4647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LEADING LINES · VANISHING POINT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6858000" y="1874520"/>
            <a:ext cx="4647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선들이 한 점으로 모이며 '여기를 보라'고 가리킨다. 깊이감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858000" y="26609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858000" y="27249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이렇게 찍기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6858000" y="29718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복도 · 길 · 책상 줄의 선이 모이는 곳에 주인공. 폰을 무릎 높이로 낮추면 바닥 선이 길어져 효과가 커집니다.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858000" y="35753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0" y="36393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학교에서 찾기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6858000" y="38862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공학관 복도, 긴 계단, 주차장 선, 강의실 책상 줄.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858000" y="44897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58000" y="45537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세로 9:16에서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858000" y="48006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소실점은 가운데보다 약간 위에. 인물이 선을 따라 걸어오거나 멀어지는 장면으로.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85800" y="562356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960120" y="562356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선은 화살표입니다. 화살표 끝에 주인공을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5교시 · 화면의 언어 — 추가안: 구도 10가지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구도 10 · 프레임 속 프레임</a:t>
            </a:r>
            <a:endParaRPr lang="en-US" sz="2800" dirty="0"/>
          </a:p>
        </p:txBody>
      </p:sp>
      <p:pic>
        <p:nvPicPr>
          <p:cNvPr id="12" name="Image 0" descr="프레임 속 프레임 구도 도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5760720" cy="3840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0" y="1572768"/>
            <a:ext cx="4647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FRAME WITHIN A FRAME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6858000" y="1874520"/>
            <a:ext cx="4647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시선을 가두고 집중시킨다. 엿보는 느낌 · 앞뒤 깊이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858000" y="26609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858000" y="27249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이렇게 찍기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6858000" y="29718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문 · 창문 · 나뭇가지 · 어깨 너머로 주인공을 한 번 더 감싸기. 앞의 틀은 어둡게, 주인공은 밝은 쪽에.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858000" y="35753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0" y="36393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학교에서 찾기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6858000" y="38862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강의실 문, 창틀, 복도 끝 출입구, 노트북 화면 너머.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858000" y="44897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58000" y="45537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세로 9:16에서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858000" y="48006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세로로 긴 문틀이 세로 화면과 딱 맞습니다. 문틀 밖에서 안을 보는 샷으로 장면 시작하기.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85800" y="562356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960120" y="562356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화면 안에 화면을 하나 더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5교시 · 화면의 언어 — 추가안: 구도 10가지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+ 4가지 더 · 알아 두면 바로 쓰는 구도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00200"/>
            <a:ext cx="2499284" cy="384048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pic>
        <p:nvPicPr>
          <p:cNvPr id="13" name="Image 0" descr="대칭 · 중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2499284" cy="166618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914400" y="3449269"/>
            <a:ext cx="2042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2"/>
                </a:solidFill>
              </a:rPr>
              <a:t>SYMMETRY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914400" y="3696157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대칭 · 중앙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914400" y="4107637"/>
            <a:ext cx="20420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양쪽이 같은 복도 · 건물 정면은 가운데가 정답. 웅장하고 단정하게.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3459404" y="1600200"/>
            <a:ext cx="2499284" cy="384048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pic>
        <p:nvPicPr>
          <p:cNvPr id="18" name="Image 1" descr="여백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404" y="1600200"/>
            <a:ext cx="2499284" cy="166618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688004" y="3449269"/>
            <a:ext cx="2042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2"/>
                </a:solidFill>
              </a:rPr>
              <a:t>NEGATIVE SPACE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3688004" y="3696157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여백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3688004" y="4107637"/>
            <a:ext cx="20420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빈 하늘 · 벽을 넓게. 고요함 · 외로움 · 미니멀. 자막 자리도 됩니다.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233008" y="1600200"/>
            <a:ext cx="2499284" cy="384048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pic>
        <p:nvPicPr>
          <p:cNvPr id="23" name="Image 2" descr="전경 겹치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8" y="1600200"/>
            <a:ext cx="2499284" cy="1666189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461608" y="3449269"/>
            <a:ext cx="2042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2"/>
                </a:solidFill>
              </a:rPr>
              <a:t>FOREGROUND LAYERS</a:t>
            </a:r>
            <a:endParaRPr lang="en-US" sz="1050" dirty="0"/>
          </a:p>
        </p:txBody>
      </p:sp>
      <p:sp>
        <p:nvSpPr>
          <p:cNvPr id="25" name="Text 19"/>
          <p:cNvSpPr txBox="1"/>
          <p:nvPr/>
        </p:nvSpPr>
        <p:spPr>
          <a:xfrm>
            <a:off x="6461608" y="3696157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전경 겹치기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6461608" y="4107637"/>
            <a:ext cx="20420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앞에 흐린 잎 · 소품을 걸면 앞 · 중간 · 뒤 세 겹의 깊이가 생깁니다.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9006611" y="1600200"/>
            <a:ext cx="2499284" cy="384048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pic>
        <p:nvPicPr>
          <p:cNvPr id="28" name="Image 3" descr="패턴과 깨기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611" y="1600200"/>
            <a:ext cx="2499284" cy="1666189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235211" y="3449269"/>
            <a:ext cx="2042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2"/>
                </a:solidFill>
              </a:rPr>
              <a:t>PATTERN &amp; BREAK</a:t>
            </a:r>
            <a:endParaRPr lang="en-US" sz="1050" dirty="0"/>
          </a:p>
        </p:txBody>
      </p:sp>
      <p:sp>
        <p:nvSpPr>
          <p:cNvPr id="30" name="Text 23"/>
          <p:cNvSpPr txBox="1"/>
          <p:nvPr/>
        </p:nvSpPr>
        <p:spPr>
          <a:xfrm>
            <a:off x="9235211" y="3696157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패턴과 깨기</a:t>
            </a:r>
            <a:endParaRPr lang="en-US" sz="1700" dirty="0"/>
          </a:p>
        </p:txBody>
      </p:sp>
      <p:sp>
        <p:nvSpPr>
          <p:cNvPr id="31" name="Text 24"/>
          <p:cNvSpPr txBox="1"/>
          <p:nvPr/>
        </p:nvSpPr>
        <p:spPr>
          <a:xfrm>
            <a:off x="9235211" y="4107637"/>
            <a:ext cx="20420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반복되는 무늬 속 하나만 다르게. 눈이 그 하나로 바로 갑니다.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685800" y="562356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960120" y="562356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영어 이름도 같이 기억하기: 4회차 AI 영상 프롬프트에 그대로 씁니다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5교시 · 화면의 언어 — 추가안: 구도 10가지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한 장 정리 · 어떤 느낌을, 어떤 콘텐츠에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54480"/>
          <a:ext cx="10820095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834640"/>
                <a:gridCol w="3291840"/>
                <a:gridCol w="4053535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구도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주는 느낌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이런 콘텐츠에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삼분할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자연스러운 균형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인터뷰 · 브이로그 전반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교차점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주인공 강조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인물 · 제품 컷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황금비 · 나선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우아한 흐름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음식 · 공간 · 감성 영상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수평선 · 수직선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안정 · 고요 · 높이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풍경 · 공간 소개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사선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움직임 · 에너지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운동 · 여행 · 인트로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삼각형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안정 · 관계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단체 · 정물 · 대화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07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원형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집중 · 완결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음식 · 제품 탑뷰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08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S자 곡선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여유 · 여정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여행 · 산책 브이로그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09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유도선 · 소실점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깊이 · 집중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오프닝 · 장소 소개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프레임 속 프레임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몰입 · 엿보기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스토리 · 인물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5교시 · 화면의 언어 — 추가안: 구도 10가지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실습 · 구도 빙고 (15분)</a:t>
            </a:r>
            <a:endParaRPr lang="en-US" sz="2800" dirty="0"/>
          </a:p>
        </p:txBody>
      </p:sp>
      <p:pic>
        <p:nvPicPr>
          <p:cNvPr id="12" name="Image 0" descr="삼분할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72768"/>
            <a:ext cx="1252728" cy="83515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" y="2453640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삼분할</a:t>
            </a:r>
            <a:endParaRPr lang="en-US" sz="1200" dirty="0"/>
          </a:p>
        </p:txBody>
      </p:sp>
      <p:pic>
        <p:nvPicPr>
          <p:cNvPr id="14" name="Image 1" descr="사선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256" y="1572768"/>
            <a:ext cx="1252728" cy="83515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048256" y="2453640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사선</a:t>
            </a:r>
            <a:endParaRPr lang="en-US" sz="1200" dirty="0"/>
          </a:p>
        </p:txBody>
      </p:sp>
      <p:pic>
        <p:nvPicPr>
          <p:cNvPr id="16" name="Image 2" descr="삼각형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712" y="1572768"/>
            <a:ext cx="1252728" cy="83515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410712" y="2453640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삼각형</a:t>
            </a:r>
            <a:endParaRPr lang="en-US" sz="1200" dirty="0"/>
          </a:p>
        </p:txBody>
      </p:sp>
      <p:pic>
        <p:nvPicPr>
          <p:cNvPr id="18" name="Image 3" descr="유도선 · 소실점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837688"/>
            <a:ext cx="1252728" cy="83515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85800" y="3718560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유도선 · 소실점</a:t>
            </a:r>
            <a:endParaRPr lang="en-US" sz="1200" dirty="0"/>
          </a:p>
        </p:txBody>
      </p:sp>
      <p:pic>
        <p:nvPicPr>
          <p:cNvPr id="20" name="Image 4" descr="황금비 · 황금나선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8256" y="2837688"/>
            <a:ext cx="1252728" cy="83515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2048256" y="3718560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황금비 (도전)</a:t>
            </a:r>
            <a:endParaRPr lang="en-US" sz="1200" dirty="0"/>
          </a:p>
        </p:txBody>
      </p:sp>
      <p:pic>
        <p:nvPicPr>
          <p:cNvPr id="22" name="Image 5" descr="원형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0712" y="2837688"/>
            <a:ext cx="1252728" cy="835152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3410712" y="3718560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원형</a:t>
            </a:r>
            <a:endParaRPr lang="en-US" sz="1200" dirty="0"/>
          </a:p>
        </p:txBody>
      </p:sp>
      <p:pic>
        <p:nvPicPr>
          <p:cNvPr id="24" name="Image 6" descr="프레임 속 프레임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102608"/>
            <a:ext cx="1252728" cy="835152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685800" y="4983480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프레임 속 프레임</a:t>
            </a:r>
            <a:endParaRPr lang="en-US" sz="1200" dirty="0"/>
          </a:p>
        </p:txBody>
      </p:sp>
      <p:pic>
        <p:nvPicPr>
          <p:cNvPr id="26" name="Image 7" descr="수평선 · 수직선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48256" y="4102608"/>
            <a:ext cx="1252728" cy="835152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2048256" y="4983480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수평선 · 수직선</a:t>
            </a:r>
            <a:endParaRPr lang="en-US" sz="1200" dirty="0"/>
          </a:p>
        </p:txBody>
      </p:sp>
      <p:pic>
        <p:nvPicPr>
          <p:cNvPr id="28" name="Image 8" descr="S자 곡선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0712" y="4102608"/>
            <a:ext cx="1252728" cy="835152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3410712" y="4983480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S자 곡선</a:t>
            </a:r>
            <a:endParaRPr lang="en-US" sz="1200" dirty="0"/>
          </a:p>
        </p:txBody>
      </p:sp>
      <p:sp>
        <p:nvSpPr>
          <p:cNvPr id="30" name="Text 18"/>
          <p:cNvSpPr txBox="1"/>
          <p:nvPr/>
        </p:nvSpPr>
        <p:spPr>
          <a:xfrm>
            <a:off x="5120640" y="1572768"/>
            <a:ext cx="6385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규칙</a:t>
            </a:r>
            <a:endParaRPr lang="en-US" sz="1300" dirty="0"/>
          </a:p>
        </p:txBody>
      </p:sp>
      <p:sp>
        <p:nvSpPr>
          <p:cNvPr id="31" name="Text 19"/>
          <p:cNvSpPr txBox="1"/>
          <p:nvPr/>
        </p:nvSpPr>
        <p:spPr>
          <a:xfrm>
            <a:off x="5120640" y="1901952"/>
            <a:ext cx="63852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☐  크루별로 9칸 중 최대한 많이, 한 칸에 사진 한 장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☐  가로 · 세로 · 대각선 한 줄을 채우면 빙고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☐  같은 장소라도 구도가 다르면 OK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☐  세로 사진 2장 이상 섞기 (숏폼 연습)</a:t>
            </a:r>
            <a:endParaRPr lang="en-US" sz="1400" dirty="0"/>
          </a:p>
        </p:txBody>
      </p:sp>
      <p:sp>
        <p:nvSpPr>
          <p:cNvPr id="32" name="Shape 20"/>
          <p:cNvSpPr/>
          <p:nvPr/>
        </p:nvSpPr>
        <p:spPr>
          <a:xfrm>
            <a:off x="5120640" y="3611880"/>
            <a:ext cx="6385255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33" name="Text 21"/>
          <p:cNvSpPr txBox="1"/>
          <p:nvPr/>
        </p:nvSpPr>
        <p:spPr>
          <a:xfrm>
            <a:off x="5349240" y="3776472"/>
            <a:ext cx="5928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ChatGPT에 사진을 올리고</a:t>
            </a:r>
            <a:endParaRPr lang="en-US" sz="1100" dirty="0"/>
          </a:p>
        </p:txBody>
      </p:sp>
      <p:sp>
        <p:nvSpPr>
          <p:cNvPr id="34" name="Text 22"/>
          <p:cNvSpPr txBox="1"/>
          <p:nvPr/>
        </p:nvSpPr>
        <p:spPr>
          <a:xfrm>
            <a:off x="5349240" y="4087368"/>
            <a:ext cx="59280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이 사진은 ○○ 구도로 찍었어. 의도한 구도가 잘 보이는지 화면 속 선 · 점 · 도형 위치로 설명하고, 더 좋아지려면 폰을 어디로 옮기면 될지 한 가지만 알려줘.</a:t>
            </a:r>
            <a:endParaRPr lang="en-US" sz="1350" dirty="0"/>
          </a:p>
        </p:txBody>
      </p:sp>
      <p:sp>
        <p:nvSpPr>
          <p:cNvPr id="35" name="Shape 23"/>
          <p:cNvSpPr/>
          <p:nvPr/>
        </p:nvSpPr>
        <p:spPr>
          <a:xfrm>
            <a:off x="685800" y="562356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36" name="Text 24"/>
          <p:cNvSpPr txBox="1"/>
          <p:nvPr/>
        </p:nvSpPr>
        <p:spPr>
          <a:xfrm>
            <a:off x="960120" y="562356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빙고 사진은 드라이브 크루 폴더에. 가장 좋은 한 장이 크루 트리의 오너먼트가 됩니다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ew Tree">
  <a:themeElements>
    <a:clrScheme name="Crew Tree">
      <a:dk1>
        <a:srgbClr val="1B211E"/>
      </a:dk1>
      <a:lt1>
        <a:srgbClr val="FFFFFF"/>
      </a:lt1>
      <a:dk2>
        <a:srgbClr val="121816"/>
      </a:dk2>
      <a:lt2>
        <a:srgbClr val="F3F6F4"/>
      </a:lt2>
      <a:accent1>
        <a:srgbClr val="D6A23C"/>
      </a:accent1>
      <a:accent2>
        <a:srgbClr val="1F5A43"/>
      </a:accent2>
      <a:accent3>
        <a:srgbClr val="B8473E"/>
      </a:accent3>
      <a:accent4>
        <a:srgbClr val="3B6F97"/>
      </a:accent4>
      <a:accent5>
        <a:srgbClr val="6E7A74"/>
      </a:accent5>
      <a:accent6>
        <a:srgbClr val="F2E3B8"/>
      </a:accent6>
      <a:hlink>
        <a:srgbClr val="3B6F97"/>
      </a:hlink>
      <a:folHlink>
        <a:srgbClr val="6E4E8E"/>
      </a:folHlink>
    </a:clrScheme>
    <a:fontScheme name="Crew Tre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촬영편집 1회차 추가안 — 구도 10가지</dc:title>
  <dc:subject>PptxGenJS Presentation</dc:subject>
  <dc:creator>촬영편집 강사</dc:creator>
  <cp:lastModifiedBy>촬영편집 강사</cp:lastModifiedBy>
  <cp:revision>1</cp:revision>
  <dcterms:created xsi:type="dcterms:W3CDTF">2026-10-20T18:54:10Z</dcterms:created>
  <dcterms:modified xsi:type="dcterms:W3CDTF">2026-10-20T18:54:10Z</dcterms:modified>
</cp:coreProperties>
</file>