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</p:sldIdLst>
  <p:notesMasterIdLst>
    <p:notesMasterId r:id="rId5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시작" id="{681809f9-33a5-926a-5a56-dea91454a9c7}">
          <p14:sldIdLst>
            <p14:sldId id="256"/>
            <p14:sldId id="257"/>
          </p14:sldIdLst>
        </p14:section>
        <p14:section name="1교시 OT와 과정 지도" id="{ba285724-8ecd-474f-f853-bb6d818de5f9}">
          <p14:sldIdLst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</p14:sldIdLst>
        </p14:section>
        <p14:section name="2교시 영상 콘텐츠, 지금 어떻게 만들어지나" id="{d0b21bce-c9c1-09fa-d1fa-30d26253e793}">
          <p14:sldIdLst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</p14:sldIdLst>
        </p14:section>
        <p14:section name="3교시 카메라의 원리 ① 사진" id="{a779d7b6-8b6a-1ffb-5693-b9f7e64c347b}">
          <p14:sldIdLst>
            <p14:sldId id="279"/>
            <p14:sldId id="280"/>
            <p14:sldId id="281"/>
            <p14:sldId id="282"/>
            <p14:sldId id="283"/>
            <p14:sldId id="284"/>
          </p14:sldIdLst>
        </p14:section>
        <p14:section name="4교시 카메라의 원리 ② 영상" id="{9e2a3d4a-d341-f21c-89d0-eb1ab131ad5e}">
          <p14:sldIdLst>
            <p14:sldId id="285"/>
            <p14:sldId id="286"/>
            <p14:sldId id="287"/>
            <p14:sldId id="288"/>
            <p14:sldId id="289"/>
            <p14:sldId id="290"/>
            <p14:sldId id="291"/>
          </p14:sldIdLst>
        </p14:section>
        <p14:section name="5교시 화면의 언어와 빛" id="{46bc4134-5035-96e2-b510-3cb109b82b46}">
          <p14:sldIdLst>
            <p14:sldId id="292"/>
            <p14:sldId id="293"/>
            <p14:sldId id="294"/>
            <p14:sldId id="295"/>
            <p14:sldId id="296"/>
            <p14:sldId id="297"/>
            <p14:sldId id="298"/>
            <p14:sldId id="299"/>
          </p14:sldIdLst>
        </p14:section>
        <p14:section name="6교시 움직임 · 컷 · 소리, 그리고 장비" id="{70271db7-5903-fb10-bb6f-9d3257acab6f}">
          <p14:sldIdLst>
            <p14:sldId id="300"/>
            <p14:sldId id="301"/>
            <p14:sldId id="302"/>
            <p14:sldId id="303"/>
            <p14:sldId id="304"/>
            <p14:sldId id="305"/>
            <p14:sldId id="306"/>
          </p14:sldIdLst>
        </p14:section>
        <p14:section name="7교시 촬영 리뷰와 공유" id="{3fb8d0a8-316e-6d5a-af27-0b05e34b189d}">
          <p14:sldIdLst>
            <p14:sldId id="307"/>
            <p14:sldId id="308"/>
            <p14:sldId id="309"/>
            <p14:sldId id="310"/>
            <p14:sldId id="311"/>
            <p14:sldId id="31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notesMaster" Target="notesMasters/notesMaster1.xml"/><Relationship Id="rId60" Type="http://schemas.openxmlformats.org/officeDocument/2006/relationships/presProps" Target="presProps.xml"/><Relationship Id="rId61" Type="http://schemas.openxmlformats.org/officeDocument/2006/relationships/viewProps" Target="viewProps.xml"/><Relationship Id="rId62" Type="http://schemas.openxmlformats.org/officeDocument/2006/relationships/theme" Target="theme/theme1.xml"/><Relationship Id="rId6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[10:00 시작 전] 입장하는 대로 크루 자리로 안내합니다(크루 편성표를 책상 위에).
첫 멘트: "오늘부터 6번, 여러분은 각자 자기 채널 하나를 키웁니다. 첫날인 오늘은 '보는 눈'을 만드는 날이에요."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오늘 흐름을 30초 안에. "오전엔 큰 그림, 오후엔 카메라 원리와 실습." 매 교시 50분 수업 + 10분 휴식, 점심 11:50–12:40.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[10:00–10:50] 목표: 과정 전체 그림 + 크루 결성 + 수업 도구 세팅 + 첫 기획 연습(한 줄 소개).
시간: 과정 지도 10분 → 크루 10분 → 세팅 15분 → 한 줄 소개 15분.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[10:02] 과정 전체를 크리스마스 트리 한 그루로.
- 화분(1회): 보는 눈. 카메라와 화면의 언어가 모든 것의 바닥.
- 줄기(2회 + 3주 과제): 내 채널 기획안. 2회차에 유튜브 채널을 엽니다.
- 오너먼트(3·4회): 숏폼, 브이로그, 정보성, 스트리머형, AI 영상을 하나씩.
- 별(5회): 브랜딩과 후킹으로 대표작 리뉴얼.
- 점등식(6회 12/10): 우리끼리 채널을 처음부터 다시 보는 상영회.
"연습용으로 만들고 버리는 영상은 없습니다. 전부 여러분 채널에 남아요."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[10:05] 결과물을 숫자로 약속합니다. "수료할 때 각자 유튜브 채널 하나, 영상 7편 이상, 기획안, 제작 노트가 남습니다. 취업 포트폴리오로 바로 씁니다."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[10:07] 수업이 끝날 때마다 단톡방과 드라이브로 나눠 주는 것들. "복습은 이걸로 하시면 됩니다. 놓친 부분이 있어도 괜찮아요."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[10:08] 과정 전체의 원칙. ChatGPT와 CapCut 유료 계정을 끝까지 쓰되, 결정과 책임은 사람에게.
매 실습마다 워크북에 "AI가 한 것 / 내가 고친 것"을 한 줄씩 → 6회차 제작 노트.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[10:10] "영상은 각자 만들고, 배우는 건 같이. 누구도 뒤처지지 않게, 누구도 혼자 달리지 않게."
4개 크루(5~6명), 경험자와 입문자가 섞여 있고 짝이 정해져 있습니다. 역할은 2회차부터 명단 순서로 한 칸씩 돌아갑니다.
막힘 규칙: 3분 막히면 짝 → 5분 더 막히면 기술 도우미 → 그래도 안 되면 "강사 호출 카드".
개인 순위는 없습니다. 매 회차 목표는 "크루 전원 완료".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[10:13] 크루별 인사(이름 + 만들고 싶은 것 한 마디). 크루 이름은 7교시 전까지 크루가 직접 짓기(예: 별 · 종 · 방울 · 리본).
괄호는 1회차 역할. 설문 자기평가로 짠 1차 편성이라 오늘 실습을 보고 1~2명 조정할 수 있다고 미리 말해 두세요.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[10:20–10:35] 크루장이 전원 완료를 확인하고 손을 듭니다. 기술 도우미는 막힌 사람부터.
- 단톡방: QR 또는 링크. 공지 · 과제 · 질문용.
- 구글 드라이브: 공유 폴더 → 크루 폴더 → 내 이름 폴더. 오늘 찍은 건 7교시에 여기로.
- CapCut PC: PC마다 설치 상태가 다릅니다. 실행해 보고 안 되면 설치 안내대로(못 하면 과제로).
- 유료 계정: ChatGPT와 CapCut 로그인 확인(10/21부터 사용 가능).
- 촬영 동의: 수업 장면을 찍어 6회차 브이로그에 쓰는 것에 대한 동의. 원하지 않으면 얼굴 없이 찍는다고 안내.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[10:35–10:50] 오늘의 첫 기획 연습이자 2회차 채널 소개글의 초안. "나를 모르는 사람 기준"은 2회차 기획 원칙 1번이기도 합니다.
진행: 3분 쓰기 → 짝에게 읽기("보고 싶다 / 아니다") → 3번 고쳐 쓰기 → 크루 안에서 발표.
AI는 후보만. 내 이야기와 맞는 단어만 가져오기(워크북 p.2). 말하기가 부담인 사람은 글로 보여줘도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[11:00–11:50] 목표: 영상 콘텐츠의 지형(형식 · 유형 · 플랫폼)과 프로의 제작 공정 7단계를 "카페 30초 릴스" 한 편으로 이해하기. AI가 각 단계에 들어가는 자리를 보며 6회 과정을 미리 보기.
시간: 도입 3분 → 콘텐츠 지도 10분 → 공정 7단계 5분 → 카페 릴스 따라가기 15분 → 프로덕션 vs 1인 + AI 9분 → 마스터링 · 규격 6분 → 정리 2분.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[11:00] 크루별로 세어 보고 가장 많은 사람 손들기. 대부분 수십 편이 나옵니다.
"우리는 이미 영상을 아주 많이 '보는' 사람입니다. 오늘부터는 '만드는 사람의 눈'으로 봅니다."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[11:03–11:13] 형식(숏폼 · 롱폼 · 라이브)과 유형을 한 장에. ●는 그 형식에서 흔히 보이는 조합이라는 뜻의 대략적인 지도입니다(정답표가 아님).
질문: "여러분이 저장해 둔 영상은 어느 칸에 많나요?"
4회차에 브이로그 · 정보성 · 스트리머형 · AI 영상을 각자 기획안에 오너먼트로 답니다. 브랜디드는 5회차 마케팅과 연결.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[11:13] 같은 영상도 어디에 올리느냐에 따라 역할이 다릅니다. 이 과정의 기록은 유튜브 채널에 쌓고, 사업 홍보가 목적인 분은 인스타그램 · 틱톡 동시 업로드를 권합니다.
(플랫폼 정책과 기능은 자주 바뀌니 성격 위주로 설명하세요.)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[11:15] 프로는 이 7단계를 거칩니다. 6번의 수업도 이 순서로 갑니다. 오늘은 3단계 '촬영'의 기초.
기획(누구에게·무엇을·왜) → 프리프로덕션(대본·콘티·장소·소품) → 촬영(빛·소리·샷) → 편집 → 마스터링(음량·색·규격·검수) → 발행(제목·썸네일·공개) → 분석(지표 → 다음 기획).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[11:20–11:28] 가상의 예시: 동네 카페 사장님이 직접 올리는 "비 오는 날 시그니처 라떼" 30초 릴스.
1) 기획: 누구에게(근처 직장인 20~30대) · 무엇을(비 오는 날 창가 자리와 라떼) · 왜(저장하고 찾아오게). 한 줄로: "비 오는 날, 여기 창가 자리 하나면 충분해요."
2) 프리프로덕션: 6컷 콘티(왼쪽 그림), 샷 리스트, 촬영 시간대(오전 창가빛), 소품(우산, 젖은 창).
3) 촬영: 5샷 시퀀스 + B롤(빗방울, 김 오르는 컵), 우유 붓는 장면은 60fps로 슬로 재료, 마지막에 룸톤 10초.
수강생 아이템(디저트 · 뷰티샵 · MD 상품)으로 바꿔 생각해 보게 하세요.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[11:28–11:35]
4) 편집: 0~3초 훅(우유가 퍼지는 슬로) → 3~24초 본론(창가 · 손 · 표정) → 24~30초 마무리(간판 + "저장해 두세요"). 자막 3역할, 음악 30~50%.
5) 마스터링: 목소리 &gt; 음악, 컷마다 색 통일, 자막 오탈자, 1080×1920 내보내기.
6) 발행: 커버 한 장, 캡션 첫 줄 = 훅 문장, 해시태그 2~3개, 위치 태그, AI를 썼다면 표시.
7) 분석: 3초에서 몇 명이 넘겼나, 저장은 몇 개인가 → "다음 편은 디저트로" 같은 다음 기획.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[11:35–11:39] 프로 현장은 역할을 나눠 맡고, 1인 크리에이터는 같은 역할을 혼자 합니다. 그래서 1인 크리에이터에게 AI는 '팀원'입니다.
"역할은 똑같습니다. 사람 수만 다를 뿐이에요."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[11:39–11:44] 7단계마다 AI가 거드는 일과 사람이 남는 일. 맨 오른쪽 칸은 이 과정에서 그 단계를 깊게 다루는 회차입니다. 6번의 수업 예고편으로 쓰세요.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[11:44–11:47] 프로가 반드시 하는 단계. 직접 해 보는 건 5회차, 오늘은 "편집이 끝이 아니다"만.
- 소리: 유튜브는 재생할 때 음량을 일정하게 맞춥니다(흔히 약 -14 LUFS로 알려짐). 무작정 키우지 말고, 목소리가 음악보다 항상 크게.
- 색 · 밝기: 클립마다 톤을 맞추기. 자막: 오탈자, 잘린 글자, 버튼에 가리는 위치. 내보내기 규격. 최종 검수: 소리 켜고 한 번, 끄고 한 번.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[11:47–11:50] 우리 수업의 기본은 세로 9:16, 1080×1920. 롱폼(브이로그 등)은 16:9. 세로 영상은 위 · 아래 · 오른쪽에 버튼과 캡션이 덮입니다(5교시에 다시). 길이 제한은 플랫폼이 자주 바꾸니 업로드할 때 확인.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[11:50] 점심 전 안내: 폰 충전, 저장공간 10GB 이상. 오후엔 폰을 계속 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[12:40–13:30] 목표: 노출 삼각형 · 화이트밸런스 · 초점과 심도 · 폰 렌즈를 이해하고 프로 모드로 바꿔 보기. 개념 25분 → 실습 25분. 디자인 전공자가 많으니 원리는 짧게, 예시는 사진으로.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[12:42] 밝기는 세 가지가 함께 정합니다. 하나로 밝게 만들면 나머지 둘 중 하나가 대가를 치러요.
조리개: 구멍 크기 → 배경 흐림 / 셔터스피드: 빛을 받는 시간 → 움직임 / ISO: 감도 → 노이즈.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[12:47] 숫자 방향을 헷갈려 하는 분이 많아요. "조리개는 숫자가 작을수록 밝다"만 확실히.
폰 조리개는 대부분 고정 → 배경 흐림은 '인물 모드'가 소프트웨어로 흉내. 대상에 가까이, 배경은 멀리.
어두우면 ISO가 올라가 노이즈 → 해결은 설정이 아니라 빛.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[12:55] 같은 흰 종이도 전구 아래선 노랗게, 그늘에선 파랗게 찍힙니다(사진은 한 장을 세 가지 빛 색으로 바꿔 본 것).
자동 화이트밸런스는 찍는 도중 색이 바뀔 수 있어요 → 영상은 고정이 안전. 색이 다른 빛(창가 + 형광등)을 섞지 않기.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[13:00] 초점은 '보여주고 싶은 곳'에. 사람이면 눈. 심도는 선명한 범위: 얕으면 주인공만(감성), 깊으면 전부(정보).
렌즈: 0.5x는 넓지만 가장자리가 휘고 가까운 얼굴이 커 보임. 인물은 1x~3x로 조금 떨어져서. 배율 사이 디지털 줌은 화질 저하 → "줌 말고 발로."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[13:05–13:30] 짝끼리. 경험자가 설정 화면을 먼저 찾아 주세요.
갤럭시: 카메라 → 더보기 → 프로 / 프로 동영상. 아이폰: 기본 카메라는 노출 조절 위주 → 무료 수동 촬영 앱(예: Blackmagic Camera). 부담이면 인물 모드 · 노출 슬라이더로.
찍은 사진은 드라이브 '1회차/3교시'. 메뉴 이름은 기종 · 버전마다 조금씩 다릅니다.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[13:40–14:30] 목표: 프레임레이트 · 셔터 2배 규칙 · 해상도를 이해하고, 편집에서 문제없는 폰 세팅을 함께 끝내기. 개념 20분 → 함께 세팅 15분 → 비교 촬영 15분.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[13:42] 24fps 영화 같은 느낌 / 30fps SNS 기본 · 우리 수업 기본 / 60fps 매끄러운 움직임, 편집에서 절반 속도로 늦추면 부드러운 슬로모션. 선의 촘촘함이 1초에 담기는 장면 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[13:48] 영상의 셔터는 프레임의 2배 정도가 기준. 훨씬 빠르면 움직임이 뚝뚝 끊겨 보여요. 30fps → 1/60, 60fps → 1/120.
실내 형광등 · LED 아래서 화면에 줄이 흐르면 셔터를 1/60이나 1/120으로(한국 전기는 60Hz). 밖이 너무 밝을 때 프로는 ND 필터를 쓰지만, 폰은 자동이 알아서 처리하니 크게 걱정하지 않아도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[13:53] 편집에서 생길 문제를 촬영 단계에서 막는 법.
- HDR 동영상(아이폰 'HDR 비디오', 갤럭시 'HDR10+'): 폰에선 화려해도 편집 · 다른 화면에서 색이 틀어져 보일 수 있어요 → 끄기.
- HEVC(고효율, H.265): 일부 PC에서 편집이 끊김 → 아이폰 '가장 호환성 높은 포맷', 갤럭시 '고효율 동영상' 끄기.
- 4K: 파일이 1080p의 약 4배, PC가 느려짐 → 수업 기본은 1080p. 메뉴 이름은 기종마다 조금씩 다릅니다.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[13:58–14:13] 화면을 보면서 한 단계씩. 크루장은 전원 완료 확인.
아이폰: 설정 → 카메라 → 비디오 녹화 → 1080p 30fps / 같은 화면 'HDR 비디오' 끄기 / 포맷 → '가장 호환성 높은 포맷' / 격자 켜기.
갤럭시: 동영상 → 상단 해상도 FHD 30 / 설정 → 고급 동영상 옵션 → 고효율 동영상 · HDR10+ 끄기 / 수직 · 수평 안내선 켜기.
공통: 렌즈 닦기, 저장공간 10GB 이상, 방해 금지, 기본은 세로로.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[14:13] 잠그지 않으면 찍는 도중 밝기와 초점이 출렁입니다. 프로 영상과 아마추어 영상의 가장 쉬운 차이.
1) 찍을 대상을 길게 누르기 2) 잠금 표시(아이폰 AE/AF 잠금, 갤럭시 자물쇠) 3) 밝기 막대를 위아래로.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[14:15–14:30] 짝끼리. 같은 장면을 두 번씩. 드라이브 '1회차/4교시'.
30fps vs 60fps: 머리 넘기기, 물 따르기. 60fps는 3회차 편집에서 슬로모션으로 씁니다. 잠금 없이 vs 잠금: 창가를 지나가며.
경험자 도전: 갤럭시 프로 동영상으로 셔터 1/60 vs 1/1000.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[14:40–15:30] 목표: 샷 크기 · 앵글 · 구도 · 빛을 영어 용어와 함께(4회차 AI 프롬프트 어휘). 개념 25분 → 학교 공간 구도 미션 15분 → ChatGPT 피드백 10분.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[14:42] 영어 이름도 함께. 4회차에 이 단어가 그대로 AI 영상 프롬프트가 됩니다.
연결 공식: 어디서(와이드) → 누가 무엇을(미디엄) → 어떤 감정으로(클로즈업). 같은 크기를 연달아 붙이면 화면이 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[14:48] 카메라 높이가 감정을 만듭니다. 하이앵글 작고 귀엽게 / 아이레벨 자연스럽게(기본) / 로우앵글 크고 당당하게 / 탑뷰 음식 · 책상 · 손 작업(정보성 · 요리의 기본). 더치 앵글(기울이기)은 가끔만.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[14:52] 격자는 오전 세팅에서 켜 둔 그대로.
삼분할: 선이 만나는 네 점에 주인공, 눈은 위쪽 선에. 리딩 라인: 길 · 난간 · 복도의 선이 주인공을 가리키게. 프레임 속 프레임: 문 · 창문으로 한 번 더 감싸기. 대칭: 복도 · 건물 정면은 가운데.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[14:56] 비우는 것도 구도입니다.
헤드룸: 머리 위는 손가락 한두 개만큼. 시선 여백: 보는 쪽 · 가는 쪽에 공간. 세로 안전 영역: 9:16의 위 · 아래 · 오른쪽은 버튼 · 캡션 · 프로필 자리 → 얼굴과 자막은 가운데 쪽. 수직선: 문틀 · 건물 세로선을 화면과 나란히.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[15:00] 같은 얼굴도 빛의 방향에 따라 다른 사람이 됩니다. 순광 밝고 선명 / 측광 입체감과 분위기 / 역광 얼굴이 어두움 → 흰 종이 반사판 / 그늘 부드럽고 고르게. 역광은 6교시에 강사 장비와 흰 종이로 직접.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[15:03] 프로의 기본 조명. 키(주 조명, 45도) + 필(반대쪽에서 그림자 채움) + 백(뒤에서 윤곽). 폰으로는 창문 = 키, 흰 종이 · 흰 벽 = 필, 뒤쪽 스탠드 = 백.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[15:05–15:30] 학교 공간에서 15분, 돌아와서 ChatGPT 피드백 10분. 짝끼리 서로 모델이 되어 주기. 다른 사람이 나오면 동의 받기.
가장 자신 있는 1장을 ChatGPT에 올려 피드백. 워크북에 "AI가 맞게 본 것 하나 / 놓친 것 하나" → AI는 규칙을 보고, 사람은 의도를 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[15:40–16:30] 목표: 안정 · 무빙 · 컷의 문법 · 녹음 기초 + 강사 장비 체험 + 5샷 시퀀스 촬영. 개념 20분 → 장비 시연 · 체험 10분 → 5샷 촬영 20분.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[15:42] 흔들림은 자세로 먼저, 앱 보정은 그다음(보정은 화면을 잘라내서 화질이 떨어져요). 두 손, 팔꿈치는 몸에, 벽 · 기둥에 기대기. 걸을 땐 무릎을 살짝 굽히고 발뒤꿈치부터.
무빙 5가지와 영어 이름(4회차 프롬프트 어휘). 세 가지 약속: 한 클립에 한 움직임, 두 배 천천히, 시작과 끝 2초 멈추기.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[15:47] 한 장면을 다섯 컷으로 찍으면 편집할 재료가 생깁니다(다큐 · 뉴스 촬영의 기본 공식).
1 손 클로즈업 2 얼굴 클로즈업 3 와이드 4 어깨너머 5 특이한 앵글. 컷마다 7초 이상, 두 번씩. ①과 ②는 같은 동작을 다른 크기로 → 편집에서 '동작 연결'.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[15:52] 편집에서 어색해지는 이유는 대부분 촬영 때 생깁니다.
180도 규칙: 두 사람 사이 가상의 선, 카메라는 한쪽에만. 넘으면 방향이 뒤집혀 보여요. 30도 규칙: 다시 찍을 땐 각도 30도 이상 또는 샷 크기 바꾸기(아니면 점프컷). B롤: 손 · 소품 · 공간 컷, 편집에서 자른 자리를 덮어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[15:56] 시청자는 흐린 화면은 참아도 안 들리는 소리는 못 참습니다.
폰과 입 사이 한 뼘 / 에어컨 · 냉장고 · 복도 소리 피하기 / 끝에 룸톤 10초(편집에서 빈 곳 메꾸기) / 현장음 살리기(음악으로 다 덮지 않기). 이어폰 마이크나 핀마이크가 있으면 훨씬 깨끗합니다.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[16:00–16:10] 강사 장비를 보여 주고 크루별로 2분씩 돌려 쓰기(나머지 크루는 5샷 시퀀스 계획).
삼각대: 고정 샷 · 혼자 찍는 토크 · 타임랩스. 무선 핀마이크: 인터뷰 · 토크 · 내레이션(폰 마이크와 같은 문장으로 비교). 짐벌: 걷거나 따라가며, 대신 무겁고 세팅 시간이 들어요. "사기 전에 자세부터."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[16:10–16:30] 짝 중 한 사람이 행동하고 한 사람이 찍기 → 바꾸기. 행동은 내 아이템과 관련 있으면 더 좋아요. 컷마다 7초 이상, 두 번씩, 앞뒤 2초 멈춤, 모두 AE/AF 잠금. 크루 기록 담당은 이 장면을 찍어 두기.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[16:40–17:30] 목표: 오늘 찍은 것을 드라이브에 모으고, 크루 리뷰로 '고르는 눈'을 기르고, 크루 베스트 컷 선정. 업로드 10분 → 크루 리뷰 20분 → 베스트 컷 공유 10분 → 정리 · 과제 10분.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[16:40–17:10] 1) 드라이브: 공유 폴더 → 크루 폴더 → 내 이름 → 1회차(파일이 크면 폰 앱에서 바로) 2) 한 사람씩 5샷 시퀀스를 크루에게, 첫 시청자가 먼저 칭찬 1 + 제안 1 3) 체크: 세로 · 흔들림 · 밝기 출렁임 · 초점 · 소리 4) 크루 베스트 컷 1개 → 2회차 첫 업로드 재료. 크루 이름도 이때.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[17:10] 한 줄씩 짚고, 크루에서 "오늘 제일 기억에 남는 것" 하나씩.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[17:15] 과제는 단톡방에도. 제출은 드라이브 '1회차 과제'.
1) 마음에 드는 콘텐츠 10편 저장 + 왜 좋은지 한 줄씩 → 2회차 레퍼런스 해부 재료. 2) "내가 만들고 싶은 채널" 한 줄. 3) CapCut PC 설치가 안 된 사람은 안내대로. 선택: 5샷 시퀀스를 내 아이템으로 하나 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[17:20] 2회차: 아이템 찾기 → 레퍼런스 해부 → 채널 콘셉트 → 기획안 · 대본 → 스토리보드 → 그리고 유튜브 채널을 엽니다. 강사도 같은 날 새 채널을 엽니다. "오늘 고른 베스트 컷이 첫 영상이 될 수도 있어요."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[17:25] 마무리 인사. 크루장은 크루 전원이 드라이브 업로드를 마쳤는지 확인하고 해산. 크루 트리 현황판에 첫 오너먼트(베스트 컷) 붙이기.
수업 후: 요약 영상(진행안의 대본), 단톡방에 핸드북 1장 · 치트시트 · 과제 공지.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1218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2331720"/>
            <a:ext cx="694944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8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85800" y="4206240"/>
            <a:ext cx="658368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accent6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DER">
    <p:bg>
      <p:bgPr>
        <a:solidFill>
          <a:srgbClr val="1218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3246120"/>
            <a:ext cx="768096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85800" y="4480560"/>
            <a:ext cx="713232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chemeClr val="accent6"/>
                </a:solidFill>
              </a:defRPr>
            </a:lvl1pPr>
          </a:lstStyle>
          <a:p>
            <a:pPr algn="l" indent="0" marL="0"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64008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AI콘텐츠 크리에이터 실무 · 촬영편집 1회차 — 보는 눈</a:t>
            </a:r>
            <a:endParaRPr lang="en-US" sz="9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685800" y="713232"/>
            <a:ext cx="9509760" cy="65836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A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">
    <p:bg>
      <p:bgPr>
        <a:solidFill>
          <a:srgbClr val="1218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1188720" y="2103120"/>
            <a:ext cx="978408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ctr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1188720" y="3977640"/>
            <a:ext cx="978408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800" dirty="0">
                <a:solidFill>
                  <a:schemeClr val="accent6"/>
                </a:solidFill>
              </a:defRPr>
            </a:lvl1pPr>
          </a:lstStyle>
          <a:p>
            <a:pPr algn="ctr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A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image" Target="../media/image-21-5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image" Target="../media/image-22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image" Target="../media/image-33-2.png"/><Relationship Id="rId3" Type="http://schemas.openxmlformats.org/officeDocument/2006/relationships/image" Target="../media/image-33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image" Target="../media/image-34-2.png"/><Relationship Id="rId3" Type="http://schemas.openxmlformats.org/officeDocument/2006/relationships/image" Target="../media/image-34-3.png"/><Relationship Id="rId4" Type="http://schemas.openxmlformats.org/officeDocument/2006/relationships/image" Target="../media/image-34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image" Target="../media/image-36-2.png"/><Relationship Id="rId3" Type="http://schemas.openxmlformats.org/officeDocument/2006/relationships/image" Target="../media/image-36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image" Target="../media/image-37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image" Target="../media/image-38-2.png"/><Relationship Id="rId3" Type="http://schemas.openxmlformats.org/officeDocument/2006/relationships/image" Target="../media/image-38-3.png"/><Relationship Id="rId4" Type="http://schemas.openxmlformats.org/officeDocument/2006/relationships/image" Target="../media/image-38-4.png"/><Relationship Id="rId5" Type="http://schemas.openxmlformats.org/officeDocument/2006/relationships/image" Target="../media/image-38-5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image" Target="../media/image-39-2.png"/><Relationship Id="rId3" Type="http://schemas.openxmlformats.org/officeDocument/2006/relationships/image" Target="../media/image-39-3.png"/><Relationship Id="rId4" Type="http://schemas.openxmlformats.org/officeDocument/2006/relationships/image" Target="../media/image-39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image" Target="../media/image-40-2.png"/><Relationship Id="rId3" Type="http://schemas.openxmlformats.org/officeDocument/2006/relationships/image" Target="../media/image-40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image" Target="../media/image-42-2.png"/><Relationship Id="rId3" Type="http://schemas.openxmlformats.org/officeDocument/2006/relationships/image" Target="../media/image-42-3.png"/><Relationship Id="rId4" Type="http://schemas.openxmlformats.org/officeDocument/2006/relationships/image" Target="../media/image-42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png"/><Relationship Id="rId2" Type="http://schemas.openxmlformats.org/officeDocument/2006/relationships/image" Target="../media/image-43-2.png"/><Relationship Id="rId3" Type="http://schemas.openxmlformats.org/officeDocument/2006/relationships/image" Target="../media/image-43-3.png"/><Relationship Id="rId4" Type="http://schemas.openxmlformats.org/officeDocument/2006/relationships/image" Target="../media/image-43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png"/><Relationship Id="rId2" Type="http://schemas.openxmlformats.org/officeDocument/2006/relationships/image" Target="../media/image-45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6-1.png"/><Relationship Id="rId2" Type="http://schemas.openxmlformats.org/officeDocument/2006/relationships/image" Target="../media/image-46-2.png"/><Relationship Id="rId3" Type="http://schemas.openxmlformats.org/officeDocument/2006/relationships/image" Target="../media/image-46-3.png"/><Relationship Id="rId4" Type="http://schemas.openxmlformats.org/officeDocument/2006/relationships/image" Target="../media/image-46-4.png"/><Relationship Id="rId5" Type="http://schemas.openxmlformats.org/officeDocument/2006/relationships/image" Target="../media/image-46-5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7-1.png"/><Relationship Id="rId2" Type="http://schemas.openxmlformats.org/officeDocument/2006/relationships/image" Target="../media/image-47-2.png"/><Relationship Id="rId3" Type="http://schemas.openxmlformats.org/officeDocument/2006/relationships/image" Target="../media/image-47-3.png"/><Relationship Id="rId4" Type="http://schemas.openxmlformats.org/officeDocument/2006/relationships/image" Target="../media/image-47-4.png"/><Relationship Id="rId5" Type="http://schemas.openxmlformats.org/officeDocument/2006/relationships/image" Target="../media/image-47-5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8-1.png"/><Relationship Id="rId2" Type="http://schemas.openxmlformats.org/officeDocument/2006/relationships/image" Target="../media/image-48-2.png"/><Relationship Id="rId3" Type="http://schemas.openxmlformats.org/officeDocument/2006/relationships/image" Target="../media/image-48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9-1.png"/><Relationship Id="rId2" Type="http://schemas.openxmlformats.org/officeDocument/2006/relationships/image" Target="../media/image-49-2.png"/><Relationship Id="rId3" Type="http://schemas.openxmlformats.org/officeDocument/2006/relationships/image" Target="../media/image-49-3.png"/><Relationship Id="rId4" Type="http://schemas.openxmlformats.org/officeDocument/2006/relationships/image" Target="../media/image-49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0-1.png"/><Relationship Id="rId2" Type="http://schemas.openxmlformats.org/officeDocument/2006/relationships/image" Target="../media/image-50-2.png"/><Relationship Id="rId3" Type="http://schemas.openxmlformats.org/officeDocument/2006/relationships/image" Target="../media/image-50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2-1.png"/><Relationship Id="rId2" Type="http://schemas.openxmlformats.org/officeDocument/2006/relationships/image" Target="../media/image-52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5-1.png"/><Relationship Id="rId2" Type="http://schemas.openxmlformats.org/officeDocument/2006/relationships/image" Target="../media/image-55-2.png"/><Relationship Id="rId3" Type="http://schemas.openxmlformats.org/officeDocument/2006/relationships/image" Target="../media/image-55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7-1.png"/><Relationship Id="rId2" Type="http://schemas.openxmlformats.org/officeDocument/2006/relationships/image" Target="../media/image-57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5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ARUBIT/build/.cache/s1/img01_gra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/home/user/MARUBIT/build/.cache/s1/overla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685800" y="1554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chemeClr val="accent1"/>
                </a:solidFill>
              </a:rPr>
              <a:t>AI콘텐츠 크리에이터 실무 · 촬영편집</a:t>
            </a:r>
            <a:endParaRPr lang="en-US" sz="15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685800" y="2331720"/>
            <a:ext cx="69494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800" b="1" dirty="0">
                <a:solidFill>
                  <a:schemeClr val="bg1"/>
                </a:solidFill>
              </a:rPr>
              <a:t>1회차</a:t>
            </a:r>
            <a:endParaRPr lang="en-US" sz="4800" dirty="0"/>
          </a:p>
          <a:p>
            <a:pPr algn="l" indent="0" marL="0">
              <a:buNone/>
            </a:pPr>
            <a:r>
              <a:rPr lang="en-US" sz="4800" b="1" dirty="0">
                <a:solidFill>
                  <a:schemeClr val="bg1"/>
                </a:solidFill>
              </a:rPr>
              <a:t>보는 눈</a:t>
            </a:r>
            <a:endParaRPr lang="en-US" sz="4800" dirty="0"/>
          </a:p>
        </p:txBody>
      </p:sp>
      <p:sp>
        <p:nvSpPr>
          <p:cNvPr id="6" name="Text 0"/>
          <p:cNvSpPr/>
          <p:nvPr>
            <p:ph idx="101" type="body" hasCustomPrompt="1"/>
          </p:nvPr>
        </p:nvSpPr>
        <p:spPr>
          <a:xfrm>
            <a:off x="685800" y="4206240"/>
            <a:ext cx="6583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accent6"/>
                </a:solidFill>
              </a:rPr>
              <a:t>프로처럼 보고, 정석대로 찍는 날</a:t>
            </a:r>
            <a:endParaRPr lang="en-US" sz="2000" dirty="0"/>
          </a:p>
        </p:txBody>
      </p:sp>
      <p:sp>
        <p:nvSpPr>
          <p:cNvPr id="7" name="Text 3"/>
          <p:cNvSpPr txBox="1"/>
          <p:nvPr/>
        </p:nvSpPr>
        <p:spPr>
          <a:xfrm>
            <a:off x="685800" y="59436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9D3CE"/>
                </a:solidFill>
              </a:rPr>
              <a:t>2026. 10. 22 (목)  ·  10:00–17:30  ·  1공학관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91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1회차 · 보는 눈</a:t>
            </a:r>
            <a:endParaRPr lang="en-US" sz="11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685800" y="713232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오늘의 시간표</a:t>
            </a:r>
            <a:endParaRPr lang="en-US" sz="2800" dirty="0"/>
          </a:p>
        </p:txBody>
      </p:sp>
      <p:sp>
        <p:nvSpPr>
          <p:cNvPr id="5" name="Shape 2"/>
          <p:cNvSpPr/>
          <p:nvPr/>
        </p:nvSpPr>
        <p:spPr>
          <a:xfrm>
            <a:off x="685800" y="1645920"/>
            <a:ext cx="3108960" cy="4343400"/>
          </a:xfrm>
          <a:prstGeom prst="roundRect">
            <a:avLst>
              <a:gd name="adj" fmla="val 2353"/>
            </a:avLst>
          </a:prstGeom>
          <a:solidFill>
            <a:schemeClr val="tx2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1005840" y="192024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10:00</a:t>
            </a:r>
            <a:endParaRPr lang="en-US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1005840" y="260604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bg1"/>
                </a:solidFill>
              </a:rPr>
              <a:t>– 17:30</a:t>
            </a:r>
            <a:endParaRPr lang="en-US" sz="2600" dirty="0"/>
          </a:p>
        </p:txBody>
      </p:sp>
      <p:sp>
        <p:nvSpPr>
          <p:cNvPr id="8" name="Text 5"/>
          <p:cNvSpPr txBox="1"/>
          <p:nvPr/>
        </p:nvSpPr>
        <p:spPr>
          <a:xfrm>
            <a:off x="1005840" y="3520440"/>
            <a:ext cx="2651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9D3CE"/>
                </a:solidFill>
              </a:rPr>
              <a:t>7교시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C9D3CE"/>
                </a:solidFill>
              </a:rPr>
              <a:t>50분 수업 + 10분 휴식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C9D3CE"/>
                </a:solidFill>
              </a:rPr>
              <a:t>점심 11:50–12:40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1005840" y="512064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6"/>
                </a:solidFill>
              </a:rPr>
              <a:t>오전 큰 그림 → 오후 카메라와 실습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069080" y="1645920"/>
            <a:ext cx="7436815" cy="54864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251960" y="164592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1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4617720" y="164592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10:00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5486400" y="1645920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chemeClr val="tx1"/>
                </a:solidFill>
              </a:rPr>
              <a:t>OT · 크루 · 세팅 · 한 줄 자기소개</a:t>
            </a:r>
            <a:endParaRPr lang="en-US" sz="1450" dirty="0"/>
          </a:p>
        </p:txBody>
      </p:sp>
      <p:sp>
        <p:nvSpPr>
          <p:cNvPr id="14" name="Text 11"/>
          <p:cNvSpPr txBox="1"/>
          <p:nvPr/>
        </p:nvSpPr>
        <p:spPr>
          <a:xfrm>
            <a:off x="10012680" y="1645920"/>
            <a:ext cx="13103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chemeClr val="accent5"/>
                </a:solidFill>
              </a:rPr>
              <a:t>한 줄 소개, 크루와 짝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4069080" y="2267712"/>
            <a:ext cx="7436815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4251960" y="2267712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2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4617720" y="2267712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11:00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5486400" y="2267712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chemeClr val="tx1"/>
                </a:solidFill>
              </a:rPr>
              <a:t>영상 콘텐츠, 지금 어떻게 만들어지나</a:t>
            </a:r>
            <a:endParaRPr lang="en-US" sz="1450" dirty="0"/>
          </a:p>
        </p:txBody>
      </p:sp>
      <p:sp>
        <p:nvSpPr>
          <p:cNvPr id="19" name="Text 16"/>
          <p:cNvSpPr txBox="1"/>
          <p:nvPr/>
        </p:nvSpPr>
        <p:spPr>
          <a:xfrm>
            <a:off x="10012680" y="2267712"/>
            <a:ext cx="13103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chemeClr val="accent5"/>
                </a:solidFill>
              </a:rPr>
              <a:t>제작 공정 지도</a:t>
            </a:r>
            <a:endParaRPr lang="en-US" sz="1250" dirty="0"/>
          </a:p>
        </p:txBody>
      </p:sp>
      <p:sp>
        <p:nvSpPr>
          <p:cNvPr id="20" name="Shape 17"/>
          <p:cNvSpPr/>
          <p:nvPr/>
        </p:nvSpPr>
        <p:spPr>
          <a:xfrm>
            <a:off x="4069080" y="2889504"/>
            <a:ext cx="7436815" cy="54864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4251960" y="2889504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3</a:t>
            </a:r>
            <a:endParaRPr lang="en-US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4617720" y="2889504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12:40</a:t>
            </a:r>
            <a:endParaRPr lang="en-US" sz="1300" dirty="0"/>
          </a:p>
        </p:txBody>
      </p:sp>
      <p:sp>
        <p:nvSpPr>
          <p:cNvPr id="23" name="Text 20"/>
          <p:cNvSpPr txBox="1"/>
          <p:nvPr/>
        </p:nvSpPr>
        <p:spPr>
          <a:xfrm>
            <a:off x="5486400" y="2889504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chemeClr val="tx1"/>
                </a:solidFill>
              </a:rPr>
              <a:t>카메라의 원리 ① 사진: 노출 · 색 · 초점</a:t>
            </a:r>
            <a:endParaRPr lang="en-US" sz="1450" dirty="0"/>
          </a:p>
        </p:txBody>
      </p:sp>
      <p:sp>
        <p:nvSpPr>
          <p:cNvPr id="24" name="Text 21"/>
          <p:cNvSpPr txBox="1"/>
          <p:nvPr/>
        </p:nvSpPr>
        <p:spPr>
          <a:xfrm>
            <a:off x="10012680" y="2889504"/>
            <a:ext cx="13103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chemeClr val="accent5"/>
                </a:solidFill>
              </a:rPr>
              <a:t>설정별 비교 사진</a:t>
            </a:r>
            <a:endParaRPr lang="en-US" sz="1250" dirty="0"/>
          </a:p>
        </p:txBody>
      </p:sp>
      <p:sp>
        <p:nvSpPr>
          <p:cNvPr id="25" name="Shape 22"/>
          <p:cNvSpPr/>
          <p:nvPr/>
        </p:nvSpPr>
        <p:spPr>
          <a:xfrm>
            <a:off x="4069080" y="3511296"/>
            <a:ext cx="7436815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4251960" y="3511296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4</a:t>
            </a:r>
            <a:endParaRPr lang="en-US" sz="1600" dirty="0"/>
          </a:p>
        </p:txBody>
      </p:sp>
      <p:sp>
        <p:nvSpPr>
          <p:cNvPr id="27" name="Text 24"/>
          <p:cNvSpPr txBox="1"/>
          <p:nvPr/>
        </p:nvSpPr>
        <p:spPr>
          <a:xfrm>
            <a:off x="4617720" y="3511296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13:40</a:t>
            </a:r>
            <a:endParaRPr lang="en-US" sz="1300" dirty="0"/>
          </a:p>
        </p:txBody>
      </p:sp>
      <p:sp>
        <p:nvSpPr>
          <p:cNvPr id="28" name="Text 25"/>
          <p:cNvSpPr txBox="1"/>
          <p:nvPr/>
        </p:nvSpPr>
        <p:spPr>
          <a:xfrm>
            <a:off x="5486400" y="3511296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chemeClr val="tx1"/>
                </a:solidFill>
              </a:rPr>
              <a:t>카메라의 원리 ② 영상: 프레임 · 셔터 · 세팅</a:t>
            </a:r>
            <a:endParaRPr lang="en-US" sz="1450" dirty="0"/>
          </a:p>
        </p:txBody>
      </p:sp>
      <p:sp>
        <p:nvSpPr>
          <p:cNvPr id="29" name="Text 26"/>
          <p:cNvSpPr txBox="1"/>
          <p:nvPr/>
        </p:nvSpPr>
        <p:spPr>
          <a:xfrm>
            <a:off x="10012680" y="3511296"/>
            <a:ext cx="13103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chemeClr val="accent5"/>
                </a:solidFill>
              </a:rPr>
              <a:t>내 폰 세팅 완료</a:t>
            </a:r>
            <a:endParaRPr lang="en-US" sz="1250" dirty="0"/>
          </a:p>
        </p:txBody>
      </p:sp>
      <p:sp>
        <p:nvSpPr>
          <p:cNvPr id="30" name="Shape 27"/>
          <p:cNvSpPr/>
          <p:nvPr/>
        </p:nvSpPr>
        <p:spPr>
          <a:xfrm>
            <a:off x="4069080" y="4133088"/>
            <a:ext cx="7436815" cy="54864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/>
        </p:spPr>
      </p:sp>
      <p:sp>
        <p:nvSpPr>
          <p:cNvPr id="31" name="Text 28"/>
          <p:cNvSpPr txBox="1"/>
          <p:nvPr/>
        </p:nvSpPr>
        <p:spPr>
          <a:xfrm>
            <a:off x="4251960" y="4133088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5</a:t>
            </a:r>
            <a:endParaRPr lang="en-US" sz="1600" dirty="0"/>
          </a:p>
        </p:txBody>
      </p:sp>
      <p:sp>
        <p:nvSpPr>
          <p:cNvPr id="32" name="Text 29"/>
          <p:cNvSpPr txBox="1"/>
          <p:nvPr/>
        </p:nvSpPr>
        <p:spPr>
          <a:xfrm>
            <a:off x="4617720" y="4133088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14:40</a:t>
            </a:r>
            <a:endParaRPr lang="en-US" sz="1300" dirty="0"/>
          </a:p>
        </p:txBody>
      </p:sp>
      <p:sp>
        <p:nvSpPr>
          <p:cNvPr id="33" name="Text 30"/>
          <p:cNvSpPr txBox="1"/>
          <p:nvPr/>
        </p:nvSpPr>
        <p:spPr>
          <a:xfrm>
            <a:off x="5486400" y="4133088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chemeClr val="tx1"/>
                </a:solidFill>
              </a:rPr>
              <a:t>화면의 언어와 빛: 샷 · 앵글 · 구도 · 조명</a:t>
            </a:r>
            <a:endParaRPr lang="en-US" sz="1450" dirty="0"/>
          </a:p>
        </p:txBody>
      </p:sp>
      <p:sp>
        <p:nvSpPr>
          <p:cNvPr id="34" name="Text 31"/>
          <p:cNvSpPr txBox="1"/>
          <p:nvPr/>
        </p:nvSpPr>
        <p:spPr>
          <a:xfrm>
            <a:off x="10012680" y="4133088"/>
            <a:ext cx="13103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chemeClr val="accent5"/>
                </a:solidFill>
              </a:rPr>
              <a:t>구도 사진 + AI 피드백</a:t>
            </a:r>
            <a:endParaRPr lang="en-US" sz="1250" dirty="0"/>
          </a:p>
        </p:txBody>
      </p:sp>
      <p:sp>
        <p:nvSpPr>
          <p:cNvPr id="35" name="Shape 32"/>
          <p:cNvSpPr/>
          <p:nvPr/>
        </p:nvSpPr>
        <p:spPr>
          <a:xfrm>
            <a:off x="4069080" y="4754880"/>
            <a:ext cx="7436815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/>
        </p:spPr>
      </p:sp>
      <p:sp>
        <p:nvSpPr>
          <p:cNvPr id="36" name="Text 33"/>
          <p:cNvSpPr txBox="1"/>
          <p:nvPr/>
        </p:nvSpPr>
        <p:spPr>
          <a:xfrm>
            <a:off x="4251960" y="475488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6</a:t>
            </a:r>
            <a:endParaRPr lang="en-US" sz="1600" dirty="0"/>
          </a:p>
        </p:txBody>
      </p:sp>
      <p:sp>
        <p:nvSpPr>
          <p:cNvPr id="37" name="Text 34"/>
          <p:cNvSpPr txBox="1"/>
          <p:nvPr/>
        </p:nvSpPr>
        <p:spPr>
          <a:xfrm>
            <a:off x="4617720" y="475488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15:40</a:t>
            </a:r>
            <a:endParaRPr lang="en-US" sz="1300" dirty="0"/>
          </a:p>
        </p:txBody>
      </p:sp>
      <p:sp>
        <p:nvSpPr>
          <p:cNvPr id="38" name="Text 35"/>
          <p:cNvSpPr txBox="1"/>
          <p:nvPr/>
        </p:nvSpPr>
        <p:spPr>
          <a:xfrm>
            <a:off x="5486400" y="4754880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chemeClr val="tx1"/>
                </a:solidFill>
              </a:rPr>
              <a:t>움직임 · 컷 · 소리 + 장비 체험</a:t>
            </a:r>
            <a:endParaRPr lang="en-US" sz="1450" dirty="0"/>
          </a:p>
        </p:txBody>
      </p:sp>
      <p:sp>
        <p:nvSpPr>
          <p:cNvPr id="39" name="Text 36"/>
          <p:cNvSpPr txBox="1"/>
          <p:nvPr/>
        </p:nvSpPr>
        <p:spPr>
          <a:xfrm>
            <a:off x="10012680" y="4754880"/>
            <a:ext cx="13103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chemeClr val="accent5"/>
                </a:solidFill>
              </a:rPr>
              <a:t>5샷 시퀀스</a:t>
            </a:r>
            <a:endParaRPr lang="en-US" sz="1250" dirty="0"/>
          </a:p>
        </p:txBody>
      </p:sp>
      <p:sp>
        <p:nvSpPr>
          <p:cNvPr id="40" name="Shape 37"/>
          <p:cNvSpPr/>
          <p:nvPr/>
        </p:nvSpPr>
        <p:spPr>
          <a:xfrm>
            <a:off x="4069080" y="5376672"/>
            <a:ext cx="7436815" cy="54864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/>
        </p:spPr>
      </p:sp>
      <p:sp>
        <p:nvSpPr>
          <p:cNvPr id="41" name="Text 38"/>
          <p:cNvSpPr txBox="1"/>
          <p:nvPr/>
        </p:nvSpPr>
        <p:spPr>
          <a:xfrm>
            <a:off x="4251960" y="5376672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7</a:t>
            </a:r>
            <a:endParaRPr lang="en-US" sz="1600" dirty="0"/>
          </a:p>
        </p:txBody>
      </p:sp>
      <p:sp>
        <p:nvSpPr>
          <p:cNvPr id="42" name="Text 39"/>
          <p:cNvSpPr txBox="1"/>
          <p:nvPr/>
        </p:nvSpPr>
        <p:spPr>
          <a:xfrm>
            <a:off x="4617720" y="5376672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16:40</a:t>
            </a:r>
            <a:endParaRPr lang="en-US" sz="1300" dirty="0"/>
          </a:p>
        </p:txBody>
      </p:sp>
      <p:sp>
        <p:nvSpPr>
          <p:cNvPr id="43" name="Text 40"/>
          <p:cNvSpPr txBox="1"/>
          <p:nvPr/>
        </p:nvSpPr>
        <p:spPr>
          <a:xfrm>
            <a:off x="5486400" y="5376672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chemeClr val="tx1"/>
                </a:solidFill>
              </a:rPr>
              <a:t>촬영 리뷰 · 크루 베스트 컷 · 과제</a:t>
            </a:r>
            <a:endParaRPr lang="en-US" sz="1450" dirty="0"/>
          </a:p>
        </p:txBody>
      </p:sp>
      <p:sp>
        <p:nvSpPr>
          <p:cNvPr id="44" name="Text 41"/>
          <p:cNvSpPr txBox="1"/>
          <p:nvPr/>
        </p:nvSpPr>
        <p:spPr>
          <a:xfrm>
            <a:off x="10012680" y="5376672"/>
            <a:ext cx="13103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chemeClr val="accent5"/>
                </a:solidFill>
              </a:rPr>
              <a:t>베스트 컷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A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ARUBIT/build/.cache/s1/img02_gra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/home/user/MARUBIT/build/.cache/s1/overla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685800" y="1325880"/>
            <a:ext cx="3657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0" b="1" dirty="0">
                <a:solidFill>
                  <a:schemeClr val="accent1"/>
                </a:solidFill>
              </a:rPr>
              <a:t>01</a:t>
            </a:r>
            <a:endParaRPr lang="en-US" sz="11000" dirty="0"/>
          </a:p>
        </p:txBody>
      </p:sp>
      <p:sp>
        <p:nvSpPr>
          <p:cNvPr id="5" name="Text 1"/>
          <p:cNvSpPr txBox="1"/>
          <p:nvPr/>
        </p:nvSpPr>
        <p:spPr>
          <a:xfrm>
            <a:off x="758952" y="10515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chemeClr val="accent6"/>
                </a:solidFill>
              </a:rPr>
              <a:t>1교시</a:t>
            </a:r>
            <a:endParaRPr lang="en-US" sz="1400" dirty="0"/>
          </a:p>
        </p:txBody>
      </p:sp>
      <p:sp>
        <p:nvSpPr>
          <p:cNvPr id="6" name="Text 0"/>
          <p:cNvSpPr/>
          <p:nvPr>
            <p:ph idx="100" type="title" hasCustomPrompt="1"/>
          </p:nvPr>
        </p:nvSpPr>
        <p:spPr>
          <a:xfrm>
            <a:off x="685800" y="324612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OT와 과정 지도</a:t>
            </a:r>
            <a:endParaRPr lang="en-US" sz="4000" dirty="0"/>
          </a:p>
        </p:txBody>
      </p:sp>
      <p:sp>
        <p:nvSpPr>
          <p:cNvPr id="7" name="Text 0"/>
          <p:cNvSpPr/>
          <p:nvPr>
            <p:ph idx="101" type="body" hasCustomPrompt="1"/>
          </p:nvPr>
        </p:nvSpPr>
        <p:spPr>
          <a:xfrm>
            <a:off x="685800" y="4480560"/>
            <a:ext cx="7132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10:00–10:50  ·  우리가 6번 동안 무엇을 키우는지, 누구와 함께 가는지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91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1교시 · OT와 과정 지도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0125151" y="502920"/>
            <a:ext cx="118872" cy="1188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4" name="Shape 2"/>
          <p:cNvSpPr/>
          <p:nvPr/>
        </p:nvSpPr>
        <p:spPr>
          <a:xfrm>
            <a:off x="10335463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5" name="Shape 3"/>
          <p:cNvSpPr/>
          <p:nvPr/>
        </p:nvSpPr>
        <p:spPr>
          <a:xfrm>
            <a:off x="10545775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6" name="Shape 4"/>
          <p:cNvSpPr/>
          <p:nvPr/>
        </p:nvSpPr>
        <p:spPr>
          <a:xfrm>
            <a:off x="10756087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7" name="Shape 5"/>
          <p:cNvSpPr/>
          <p:nvPr/>
        </p:nvSpPr>
        <p:spPr>
          <a:xfrm>
            <a:off x="10966399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8" name="Shape 6"/>
          <p:cNvSpPr/>
          <p:nvPr/>
        </p:nvSpPr>
        <p:spPr>
          <a:xfrm>
            <a:off x="11176711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9" name="Shape 7"/>
          <p:cNvSpPr/>
          <p:nvPr/>
        </p:nvSpPr>
        <p:spPr>
          <a:xfrm>
            <a:off x="11387023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10" name="Text 1"/>
          <p:cNvSpPr/>
          <p:nvPr>
            <p:ph idx="101" type="title" hasCustomPrompt="1"/>
          </p:nvPr>
        </p:nvSpPr>
        <p:spPr>
          <a:xfrm>
            <a:off x="685800" y="713232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6번의 수업, 나무 한 그루</a:t>
            </a:r>
            <a:endParaRPr lang="en-US" sz="2800" dirty="0"/>
          </a:p>
        </p:txBody>
      </p:sp>
      <p:sp>
        <p:nvSpPr>
          <p:cNvPr id="12" name="Shape 9"/>
          <p:cNvSpPr/>
          <p:nvPr/>
        </p:nvSpPr>
        <p:spPr>
          <a:xfrm>
            <a:off x="685800" y="1600200"/>
            <a:ext cx="4754880" cy="4434840"/>
          </a:xfrm>
          <a:prstGeom prst="roundRect">
            <a:avLst>
              <a:gd name="adj" fmla="val 1649"/>
            </a:avLst>
          </a:prstGeom>
          <a:solidFill>
            <a:schemeClr val="tx2"/>
          </a:solidFill>
          <a:ln/>
        </p:spPr>
      </p:sp>
      <p:sp>
        <p:nvSpPr>
          <p:cNvPr id="13" name="Shape 10"/>
          <p:cNvSpPr/>
          <p:nvPr/>
        </p:nvSpPr>
        <p:spPr>
          <a:xfrm>
            <a:off x="2148840" y="2057400"/>
            <a:ext cx="1828800" cy="1280160"/>
          </a:xfrm>
          <a:prstGeom prst="triangle">
            <a:avLst/>
          </a:prstGeom>
          <a:solidFill>
            <a:srgbClr val="2E7D57"/>
          </a:solidFill>
          <a:ln/>
        </p:spPr>
      </p:sp>
      <p:sp>
        <p:nvSpPr>
          <p:cNvPr id="14" name="Shape 11"/>
          <p:cNvSpPr/>
          <p:nvPr/>
        </p:nvSpPr>
        <p:spPr>
          <a:xfrm>
            <a:off x="1737360" y="2697480"/>
            <a:ext cx="2651760" cy="1508760"/>
          </a:xfrm>
          <a:prstGeom prst="triangle">
            <a:avLst/>
          </a:prstGeom>
          <a:solidFill>
            <a:srgbClr val="2A7050"/>
          </a:solidFill>
          <a:ln/>
        </p:spPr>
      </p:sp>
      <p:sp>
        <p:nvSpPr>
          <p:cNvPr id="15" name="Shape 12"/>
          <p:cNvSpPr/>
          <p:nvPr/>
        </p:nvSpPr>
        <p:spPr>
          <a:xfrm>
            <a:off x="1325880" y="3429000"/>
            <a:ext cx="3474720" cy="1600200"/>
          </a:xfrm>
          <a:prstGeom prst="triangle">
            <a:avLst/>
          </a:prstGeom>
          <a:solidFill>
            <a:srgbClr val="25654A"/>
          </a:solidFill>
          <a:ln/>
        </p:spPr>
      </p:sp>
      <p:sp>
        <p:nvSpPr>
          <p:cNvPr id="16" name="Shape 13"/>
          <p:cNvSpPr/>
          <p:nvPr/>
        </p:nvSpPr>
        <p:spPr>
          <a:xfrm>
            <a:off x="2880360" y="5029200"/>
            <a:ext cx="365760" cy="320040"/>
          </a:xfrm>
          <a:prstGeom prst="rect">
            <a:avLst/>
          </a:prstGeom>
          <a:solidFill>
            <a:srgbClr val="8A7A62"/>
          </a:solidFill>
          <a:ln/>
        </p:spPr>
      </p:sp>
      <p:sp>
        <p:nvSpPr>
          <p:cNvPr id="17" name="Shape 14"/>
          <p:cNvSpPr/>
          <p:nvPr/>
        </p:nvSpPr>
        <p:spPr>
          <a:xfrm flipV="1">
            <a:off x="2423160" y="5349240"/>
            <a:ext cx="1280160" cy="457200"/>
          </a:xfrm>
          <a:prstGeom prst="trapezoid">
            <a:avLst/>
          </a:prstGeom>
          <a:solidFill>
            <a:schemeClr val="accent3"/>
          </a:solidFill>
          <a:ln/>
        </p:spPr>
      </p:sp>
      <p:sp>
        <p:nvSpPr>
          <p:cNvPr id="18" name="Shape 15"/>
          <p:cNvSpPr/>
          <p:nvPr/>
        </p:nvSpPr>
        <p:spPr>
          <a:xfrm>
            <a:off x="2761488" y="1737360"/>
            <a:ext cx="603504" cy="566928"/>
          </a:xfrm>
          <a:prstGeom prst="star5">
            <a:avLst/>
          </a:prstGeom>
          <a:solidFill>
            <a:schemeClr val="accent1"/>
          </a:solidFill>
          <a:ln/>
        </p:spPr>
      </p:sp>
      <p:sp>
        <p:nvSpPr>
          <p:cNvPr id="19" name="Shape 16"/>
          <p:cNvSpPr/>
          <p:nvPr/>
        </p:nvSpPr>
        <p:spPr>
          <a:xfrm>
            <a:off x="2926080" y="2926080"/>
            <a:ext cx="274320" cy="27432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20" name="Shape 17"/>
          <p:cNvSpPr/>
          <p:nvPr/>
        </p:nvSpPr>
        <p:spPr>
          <a:xfrm>
            <a:off x="2377440" y="3749040"/>
            <a:ext cx="274320" cy="274320"/>
          </a:xfrm>
          <a:prstGeom prst="ellipse">
            <a:avLst/>
          </a:prstGeom>
          <a:solidFill>
            <a:srgbClr val="E8C46A"/>
          </a:solidFill>
          <a:ln/>
        </p:spPr>
      </p:sp>
      <p:sp>
        <p:nvSpPr>
          <p:cNvPr id="21" name="Shape 18"/>
          <p:cNvSpPr/>
          <p:nvPr/>
        </p:nvSpPr>
        <p:spPr>
          <a:xfrm>
            <a:off x="3474720" y="3794760"/>
            <a:ext cx="274320" cy="274320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22" name="Shape 19"/>
          <p:cNvSpPr/>
          <p:nvPr/>
        </p:nvSpPr>
        <p:spPr>
          <a:xfrm>
            <a:off x="1874520" y="4572000"/>
            <a:ext cx="274320" cy="274320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23" name="Shape 20"/>
          <p:cNvSpPr/>
          <p:nvPr/>
        </p:nvSpPr>
        <p:spPr>
          <a:xfrm>
            <a:off x="3931920" y="4526280"/>
            <a:ext cx="274320" cy="27432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24" name="Shape 21"/>
          <p:cNvSpPr/>
          <p:nvPr/>
        </p:nvSpPr>
        <p:spPr>
          <a:xfrm>
            <a:off x="2880360" y="4480560"/>
            <a:ext cx="274320" cy="274320"/>
          </a:xfrm>
          <a:prstGeom prst="ellipse">
            <a:avLst/>
          </a:prstGeom>
          <a:solidFill>
            <a:srgbClr val="E8C46A"/>
          </a:solidFill>
          <a:ln/>
        </p:spPr>
      </p:sp>
      <p:sp>
        <p:nvSpPr>
          <p:cNvPr id="25" name="Shape 22"/>
          <p:cNvSpPr/>
          <p:nvPr/>
        </p:nvSpPr>
        <p:spPr>
          <a:xfrm>
            <a:off x="5669280" y="1600200"/>
            <a:ext cx="5836615" cy="786384"/>
          </a:xfrm>
          <a:prstGeom prst="roundRect">
            <a:avLst>
              <a:gd name="adj" fmla="val 9302"/>
            </a:avLst>
          </a:prstGeom>
          <a:solidFill>
            <a:schemeClr val="bg2"/>
          </a:solidFill>
          <a:ln/>
        </p:spPr>
      </p:sp>
      <p:sp>
        <p:nvSpPr>
          <p:cNvPr id="26" name="Shape 23"/>
          <p:cNvSpPr/>
          <p:nvPr/>
        </p:nvSpPr>
        <p:spPr>
          <a:xfrm>
            <a:off x="5870448" y="1856232"/>
            <a:ext cx="274320" cy="2743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6309360" y="169164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별</a:t>
            </a:r>
            <a:endParaRPr lang="en-US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7589520" y="1709928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5회 · 12/1</a:t>
            </a:r>
            <a:endParaRPr lang="en-US" sz="1200" dirty="0"/>
          </a:p>
        </p:txBody>
      </p:sp>
      <p:sp>
        <p:nvSpPr>
          <p:cNvPr id="29" name="Text 26"/>
          <p:cNvSpPr txBox="1"/>
          <p:nvPr/>
        </p:nvSpPr>
        <p:spPr>
          <a:xfrm>
            <a:off x="6309360" y="2020824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브랜딩 · 후킹으로 대표작 리뉴얼</a:t>
            </a:r>
            <a:endParaRPr lang="en-US" sz="1300" dirty="0"/>
          </a:p>
        </p:txBody>
      </p:sp>
      <p:sp>
        <p:nvSpPr>
          <p:cNvPr id="30" name="Shape 27"/>
          <p:cNvSpPr/>
          <p:nvPr/>
        </p:nvSpPr>
        <p:spPr>
          <a:xfrm>
            <a:off x="5669280" y="2505456"/>
            <a:ext cx="5836615" cy="786384"/>
          </a:xfrm>
          <a:prstGeom prst="roundRect">
            <a:avLst>
              <a:gd name="adj" fmla="val 9302"/>
            </a:avLst>
          </a:prstGeom>
          <a:solidFill>
            <a:schemeClr val="bg2"/>
          </a:solidFill>
          <a:ln/>
        </p:spPr>
      </p:sp>
      <p:sp>
        <p:nvSpPr>
          <p:cNvPr id="31" name="Shape 28"/>
          <p:cNvSpPr/>
          <p:nvPr/>
        </p:nvSpPr>
        <p:spPr>
          <a:xfrm>
            <a:off x="5870448" y="2761488"/>
            <a:ext cx="274320" cy="27432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6309360" y="2596896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오너먼트</a:t>
            </a:r>
            <a:endParaRPr lang="en-US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7589520" y="2615184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3·4회 · 11/19 · 11/26</a:t>
            </a:r>
            <a:endParaRPr lang="en-US" sz="1200" dirty="0"/>
          </a:p>
        </p:txBody>
      </p:sp>
      <p:sp>
        <p:nvSpPr>
          <p:cNvPr id="34" name="Text 31"/>
          <p:cNvSpPr txBox="1"/>
          <p:nvPr/>
        </p:nvSpPr>
        <p:spPr>
          <a:xfrm>
            <a:off x="6309360" y="2926080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숏폼 · 브이로그 · 정보성 · 스트리머형 · AI 영상</a:t>
            </a:r>
            <a:endParaRPr lang="en-US" sz="1300" dirty="0"/>
          </a:p>
        </p:txBody>
      </p:sp>
      <p:sp>
        <p:nvSpPr>
          <p:cNvPr id="35" name="Shape 32"/>
          <p:cNvSpPr/>
          <p:nvPr/>
        </p:nvSpPr>
        <p:spPr>
          <a:xfrm>
            <a:off x="5669280" y="3410712"/>
            <a:ext cx="5836615" cy="786384"/>
          </a:xfrm>
          <a:prstGeom prst="roundRect">
            <a:avLst>
              <a:gd name="adj" fmla="val 9302"/>
            </a:avLst>
          </a:prstGeom>
          <a:solidFill>
            <a:schemeClr val="bg2"/>
          </a:solidFill>
          <a:ln/>
        </p:spPr>
      </p:sp>
      <p:sp>
        <p:nvSpPr>
          <p:cNvPr id="36" name="Shape 33"/>
          <p:cNvSpPr/>
          <p:nvPr/>
        </p:nvSpPr>
        <p:spPr>
          <a:xfrm>
            <a:off x="5870448" y="3666744"/>
            <a:ext cx="274320" cy="274320"/>
          </a:xfrm>
          <a:prstGeom prst="ellipse">
            <a:avLst/>
          </a:prstGeom>
          <a:solidFill>
            <a:srgbClr val="8A7A62"/>
          </a:solidFill>
          <a:ln/>
        </p:spPr>
      </p:sp>
      <p:sp>
        <p:nvSpPr>
          <p:cNvPr id="37" name="Text 34"/>
          <p:cNvSpPr txBox="1"/>
          <p:nvPr/>
        </p:nvSpPr>
        <p:spPr>
          <a:xfrm>
            <a:off x="6309360" y="3502152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줄기</a:t>
            </a:r>
            <a:endParaRPr lang="en-US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7589520" y="3520440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2회 · 10/30 + 3주 과제</a:t>
            </a:r>
            <a:endParaRPr lang="en-US" sz="1200" dirty="0"/>
          </a:p>
        </p:txBody>
      </p:sp>
      <p:sp>
        <p:nvSpPr>
          <p:cNvPr id="39" name="Text 36"/>
          <p:cNvSpPr txBox="1"/>
          <p:nvPr/>
        </p:nvSpPr>
        <p:spPr>
          <a:xfrm>
            <a:off x="6309360" y="3831336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채널 기획안 · 채널 개설 · 스토리보드</a:t>
            </a:r>
            <a:endParaRPr lang="en-US" sz="1300" dirty="0"/>
          </a:p>
        </p:txBody>
      </p:sp>
      <p:sp>
        <p:nvSpPr>
          <p:cNvPr id="40" name="Shape 37"/>
          <p:cNvSpPr/>
          <p:nvPr/>
        </p:nvSpPr>
        <p:spPr>
          <a:xfrm>
            <a:off x="5669280" y="4315968"/>
            <a:ext cx="5836615" cy="786384"/>
          </a:xfrm>
          <a:prstGeom prst="roundRect">
            <a:avLst>
              <a:gd name="adj" fmla="val 9302"/>
            </a:avLst>
          </a:prstGeom>
          <a:solidFill>
            <a:schemeClr val="bg2"/>
          </a:solidFill>
          <a:ln/>
        </p:spPr>
      </p:sp>
      <p:sp>
        <p:nvSpPr>
          <p:cNvPr id="41" name="Shape 38"/>
          <p:cNvSpPr/>
          <p:nvPr/>
        </p:nvSpPr>
        <p:spPr>
          <a:xfrm>
            <a:off x="5870448" y="4572000"/>
            <a:ext cx="274320" cy="27432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42" name="Text 39"/>
          <p:cNvSpPr txBox="1"/>
          <p:nvPr/>
        </p:nvSpPr>
        <p:spPr>
          <a:xfrm>
            <a:off x="6309360" y="4407408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화분</a:t>
            </a:r>
            <a:endParaRPr lang="en-US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7589520" y="4425696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1회 · 오늘</a:t>
            </a:r>
            <a:endParaRPr lang="en-US" sz="1200" dirty="0"/>
          </a:p>
        </p:txBody>
      </p:sp>
      <p:sp>
        <p:nvSpPr>
          <p:cNvPr id="44" name="Text 41"/>
          <p:cNvSpPr txBox="1"/>
          <p:nvPr/>
        </p:nvSpPr>
        <p:spPr>
          <a:xfrm>
            <a:off x="6309360" y="4736592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보는 눈: 촬영 이론 + 프로의 제작 공정</a:t>
            </a:r>
            <a:endParaRPr lang="en-US" sz="1300" dirty="0"/>
          </a:p>
        </p:txBody>
      </p:sp>
      <p:sp>
        <p:nvSpPr>
          <p:cNvPr id="45" name="Shape 42"/>
          <p:cNvSpPr/>
          <p:nvPr/>
        </p:nvSpPr>
        <p:spPr>
          <a:xfrm>
            <a:off x="5669280" y="5221224"/>
            <a:ext cx="5836615" cy="786384"/>
          </a:xfrm>
          <a:prstGeom prst="roundRect">
            <a:avLst>
              <a:gd name="adj" fmla="val 9302"/>
            </a:avLst>
          </a:prstGeom>
          <a:solidFill>
            <a:schemeClr val="bg2"/>
          </a:solidFill>
          <a:ln/>
        </p:spPr>
      </p:sp>
      <p:sp>
        <p:nvSpPr>
          <p:cNvPr id="46" name="Shape 43"/>
          <p:cNvSpPr/>
          <p:nvPr/>
        </p:nvSpPr>
        <p:spPr>
          <a:xfrm>
            <a:off x="5870448" y="5477256"/>
            <a:ext cx="274320" cy="27432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47" name="Text 44"/>
          <p:cNvSpPr txBox="1"/>
          <p:nvPr/>
        </p:nvSpPr>
        <p:spPr>
          <a:xfrm>
            <a:off x="6309360" y="5312664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점등식</a:t>
            </a:r>
            <a:endParaRPr lang="en-US" sz="1600" dirty="0"/>
          </a:p>
        </p:txBody>
      </p:sp>
      <p:sp>
        <p:nvSpPr>
          <p:cNvPr id="48" name="Text 45"/>
          <p:cNvSpPr txBox="1"/>
          <p:nvPr/>
        </p:nvSpPr>
        <p:spPr>
          <a:xfrm>
            <a:off x="7589520" y="5330952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6회 · 12/10</a:t>
            </a:r>
            <a:endParaRPr lang="en-US" sz="1200" dirty="0"/>
          </a:p>
        </p:txBody>
      </p:sp>
      <p:sp>
        <p:nvSpPr>
          <p:cNvPr id="49" name="Text 46"/>
          <p:cNvSpPr txBox="1"/>
          <p:nvPr/>
        </p:nvSpPr>
        <p:spPr>
          <a:xfrm>
            <a:off x="6309360" y="5641848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채널을 처음부터 다시 보는 상영회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A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91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1교시 · OT와 과정 지도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0125151" y="502920"/>
            <a:ext cx="118872" cy="1188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4" name="Shape 2"/>
          <p:cNvSpPr/>
          <p:nvPr/>
        </p:nvSpPr>
        <p:spPr>
          <a:xfrm>
            <a:off x="10335463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5" name="Shape 3"/>
          <p:cNvSpPr/>
          <p:nvPr/>
        </p:nvSpPr>
        <p:spPr>
          <a:xfrm>
            <a:off x="10545775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6" name="Shape 4"/>
          <p:cNvSpPr/>
          <p:nvPr/>
        </p:nvSpPr>
        <p:spPr>
          <a:xfrm>
            <a:off x="10756087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7" name="Shape 5"/>
          <p:cNvSpPr/>
          <p:nvPr/>
        </p:nvSpPr>
        <p:spPr>
          <a:xfrm>
            <a:off x="10966399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8" name="Shape 6"/>
          <p:cNvSpPr/>
          <p:nvPr/>
        </p:nvSpPr>
        <p:spPr>
          <a:xfrm>
            <a:off x="11176711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9" name="Shape 7"/>
          <p:cNvSpPr/>
          <p:nvPr/>
        </p:nvSpPr>
        <p:spPr>
          <a:xfrm>
            <a:off x="11387023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10" name="Text 1"/>
          <p:cNvSpPr/>
          <p:nvPr>
            <p:ph idx="101" type="title" hasCustomPrompt="1"/>
          </p:nvPr>
        </p:nvSpPr>
        <p:spPr>
          <a:xfrm>
            <a:off x="685800" y="713232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12월 10일, 여러분 손에 남는 것</a:t>
            </a:r>
            <a:endParaRPr lang="en-US" sz="2800" dirty="0"/>
          </a:p>
        </p:txBody>
      </p:sp>
      <p:sp>
        <p:nvSpPr>
          <p:cNvPr id="12" name="Shape 9"/>
          <p:cNvSpPr/>
          <p:nvPr/>
        </p:nvSpPr>
        <p:spPr>
          <a:xfrm>
            <a:off x="685800" y="1645920"/>
            <a:ext cx="2499284" cy="3291840"/>
          </a:xfrm>
          <a:prstGeom prst="roundRect">
            <a:avLst>
              <a:gd name="adj" fmla="val 2927"/>
            </a:avLst>
          </a:prstGeom>
          <a:solidFill>
            <a:schemeClr val="tx2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1005840" y="1874520"/>
            <a:ext cx="185920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400" b="1" dirty="0">
                <a:solidFill>
                  <a:schemeClr val="accent1"/>
                </a:solidFill>
              </a:rPr>
              <a:t>1</a:t>
            </a:r>
            <a:endParaRPr lang="en-US" sz="6400" dirty="0"/>
          </a:p>
        </p:txBody>
      </p:sp>
      <p:sp>
        <p:nvSpPr>
          <p:cNvPr id="14" name="Text 11"/>
          <p:cNvSpPr txBox="1"/>
          <p:nvPr/>
        </p:nvSpPr>
        <p:spPr>
          <a:xfrm>
            <a:off x="1005840" y="3017520"/>
            <a:ext cx="18592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채널</a:t>
            </a:r>
            <a:endParaRPr lang="en-US" sz="2200" dirty="0"/>
          </a:p>
        </p:txBody>
      </p:sp>
      <p:sp>
        <p:nvSpPr>
          <p:cNvPr id="15" name="Text 12"/>
          <p:cNvSpPr txBox="1"/>
          <p:nvPr/>
        </p:nvSpPr>
        <p:spPr>
          <a:xfrm>
            <a:off x="1005840" y="3566160"/>
            <a:ext cx="185920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C9D3CE"/>
                </a:solidFill>
              </a:rPr>
              <a:t>내 유튜브 채널. 2회차에 열고 매 회차 영상이 쌓여요</a:t>
            </a:r>
            <a:endParaRPr lang="en-US" sz="1350" dirty="0"/>
          </a:p>
        </p:txBody>
      </p:sp>
      <p:sp>
        <p:nvSpPr>
          <p:cNvPr id="16" name="Shape 13"/>
          <p:cNvSpPr/>
          <p:nvPr/>
        </p:nvSpPr>
        <p:spPr>
          <a:xfrm>
            <a:off x="3459404" y="1645920"/>
            <a:ext cx="2499284" cy="3291840"/>
          </a:xfrm>
          <a:prstGeom prst="roundRect">
            <a:avLst>
              <a:gd name="adj" fmla="val 2927"/>
            </a:avLst>
          </a:prstGeom>
          <a:solidFill>
            <a:schemeClr val="tx2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3779444" y="1874520"/>
            <a:ext cx="185920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400" b="1" dirty="0">
                <a:solidFill>
                  <a:schemeClr val="accent1"/>
                </a:solidFill>
              </a:rPr>
              <a:t>7+</a:t>
            </a:r>
            <a:endParaRPr lang="en-US" sz="6400" dirty="0"/>
          </a:p>
        </p:txBody>
      </p:sp>
      <p:sp>
        <p:nvSpPr>
          <p:cNvPr id="18" name="Text 15"/>
          <p:cNvSpPr txBox="1"/>
          <p:nvPr/>
        </p:nvSpPr>
        <p:spPr>
          <a:xfrm>
            <a:off x="3779444" y="3017520"/>
            <a:ext cx="18592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영상</a:t>
            </a:r>
            <a:endParaRPr lang="en-US" sz="2200" dirty="0"/>
          </a:p>
        </p:txBody>
      </p:sp>
      <p:sp>
        <p:nvSpPr>
          <p:cNvPr id="19" name="Text 16"/>
          <p:cNvSpPr txBox="1"/>
          <p:nvPr/>
        </p:nvSpPr>
        <p:spPr>
          <a:xfrm>
            <a:off x="3779444" y="3566160"/>
            <a:ext cx="185920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C9D3CE"/>
                </a:solidFill>
              </a:rPr>
              <a:t>숏폼부터 브이로그, AI 영상, 대표작까지</a:t>
            </a:r>
            <a:endParaRPr lang="en-US" sz="1350" dirty="0"/>
          </a:p>
        </p:txBody>
      </p:sp>
      <p:sp>
        <p:nvSpPr>
          <p:cNvPr id="20" name="Shape 17"/>
          <p:cNvSpPr/>
          <p:nvPr/>
        </p:nvSpPr>
        <p:spPr>
          <a:xfrm>
            <a:off x="6233008" y="1645920"/>
            <a:ext cx="2499284" cy="3291840"/>
          </a:xfrm>
          <a:prstGeom prst="roundRect">
            <a:avLst>
              <a:gd name="adj" fmla="val 2927"/>
            </a:avLst>
          </a:prstGeom>
          <a:solidFill>
            <a:schemeClr val="tx2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6553048" y="1874520"/>
            <a:ext cx="185920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400" b="1" dirty="0">
                <a:solidFill>
                  <a:schemeClr val="accent1"/>
                </a:solidFill>
              </a:rPr>
              <a:t>1</a:t>
            </a:r>
            <a:endParaRPr lang="en-US" sz="6400" dirty="0"/>
          </a:p>
        </p:txBody>
      </p:sp>
      <p:sp>
        <p:nvSpPr>
          <p:cNvPr id="22" name="Text 19"/>
          <p:cNvSpPr txBox="1"/>
          <p:nvPr/>
        </p:nvSpPr>
        <p:spPr>
          <a:xfrm>
            <a:off x="6553048" y="3017520"/>
            <a:ext cx="18592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기획안</a:t>
            </a:r>
            <a:endParaRPr lang="en-US" sz="2200" dirty="0"/>
          </a:p>
        </p:txBody>
      </p:sp>
      <p:sp>
        <p:nvSpPr>
          <p:cNvPr id="23" name="Text 20"/>
          <p:cNvSpPr txBox="1"/>
          <p:nvPr/>
        </p:nvSpPr>
        <p:spPr>
          <a:xfrm>
            <a:off x="6553048" y="3566160"/>
            <a:ext cx="185920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C9D3CE"/>
                </a:solidFill>
              </a:rPr>
              <a:t>누구에게, 무엇을, 왜. 스토리보드 포함</a:t>
            </a:r>
            <a:endParaRPr lang="en-US" sz="1350" dirty="0"/>
          </a:p>
        </p:txBody>
      </p:sp>
      <p:sp>
        <p:nvSpPr>
          <p:cNvPr id="24" name="Shape 21"/>
          <p:cNvSpPr/>
          <p:nvPr/>
        </p:nvSpPr>
        <p:spPr>
          <a:xfrm>
            <a:off x="9006611" y="1645920"/>
            <a:ext cx="2499284" cy="3291840"/>
          </a:xfrm>
          <a:prstGeom prst="roundRect">
            <a:avLst>
              <a:gd name="adj" fmla="val 2927"/>
            </a:avLst>
          </a:prstGeom>
          <a:solidFill>
            <a:schemeClr val="tx2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9326651" y="1874520"/>
            <a:ext cx="185920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400" b="1" dirty="0">
                <a:solidFill>
                  <a:schemeClr val="accent1"/>
                </a:solidFill>
              </a:rPr>
              <a:t>1</a:t>
            </a:r>
            <a:endParaRPr lang="en-US" sz="6400" dirty="0"/>
          </a:p>
        </p:txBody>
      </p:sp>
      <p:sp>
        <p:nvSpPr>
          <p:cNvPr id="26" name="Text 23"/>
          <p:cNvSpPr txBox="1"/>
          <p:nvPr/>
        </p:nvSpPr>
        <p:spPr>
          <a:xfrm>
            <a:off x="9326651" y="3017520"/>
            <a:ext cx="18592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제작 노트</a:t>
            </a:r>
            <a:endParaRPr lang="en-US" sz="2200" dirty="0"/>
          </a:p>
        </p:txBody>
      </p:sp>
      <p:sp>
        <p:nvSpPr>
          <p:cNvPr id="27" name="Text 24"/>
          <p:cNvSpPr txBox="1"/>
          <p:nvPr/>
        </p:nvSpPr>
        <p:spPr>
          <a:xfrm>
            <a:off x="9326651" y="3566160"/>
            <a:ext cx="185920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C9D3CE"/>
                </a:solidFill>
              </a:rPr>
              <a:t>사람이 한 것 / AI가 도운 것</a:t>
            </a:r>
            <a:endParaRPr lang="en-US" sz="1350" dirty="0"/>
          </a:p>
        </p:txBody>
      </p:sp>
      <p:sp>
        <p:nvSpPr>
          <p:cNvPr id="28" name="Shape 25"/>
          <p:cNvSpPr/>
          <p:nvPr/>
        </p:nvSpPr>
        <p:spPr>
          <a:xfrm>
            <a:off x="685800" y="5257800"/>
            <a:ext cx="10820095" cy="512064"/>
          </a:xfrm>
          <a:prstGeom prst="roundRect">
            <a:avLst>
              <a:gd name="adj" fmla="val 14286"/>
            </a:avLst>
          </a:prstGeom>
          <a:solidFill>
            <a:schemeClr val="accent6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960120" y="5257800"/>
            <a:ext cx="1027145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연습용으로 만들고 버리는 영상은 없습니다. 전부 여러분 채널에 남아 6회차에 처음부터 다시 봅니다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A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91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1교시 · OT와 과정 지도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0125151" y="502920"/>
            <a:ext cx="118872" cy="1188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4" name="Shape 2"/>
          <p:cNvSpPr/>
          <p:nvPr/>
        </p:nvSpPr>
        <p:spPr>
          <a:xfrm>
            <a:off x="10335463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5" name="Shape 3"/>
          <p:cNvSpPr/>
          <p:nvPr/>
        </p:nvSpPr>
        <p:spPr>
          <a:xfrm>
            <a:off x="10545775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6" name="Shape 4"/>
          <p:cNvSpPr/>
          <p:nvPr/>
        </p:nvSpPr>
        <p:spPr>
          <a:xfrm>
            <a:off x="10756087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7" name="Shape 5"/>
          <p:cNvSpPr/>
          <p:nvPr/>
        </p:nvSpPr>
        <p:spPr>
          <a:xfrm>
            <a:off x="10966399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8" name="Shape 6"/>
          <p:cNvSpPr/>
          <p:nvPr/>
        </p:nvSpPr>
        <p:spPr>
          <a:xfrm>
            <a:off x="11176711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9" name="Shape 7"/>
          <p:cNvSpPr/>
          <p:nvPr/>
        </p:nvSpPr>
        <p:spPr>
          <a:xfrm>
            <a:off x="11387023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10" name="Text 1"/>
          <p:cNvSpPr/>
          <p:nvPr>
            <p:ph idx="101" type="title" hasCustomPrompt="1"/>
          </p:nvPr>
        </p:nvSpPr>
        <p:spPr>
          <a:xfrm>
            <a:off x="685800" y="713232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매 회차 받아 가는 것</a:t>
            </a:r>
            <a:endParaRPr lang="en-US" sz="2800" dirty="0"/>
          </a:p>
        </p:txBody>
      </p:sp>
      <p:sp>
        <p:nvSpPr>
          <p:cNvPr id="12" name="Shape 9"/>
          <p:cNvSpPr/>
          <p:nvPr/>
        </p:nvSpPr>
        <p:spPr>
          <a:xfrm>
            <a:off x="685800" y="1645920"/>
            <a:ext cx="2499284" cy="2926080"/>
          </a:xfrm>
          <a:prstGeom prst="roundRect">
            <a:avLst>
              <a:gd name="adj" fmla="val 2927"/>
            </a:avLst>
          </a:prstGeom>
          <a:solidFill>
            <a:schemeClr val="bg2"/>
          </a:solidFill>
          <a:ln/>
        </p:spPr>
      </p:sp>
      <p:sp>
        <p:nvSpPr>
          <p:cNvPr id="13" name="Shape 10"/>
          <p:cNvSpPr/>
          <p:nvPr/>
        </p:nvSpPr>
        <p:spPr>
          <a:xfrm>
            <a:off x="960120" y="1920240"/>
            <a:ext cx="566928" cy="566928"/>
          </a:xfrm>
          <a:prstGeom prst="ellipse">
            <a:avLst/>
          </a:prstGeom>
          <a:solidFill>
            <a:srgbClr val="E6EEE9"/>
          </a:solidFill>
          <a:ln/>
        </p:spPr>
      </p:sp>
      <p:pic>
        <p:nvPicPr>
          <p:cNvPr id="14" name="Image 0" descr="FaBoo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7521" y="2067641"/>
            <a:ext cx="272125" cy="272125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960120" y="2633472"/>
            <a:ext cx="19506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전자책 한 장씩</a:t>
            </a:r>
            <a:endParaRPr lang="en-US" sz="1700" dirty="0"/>
          </a:p>
        </p:txBody>
      </p:sp>
      <p:sp>
        <p:nvSpPr>
          <p:cNvPr id="16" name="Text 12"/>
          <p:cNvSpPr txBox="1"/>
          <p:nvPr/>
        </p:nvSpPr>
        <p:spPr>
          <a:xfrm>
            <a:off x="960120" y="3063240"/>
            <a:ext cx="195064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수업 내용 + 더 깊은 설명 + 실무 팁. 6회차에 한 권으로</a:t>
            </a:r>
            <a:endParaRPr lang="en-US" sz="1400" dirty="0"/>
          </a:p>
        </p:txBody>
      </p:sp>
      <p:sp>
        <p:nvSpPr>
          <p:cNvPr id="17" name="Shape 13"/>
          <p:cNvSpPr/>
          <p:nvPr/>
        </p:nvSpPr>
        <p:spPr>
          <a:xfrm>
            <a:off x="3459404" y="1645920"/>
            <a:ext cx="2499284" cy="2926080"/>
          </a:xfrm>
          <a:prstGeom prst="roundRect">
            <a:avLst>
              <a:gd name="adj" fmla="val 2927"/>
            </a:avLst>
          </a:prstGeom>
          <a:solidFill>
            <a:schemeClr val="bg2"/>
          </a:solidFill>
          <a:ln/>
        </p:spPr>
      </p:sp>
      <p:sp>
        <p:nvSpPr>
          <p:cNvPr id="18" name="Shape 14"/>
          <p:cNvSpPr/>
          <p:nvPr/>
        </p:nvSpPr>
        <p:spPr>
          <a:xfrm>
            <a:off x="3733724" y="1920240"/>
            <a:ext cx="566928" cy="566928"/>
          </a:xfrm>
          <a:prstGeom prst="ellipse">
            <a:avLst/>
          </a:prstGeom>
          <a:solidFill>
            <a:srgbClr val="E6EEE9"/>
          </a:solidFill>
          <a:ln/>
        </p:spPr>
      </p:sp>
      <p:pic>
        <p:nvPicPr>
          <p:cNvPr id="19" name="Image 1" descr="FaMagic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81125" y="2067641"/>
            <a:ext cx="272125" cy="272125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3733724" y="2633472"/>
            <a:ext cx="19506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프롬프트북</a:t>
            </a:r>
            <a:endParaRPr lang="en-US" sz="1700" dirty="0"/>
          </a:p>
        </p:txBody>
      </p:sp>
      <p:sp>
        <p:nvSpPr>
          <p:cNvPr id="21" name="Text 16"/>
          <p:cNvSpPr txBox="1"/>
          <p:nvPr/>
        </p:nvSpPr>
        <p:spPr>
          <a:xfrm>
            <a:off x="3733724" y="3063240"/>
            <a:ext cx="195064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그대로 복사하는 완성형 + 내 것으로 채우는 빈칸형</a:t>
            </a:r>
            <a:endParaRPr lang="en-US" sz="1400" dirty="0"/>
          </a:p>
        </p:txBody>
      </p:sp>
      <p:sp>
        <p:nvSpPr>
          <p:cNvPr id="22" name="Shape 17"/>
          <p:cNvSpPr/>
          <p:nvPr/>
        </p:nvSpPr>
        <p:spPr>
          <a:xfrm>
            <a:off x="6233008" y="1645920"/>
            <a:ext cx="2499284" cy="2926080"/>
          </a:xfrm>
          <a:prstGeom prst="roundRect">
            <a:avLst>
              <a:gd name="adj" fmla="val 2927"/>
            </a:avLst>
          </a:prstGeom>
          <a:solidFill>
            <a:schemeClr val="bg2"/>
          </a:solidFill>
          <a:ln/>
        </p:spPr>
      </p:sp>
      <p:sp>
        <p:nvSpPr>
          <p:cNvPr id="23" name="Shape 18"/>
          <p:cNvSpPr/>
          <p:nvPr/>
        </p:nvSpPr>
        <p:spPr>
          <a:xfrm>
            <a:off x="6507328" y="1920240"/>
            <a:ext cx="566928" cy="566928"/>
          </a:xfrm>
          <a:prstGeom prst="ellipse">
            <a:avLst/>
          </a:prstGeom>
          <a:solidFill>
            <a:srgbClr val="E6EEE9"/>
          </a:solidFill>
          <a:ln/>
        </p:spPr>
      </p:sp>
      <p:pic>
        <p:nvPicPr>
          <p:cNvPr id="24" name="Image 2" descr="FaPlayCirc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54729" y="2067641"/>
            <a:ext cx="272125" cy="272125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6507328" y="2633472"/>
            <a:ext cx="19506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요약 영상</a:t>
            </a:r>
            <a:endParaRPr lang="en-US" sz="1700" dirty="0"/>
          </a:p>
        </p:txBody>
      </p:sp>
      <p:sp>
        <p:nvSpPr>
          <p:cNvPr id="26" name="Text 20"/>
          <p:cNvSpPr txBox="1"/>
          <p:nvPr/>
        </p:nvSpPr>
        <p:spPr>
          <a:xfrm>
            <a:off x="6507328" y="3063240"/>
            <a:ext cx="195064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수업 다음 날 1~2분, 그날 핵심 3가지</a:t>
            </a:r>
            <a:endParaRPr lang="en-US" sz="1400" dirty="0"/>
          </a:p>
        </p:txBody>
      </p:sp>
      <p:sp>
        <p:nvSpPr>
          <p:cNvPr id="27" name="Shape 21"/>
          <p:cNvSpPr/>
          <p:nvPr/>
        </p:nvSpPr>
        <p:spPr>
          <a:xfrm>
            <a:off x="9006611" y="1645920"/>
            <a:ext cx="2499284" cy="2926080"/>
          </a:xfrm>
          <a:prstGeom prst="roundRect">
            <a:avLst>
              <a:gd name="adj" fmla="val 2927"/>
            </a:avLst>
          </a:prstGeom>
          <a:solidFill>
            <a:schemeClr val="bg2"/>
          </a:solidFill>
          <a:ln/>
        </p:spPr>
      </p:sp>
      <p:sp>
        <p:nvSpPr>
          <p:cNvPr id="28" name="Shape 22"/>
          <p:cNvSpPr/>
          <p:nvPr/>
        </p:nvSpPr>
        <p:spPr>
          <a:xfrm>
            <a:off x="9280931" y="1920240"/>
            <a:ext cx="566928" cy="566928"/>
          </a:xfrm>
          <a:prstGeom prst="ellipse">
            <a:avLst/>
          </a:prstGeom>
          <a:solidFill>
            <a:srgbClr val="E6EEE9"/>
          </a:solidFill>
          <a:ln/>
        </p:spPr>
      </p:sp>
      <p:pic>
        <p:nvPicPr>
          <p:cNvPr id="29" name="Image 3" descr="FaFileAl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28333" y="2067641"/>
            <a:ext cx="272125" cy="272125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9280931" y="2633472"/>
            <a:ext cx="19506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양식 · 치트시트</a:t>
            </a:r>
            <a:endParaRPr lang="en-US" sz="1700" dirty="0"/>
          </a:p>
        </p:txBody>
      </p:sp>
      <p:sp>
        <p:nvSpPr>
          <p:cNvPr id="31" name="Text 24"/>
          <p:cNvSpPr txBox="1"/>
          <p:nvPr/>
        </p:nvSpPr>
        <p:spPr>
          <a:xfrm>
            <a:off x="9280931" y="3063240"/>
            <a:ext cx="195064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폰 세팅표, 촬영 용어집, 기획안, 스토리보드</a:t>
            </a:r>
            <a:endParaRPr lang="en-US" sz="1400" dirty="0"/>
          </a:p>
        </p:txBody>
      </p:sp>
      <p:sp>
        <p:nvSpPr>
          <p:cNvPr id="32" name="Shape 25"/>
          <p:cNvSpPr/>
          <p:nvPr/>
        </p:nvSpPr>
        <p:spPr>
          <a:xfrm>
            <a:off x="685800" y="4892040"/>
            <a:ext cx="10820095" cy="512064"/>
          </a:xfrm>
          <a:prstGeom prst="roundRect">
            <a:avLst>
              <a:gd name="adj" fmla="val 14286"/>
            </a:avLst>
          </a:prstGeom>
          <a:solidFill>
            <a:schemeClr val="accent6"/>
          </a:solidFill>
          <a:ln/>
        </p:spPr>
      </p:sp>
      <p:sp>
        <p:nvSpPr>
          <p:cNvPr id="33" name="Text 26"/>
          <p:cNvSpPr txBox="1"/>
          <p:nvPr/>
        </p:nvSpPr>
        <p:spPr>
          <a:xfrm>
            <a:off x="960120" y="4892040"/>
            <a:ext cx="1027145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전자책 · 프롬프트북 · 요약 영상 · 양식은 매 회차 끝에 단톡방과 드라이브로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A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91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1교시 · OT와 과정 지도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0125151" y="502920"/>
            <a:ext cx="118872" cy="1188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4" name="Shape 2"/>
          <p:cNvSpPr/>
          <p:nvPr/>
        </p:nvSpPr>
        <p:spPr>
          <a:xfrm>
            <a:off x="10335463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5" name="Shape 3"/>
          <p:cNvSpPr/>
          <p:nvPr/>
        </p:nvSpPr>
        <p:spPr>
          <a:xfrm>
            <a:off x="10545775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6" name="Shape 4"/>
          <p:cNvSpPr/>
          <p:nvPr/>
        </p:nvSpPr>
        <p:spPr>
          <a:xfrm>
            <a:off x="10756087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7" name="Shape 5"/>
          <p:cNvSpPr/>
          <p:nvPr/>
        </p:nvSpPr>
        <p:spPr>
          <a:xfrm>
            <a:off x="10966399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8" name="Shape 6"/>
          <p:cNvSpPr/>
          <p:nvPr/>
        </p:nvSpPr>
        <p:spPr>
          <a:xfrm>
            <a:off x="11176711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9" name="Shape 7"/>
          <p:cNvSpPr/>
          <p:nvPr/>
        </p:nvSpPr>
        <p:spPr>
          <a:xfrm>
            <a:off x="11387023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10" name="Text 1"/>
          <p:cNvSpPr/>
          <p:nvPr>
            <p:ph idx="101" type="title" hasCustomPrompt="1"/>
          </p:nvPr>
        </p:nvSpPr>
        <p:spPr>
          <a:xfrm>
            <a:off x="685800" y="713232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AI는 장비, 연출은 사람</a:t>
            </a:r>
            <a:endParaRPr lang="en-US" sz="2800" dirty="0"/>
          </a:p>
        </p:txBody>
      </p:sp>
      <p:sp>
        <p:nvSpPr>
          <p:cNvPr id="12" name="Shape 9"/>
          <p:cNvSpPr/>
          <p:nvPr/>
        </p:nvSpPr>
        <p:spPr>
          <a:xfrm>
            <a:off x="685800" y="1645920"/>
            <a:ext cx="5272888" cy="3749040"/>
          </a:xfrm>
          <a:prstGeom prst="roundRect">
            <a:avLst>
              <a:gd name="adj" fmla="val 1951"/>
            </a:avLst>
          </a:prstGeom>
          <a:solidFill>
            <a:schemeClr val="tx2"/>
          </a:solidFill>
          <a:ln/>
        </p:spPr>
      </p:sp>
      <p:sp>
        <p:nvSpPr>
          <p:cNvPr id="13" name="Shape 10"/>
          <p:cNvSpPr/>
          <p:nvPr/>
        </p:nvSpPr>
        <p:spPr>
          <a:xfrm>
            <a:off x="6233008" y="1645920"/>
            <a:ext cx="5272888" cy="3749040"/>
          </a:xfrm>
          <a:prstGeom prst="roundRect">
            <a:avLst>
              <a:gd name="adj" fmla="val 1951"/>
            </a:avLst>
          </a:prstGeom>
          <a:solidFill>
            <a:schemeClr val="bg2"/>
          </a:solidFill>
          <a:ln/>
        </p:spPr>
      </p:sp>
      <p:sp>
        <p:nvSpPr>
          <p:cNvPr id="14" name="Shape 11"/>
          <p:cNvSpPr/>
          <p:nvPr/>
        </p:nvSpPr>
        <p:spPr>
          <a:xfrm>
            <a:off x="1005840" y="1920240"/>
            <a:ext cx="640080" cy="640080"/>
          </a:xfrm>
          <a:prstGeom prst="ellipse">
            <a:avLst/>
          </a:prstGeom>
          <a:solidFill>
            <a:srgbClr val="26302C"/>
          </a:solidFill>
          <a:ln/>
        </p:spPr>
      </p:sp>
      <p:pic>
        <p:nvPicPr>
          <p:cNvPr id="15" name="Image 0" descr="FaUs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2261" y="2086661"/>
            <a:ext cx="307238" cy="307238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6553048" y="1920240"/>
            <a:ext cx="640080" cy="640080"/>
          </a:xfrm>
          <a:prstGeom prst="ellipse">
            <a:avLst/>
          </a:prstGeom>
          <a:solidFill>
            <a:srgbClr val="E6EEE9"/>
          </a:solidFill>
          <a:ln/>
        </p:spPr>
      </p:sp>
      <p:pic>
        <p:nvPicPr>
          <p:cNvPr id="17" name="Image 1" descr="FaRobo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19468" y="2086661"/>
            <a:ext cx="307238" cy="307238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1828800" y="20116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사람의 몫</a:t>
            </a:r>
            <a:endParaRPr lang="en-US" sz="2200" dirty="0"/>
          </a:p>
        </p:txBody>
      </p:sp>
      <p:sp>
        <p:nvSpPr>
          <p:cNvPr id="19" name="Text 14"/>
          <p:cNvSpPr txBox="1"/>
          <p:nvPr/>
        </p:nvSpPr>
        <p:spPr>
          <a:xfrm>
            <a:off x="7376008" y="20116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AI의 몫</a:t>
            </a:r>
            <a:endParaRPr lang="en-US" sz="2200" dirty="0"/>
          </a:p>
        </p:txBody>
      </p:sp>
      <p:sp>
        <p:nvSpPr>
          <p:cNvPr id="20" name="Text 15"/>
          <p:cNvSpPr txBox="1"/>
          <p:nvPr/>
        </p:nvSpPr>
        <p:spPr>
          <a:xfrm>
            <a:off x="1051560" y="2880360"/>
            <a:ext cx="463280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정하기 — 무엇을, 누구에게, 왜</a:t>
            </a:r>
            <a:endParaRPr lang="en-US" sz="16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현장 — 진짜 장소 · 사람 · 감정을 찍기</a:t>
            </a:r>
            <a:endParaRPr lang="en-US" sz="16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고르기 — 고르고, 버리고, 순서 정하기</a:t>
            </a:r>
            <a:endParaRPr lang="en-US" sz="16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책임 — 초상권 · 저작권 · AI 표시</a:t>
            </a:r>
            <a:endParaRPr lang="en-US" sz="1600" dirty="0"/>
          </a:p>
        </p:txBody>
      </p:sp>
      <p:sp>
        <p:nvSpPr>
          <p:cNvPr id="21" name="Text 16"/>
          <p:cNvSpPr txBox="1"/>
          <p:nvPr/>
        </p:nvSpPr>
        <p:spPr>
          <a:xfrm>
            <a:off x="6598768" y="2880360"/>
            <a:ext cx="463280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초안 — 아이디어 · 대본 · 자막 · 캡션</a:t>
            </a:r>
            <a:endParaRPr lang="en-US" sz="16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반복 작업 — 받아쓰기 · 보정 · 잡음 제거</a:t>
            </a:r>
            <a:endParaRPr lang="en-US" sz="16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불가능한 장면 — 찍을 수 없는 장면</a:t>
            </a:r>
            <a:endParaRPr lang="en-US" sz="16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두 번째 의견 — 구도 · 흐름 피드백</a:t>
            </a:r>
            <a:endParaRPr lang="en-US" sz="1600" dirty="0"/>
          </a:p>
        </p:txBody>
      </p:sp>
      <p:sp>
        <p:nvSpPr>
          <p:cNvPr id="22" name="Shape 17"/>
          <p:cNvSpPr/>
          <p:nvPr/>
        </p:nvSpPr>
        <p:spPr>
          <a:xfrm>
            <a:off x="685800" y="5623560"/>
            <a:ext cx="10820095" cy="512064"/>
          </a:xfrm>
          <a:prstGeom prst="roundRect">
            <a:avLst>
              <a:gd name="adj" fmla="val 14286"/>
            </a:avLst>
          </a:prstGeom>
          <a:solidFill>
            <a:schemeClr val="accent6"/>
          </a:solidFill>
          <a:ln/>
        </p:spPr>
      </p:sp>
      <p:sp>
        <p:nvSpPr>
          <p:cNvPr id="23" name="Text 18"/>
          <p:cNvSpPr txBox="1"/>
          <p:nvPr/>
        </p:nvSpPr>
        <p:spPr>
          <a:xfrm>
            <a:off x="960120" y="5623560"/>
            <a:ext cx="1027145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매 실습마다 워크북에 "AI가 한 것 / 내가 고친 것" 한 줄 → 6회차 제작 노트가 됩니다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A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91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1교시 · OT와 과정 지도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0125151" y="502920"/>
            <a:ext cx="118872" cy="1188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4" name="Shape 2"/>
          <p:cNvSpPr/>
          <p:nvPr/>
        </p:nvSpPr>
        <p:spPr>
          <a:xfrm>
            <a:off x="10335463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5" name="Shape 3"/>
          <p:cNvSpPr/>
          <p:nvPr/>
        </p:nvSpPr>
        <p:spPr>
          <a:xfrm>
            <a:off x="10545775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6" name="Shape 4"/>
          <p:cNvSpPr/>
          <p:nvPr/>
        </p:nvSpPr>
        <p:spPr>
          <a:xfrm>
            <a:off x="10756087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7" name="Shape 5"/>
          <p:cNvSpPr/>
          <p:nvPr/>
        </p:nvSpPr>
        <p:spPr>
          <a:xfrm>
            <a:off x="10966399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8" name="Shape 6"/>
          <p:cNvSpPr/>
          <p:nvPr/>
        </p:nvSpPr>
        <p:spPr>
          <a:xfrm>
            <a:off x="11176711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9" name="Shape 7"/>
          <p:cNvSpPr/>
          <p:nvPr/>
        </p:nvSpPr>
        <p:spPr>
          <a:xfrm>
            <a:off x="11387023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10" name="Text 1"/>
          <p:cNvSpPr/>
          <p:nvPr>
            <p:ph idx="101" type="title" hasCustomPrompt="1"/>
          </p:nvPr>
        </p:nvSpPr>
        <p:spPr>
          <a:xfrm>
            <a:off x="685800" y="713232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영상은 각자, 배움은 크루로</a:t>
            </a:r>
            <a:endParaRPr lang="en-US" sz="2800" dirty="0"/>
          </a:p>
        </p:txBody>
      </p:sp>
      <p:sp>
        <p:nvSpPr>
          <p:cNvPr id="12" name="Shape 9"/>
          <p:cNvSpPr/>
          <p:nvPr/>
        </p:nvSpPr>
        <p:spPr>
          <a:xfrm>
            <a:off x="685800" y="1645920"/>
            <a:ext cx="2499284" cy="2331720"/>
          </a:xfrm>
          <a:prstGeom prst="roundRect">
            <a:avLst>
              <a:gd name="adj" fmla="val 3137"/>
            </a:avLst>
          </a:prstGeom>
          <a:solidFill>
            <a:schemeClr val="bg2"/>
          </a:solidFill>
          <a:ln/>
        </p:spPr>
      </p:sp>
      <p:sp>
        <p:nvSpPr>
          <p:cNvPr id="13" name="Shape 10"/>
          <p:cNvSpPr/>
          <p:nvPr/>
        </p:nvSpPr>
        <p:spPr>
          <a:xfrm>
            <a:off x="960120" y="1920240"/>
            <a:ext cx="566928" cy="566928"/>
          </a:xfrm>
          <a:prstGeom prst="ellipse">
            <a:avLst/>
          </a:prstGeom>
          <a:solidFill>
            <a:srgbClr val="E6EEE9"/>
          </a:solidFill>
          <a:ln/>
        </p:spPr>
      </p:sp>
      <p:pic>
        <p:nvPicPr>
          <p:cNvPr id="14" name="Image 0" descr="FaFla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7521" y="2067641"/>
            <a:ext cx="272125" cy="272125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960120" y="2633472"/>
            <a:ext cx="19506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크루장</a:t>
            </a:r>
            <a:endParaRPr lang="en-US" sz="1700" dirty="0"/>
          </a:p>
        </p:txBody>
      </p:sp>
      <p:sp>
        <p:nvSpPr>
          <p:cNvPr id="16" name="Text 12"/>
          <p:cNvSpPr txBox="1"/>
          <p:nvPr/>
        </p:nvSpPr>
        <p:spPr>
          <a:xfrm>
            <a:off x="960120" y="3063240"/>
            <a:ext cx="19506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accent5"/>
                </a:solidFill>
              </a:rPr>
              <a:t>시간 · 진행 체크, 크루 전원 완료 확인</a:t>
            </a:r>
            <a:endParaRPr lang="en-US" sz="1250" dirty="0"/>
          </a:p>
        </p:txBody>
      </p:sp>
      <p:sp>
        <p:nvSpPr>
          <p:cNvPr id="17" name="Shape 13"/>
          <p:cNvSpPr/>
          <p:nvPr/>
        </p:nvSpPr>
        <p:spPr>
          <a:xfrm>
            <a:off x="3459404" y="1645920"/>
            <a:ext cx="2499284" cy="2331720"/>
          </a:xfrm>
          <a:prstGeom prst="roundRect">
            <a:avLst>
              <a:gd name="adj" fmla="val 3137"/>
            </a:avLst>
          </a:prstGeom>
          <a:solidFill>
            <a:schemeClr val="bg2"/>
          </a:solidFill>
          <a:ln/>
        </p:spPr>
      </p:sp>
      <p:sp>
        <p:nvSpPr>
          <p:cNvPr id="18" name="Shape 14"/>
          <p:cNvSpPr/>
          <p:nvPr/>
        </p:nvSpPr>
        <p:spPr>
          <a:xfrm>
            <a:off x="3733724" y="1920240"/>
            <a:ext cx="566928" cy="566928"/>
          </a:xfrm>
          <a:prstGeom prst="ellipse">
            <a:avLst/>
          </a:prstGeom>
          <a:solidFill>
            <a:srgbClr val="E6EEE9"/>
          </a:solidFill>
          <a:ln/>
        </p:spPr>
      </p:sp>
      <p:pic>
        <p:nvPicPr>
          <p:cNvPr id="19" name="Image 1" descr="FaTool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81125" y="2067641"/>
            <a:ext cx="272125" cy="272125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3733724" y="2633472"/>
            <a:ext cx="19506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기술 도우미</a:t>
            </a:r>
            <a:endParaRPr lang="en-US" sz="1700" dirty="0"/>
          </a:p>
        </p:txBody>
      </p:sp>
      <p:sp>
        <p:nvSpPr>
          <p:cNvPr id="21" name="Text 16"/>
          <p:cNvSpPr txBox="1"/>
          <p:nvPr/>
        </p:nvSpPr>
        <p:spPr>
          <a:xfrm>
            <a:off x="3733724" y="3063240"/>
            <a:ext cx="19506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accent5"/>
                </a:solidFill>
              </a:rPr>
              <a:t>CapCut · AI 질문 1차 해결</a:t>
            </a:r>
            <a:endParaRPr lang="en-US" sz="1250" dirty="0"/>
          </a:p>
        </p:txBody>
      </p:sp>
      <p:sp>
        <p:nvSpPr>
          <p:cNvPr id="22" name="Shape 17"/>
          <p:cNvSpPr/>
          <p:nvPr/>
        </p:nvSpPr>
        <p:spPr>
          <a:xfrm>
            <a:off x="6233008" y="1645920"/>
            <a:ext cx="2499284" cy="2331720"/>
          </a:xfrm>
          <a:prstGeom prst="roundRect">
            <a:avLst>
              <a:gd name="adj" fmla="val 3137"/>
            </a:avLst>
          </a:prstGeom>
          <a:solidFill>
            <a:schemeClr val="bg2"/>
          </a:solidFill>
          <a:ln/>
        </p:spPr>
      </p:sp>
      <p:sp>
        <p:nvSpPr>
          <p:cNvPr id="23" name="Shape 18"/>
          <p:cNvSpPr/>
          <p:nvPr/>
        </p:nvSpPr>
        <p:spPr>
          <a:xfrm>
            <a:off x="6507328" y="1920240"/>
            <a:ext cx="566928" cy="566928"/>
          </a:xfrm>
          <a:prstGeom prst="ellipse">
            <a:avLst/>
          </a:prstGeom>
          <a:solidFill>
            <a:srgbClr val="E6EEE9"/>
          </a:solidFill>
          <a:ln/>
        </p:spPr>
      </p:sp>
      <p:pic>
        <p:nvPicPr>
          <p:cNvPr id="24" name="Image 2" descr="FaVideo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54729" y="2067641"/>
            <a:ext cx="272125" cy="272125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6507328" y="2633472"/>
            <a:ext cx="19506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기록</a:t>
            </a:r>
            <a:endParaRPr lang="en-US" sz="1700" dirty="0"/>
          </a:p>
        </p:txBody>
      </p:sp>
      <p:sp>
        <p:nvSpPr>
          <p:cNvPr id="26" name="Text 20"/>
          <p:cNvSpPr txBox="1"/>
          <p:nvPr/>
        </p:nvSpPr>
        <p:spPr>
          <a:xfrm>
            <a:off x="6507328" y="3063240"/>
            <a:ext cx="19506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accent5"/>
                </a:solidFill>
              </a:rPr>
              <a:t>수업 장면 촬영 → 6회차 브이로그 재료</a:t>
            </a:r>
            <a:endParaRPr lang="en-US" sz="1250" dirty="0"/>
          </a:p>
        </p:txBody>
      </p:sp>
      <p:sp>
        <p:nvSpPr>
          <p:cNvPr id="27" name="Shape 21"/>
          <p:cNvSpPr/>
          <p:nvPr/>
        </p:nvSpPr>
        <p:spPr>
          <a:xfrm>
            <a:off x="9006611" y="1645920"/>
            <a:ext cx="2499284" cy="2331720"/>
          </a:xfrm>
          <a:prstGeom prst="roundRect">
            <a:avLst>
              <a:gd name="adj" fmla="val 3137"/>
            </a:avLst>
          </a:prstGeom>
          <a:solidFill>
            <a:schemeClr val="bg2"/>
          </a:solidFill>
          <a:ln/>
        </p:spPr>
      </p:sp>
      <p:sp>
        <p:nvSpPr>
          <p:cNvPr id="28" name="Shape 22"/>
          <p:cNvSpPr/>
          <p:nvPr/>
        </p:nvSpPr>
        <p:spPr>
          <a:xfrm>
            <a:off x="9280931" y="1920240"/>
            <a:ext cx="566928" cy="566928"/>
          </a:xfrm>
          <a:prstGeom prst="ellipse">
            <a:avLst/>
          </a:prstGeom>
          <a:solidFill>
            <a:srgbClr val="E6EEE9"/>
          </a:solidFill>
          <a:ln/>
        </p:spPr>
      </p:sp>
      <p:pic>
        <p:nvPicPr>
          <p:cNvPr id="29" name="Image 3" descr="FaEy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28333" y="2067641"/>
            <a:ext cx="272125" cy="272125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9280931" y="2633472"/>
            <a:ext cx="19506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첫 시청자</a:t>
            </a:r>
            <a:endParaRPr lang="en-US" sz="1700" dirty="0"/>
          </a:p>
        </p:txBody>
      </p:sp>
      <p:sp>
        <p:nvSpPr>
          <p:cNvPr id="31" name="Text 24"/>
          <p:cNvSpPr txBox="1"/>
          <p:nvPr/>
        </p:nvSpPr>
        <p:spPr>
          <a:xfrm>
            <a:off x="9280931" y="3063240"/>
            <a:ext cx="19506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accent5"/>
                </a:solidFill>
              </a:rPr>
              <a:t>크루 영상을 먼저 보고 칭찬 1 + 제안 1</a:t>
            </a:r>
            <a:endParaRPr lang="en-US" sz="1250" dirty="0"/>
          </a:p>
        </p:txBody>
      </p:sp>
      <p:sp>
        <p:nvSpPr>
          <p:cNvPr id="32" name="Text 25"/>
          <p:cNvSpPr txBox="1"/>
          <p:nvPr/>
        </p:nvSpPr>
        <p:spPr>
          <a:xfrm>
            <a:off x="685800" y="42519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막혔을 때</a:t>
            </a:r>
            <a:endParaRPr lang="en-US" sz="1500" dirty="0"/>
          </a:p>
        </p:txBody>
      </p:sp>
      <p:sp>
        <p:nvSpPr>
          <p:cNvPr id="33" name="Shape 26"/>
          <p:cNvSpPr/>
          <p:nvPr/>
        </p:nvSpPr>
        <p:spPr>
          <a:xfrm>
            <a:off x="685800" y="4663440"/>
            <a:ext cx="3154680" cy="777240"/>
          </a:xfrm>
          <a:prstGeom prst="roundRect">
            <a:avLst>
              <a:gd name="adj" fmla="val 9412"/>
            </a:avLst>
          </a:prstGeom>
          <a:solidFill>
            <a:schemeClr val="bg2"/>
          </a:solidFill>
          <a:ln/>
        </p:spPr>
      </p:sp>
      <p:sp>
        <p:nvSpPr>
          <p:cNvPr id="34" name="Shape 27"/>
          <p:cNvSpPr/>
          <p:nvPr/>
        </p:nvSpPr>
        <p:spPr>
          <a:xfrm>
            <a:off x="868680" y="4773168"/>
            <a:ext cx="548640" cy="54864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35" name="Text 28"/>
          <p:cNvSpPr txBox="1"/>
          <p:nvPr/>
        </p:nvSpPr>
        <p:spPr>
          <a:xfrm>
            <a:off x="868680" y="477316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3분</a:t>
            </a:r>
            <a:endParaRPr lang="en-US" sz="1100" dirty="0"/>
          </a:p>
        </p:txBody>
      </p:sp>
      <p:sp>
        <p:nvSpPr>
          <p:cNvPr id="36" name="Text 29"/>
          <p:cNvSpPr txBox="1"/>
          <p:nvPr/>
        </p:nvSpPr>
        <p:spPr>
          <a:xfrm>
            <a:off x="1554480" y="4663440"/>
            <a:ext cx="2148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짝에게</a:t>
            </a:r>
            <a:endParaRPr lang="en-US" sz="1600" dirty="0"/>
          </a:p>
        </p:txBody>
      </p:sp>
      <p:sp>
        <p:nvSpPr>
          <p:cNvPr id="37" name="Shape 30"/>
          <p:cNvSpPr/>
          <p:nvPr/>
        </p:nvSpPr>
        <p:spPr>
          <a:xfrm>
            <a:off x="3950208" y="5047488"/>
            <a:ext cx="457200" cy="0"/>
          </a:xfrm>
          <a:prstGeom prst="line">
            <a:avLst/>
          </a:prstGeom>
          <a:noFill/>
          <a:ln w="15875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38" name="Shape 31"/>
          <p:cNvSpPr/>
          <p:nvPr/>
        </p:nvSpPr>
        <p:spPr>
          <a:xfrm>
            <a:off x="4526280" y="4663440"/>
            <a:ext cx="3154680" cy="777240"/>
          </a:xfrm>
          <a:prstGeom prst="roundRect">
            <a:avLst>
              <a:gd name="adj" fmla="val 9412"/>
            </a:avLst>
          </a:prstGeom>
          <a:solidFill>
            <a:schemeClr val="bg2"/>
          </a:solidFill>
          <a:ln/>
        </p:spPr>
      </p:sp>
      <p:sp>
        <p:nvSpPr>
          <p:cNvPr id="39" name="Shape 32"/>
          <p:cNvSpPr/>
          <p:nvPr/>
        </p:nvSpPr>
        <p:spPr>
          <a:xfrm>
            <a:off x="4709160" y="4773168"/>
            <a:ext cx="548640" cy="54864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40" name="Text 33"/>
          <p:cNvSpPr txBox="1"/>
          <p:nvPr/>
        </p:nvSpPr>
        <p:spPr>
          <a:xfrm>
            <a:off x="4709160" y="477316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+5분</a:t>
            </a:r>
            <a:endParaRPr lang="en-US" sz="1100" dirty="0"/>
          </a:p>
        </p:txBody>
      </p:sp>
      <p:sp>
        <p:nvSpPr>
          <p:cNvPr id="41" name="Text 34"/>
          <p:cNvSpPr txBox="1"/>
          <p:nvPr/>
        </p:nvSpPr>
        <p:spPr>
          <a:xfrm>
            <a:off x="5394960" y="4663440"/>
            <a:ext cx="2148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기술 도우미</a:t>
            </a:r>
            <a:endParaRPr lang="en-US" sz="1600" dirty="0"/>
          </a:p>
        </p:txBody>
      </p:sp>
      <p:sp>
        <p:nvSpPr>
          <p:cNvPr id="42" name="Shape 35"/>
          <p:cNvSpPr/>
          <p:nvPr/>
        </p:nvSpPr>
        <p:spPr>
          <a:xfrm>
            <a:off x="7790688" y="5047488"/>
            <a:ext cx="457200" cy="0"/>
          </a:xfrm>
          <a:prstGeom prst="line">
            <a:avLst/>
          </a:prstGeom>
          <a:noFill/>
          <a:ln w="15875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43" name="Shape 36"/>
          <p:cNvSpPr/>
          <p:nvPr/>
        </p:nvSpPr>
        <p:spPr>
          <a:xfrm>
            <a:off x="8366760" y="4663440"/>
            <a:ext cx="3154680" cy="777240"/>
          </a:xfrm>
          <a:prstGeom prst="roundRect">
            <a:avLst>
              <a:gd name="adj" fmla="val 9412"/>
            </a:avLst>
          </a:prstGeom>
          <a:solidFill>
            <a:schemeClr val="accent6"/>
          </a:solidFill>
          <a:ln/>
        </p:spPr>
      </p:sp>
      <p:sp>
        <p:nvSpPr>
          <p:cNvPr id="44" name="Shape 37"/>
          <p:cNvSpPr/>
          <p:nvPr/>
        </p:nvSpPr>
        <p:spPr>
          <a:xfrm>
            <a:off x="8549640" y="4773168"/>
            <a:ext cx="548640" cy="54864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45" name="Text 38"/>
          <p:cNvSpPr txBox="1"/>
          <p:nvPr/>
        </p:nvSpPr>
        <p:spPr>
          <a:xfrm>
            <a:off x="8549640" y="477316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그래도</a:t>
            </a:r>
            <a:endParaRPr lang="en-US" sz="1100" dirty="0"/>
          </a:p>
        </p:txBody>
      </p:sp>
      <p:sp>
        <p:nvSpPr>
          <p:cNvPr id="46" name="Text 39"/>
          <p:cNvSpPr txBox="1"/>
          <p:nvPr/>
        </p:nvSpPr>
        <p:spPr>
          <a:xfrm>
            <a:off x="9235440" y="4663440"/>
            <a:ext cx="2148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강사 호출 카드</a:t>
            </a:r>
            <a:endParaRPr lang="en-US" sz="1600" dirty="0"/>
          </a:p>
        </p:txBody>
      </p:sp>
      <p:sp>
        <p:nvSpPr>
          <p:cNvPr id="47" name="Text 40"/>
          <p:cNvSpPr txBox="1"/>
          <p:nvPr/>
        </p:nvSpPr>
        <p:spPr>
          <a:xfrm>
            <a:off x="685800" y="5715000"/>
            <a:ext cx="108200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개인 순위는 없습니다. 매 회차 목표는 "크루 전원 완료"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A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91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1교시 · OT와 과정 지도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0125151" y="502920"/>
            <a:ext cx="118872" cy="1188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4" name="Shape 2"/>
          <p:cNvSpPr/>
          <p:nvPr/>
        </p:nvSpPr>
        <p:spPr>
          <a:xfrm>
            <a:off x="10335463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5" name="Shape 3"/>
          <p:cNvSpPr/>
          <p:nvPr/>
        </p:nvSpPr>
        <p:spPr>
          <a:xfrm>
            <a:off x="10545775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6" name="Shape 4"/>
          <p:cNvSpPr/>
          <p:nvPr/>
        </p:nvSpPr>
        <p:spPr>
          <a:xfrm>
            <a:off x="10756087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7" name="Shape 5"/>
          <p:cNvSpPr/>
          <p:nvPr/>
        </p:nvSpPr>
        <p:spPr>
          <a:xfrm>
            <a:off x="10966399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8" name="Shape 6"/>
          <p:cNvSpPr/>
          <p:nvPr/>
        </p:nvSpPr>
        <p:spPr>
          <a:xfrm>
            <a:off x="11176711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9" name="Shape 7"/>
          <p:cNvSpPr/>
          <p:nvPr/>
        </p:nvSpPr>
        <p:spPr>
          <a:xfrm>
            <a:off x="11387023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10" name="Text 1"/>
          <p:cNvSpPr/>
          <p:nvPr>
            <p:ph idx="101" type="title" hasCustomPrompt="1"/>
          </p:nvPr>
        </p:nvSpPr>
        <p:spPr>
          <a:xfrm>
            <a:off x="685800" y="713232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크루를 소개합니다</a:t>
            </a:r>
            <a:endParaRPr lang="en-US" sz="2800" dirty="0"/>
          </a:p>
        </p:txBody>
      </p:sp>
      <p:sp>
        <p:nvSpPr>
          <p:cNvPr id="12" name="Shape 9"/>
          <p:cNvSpPr/>
          <p:nvPr/>
        </p:nvSpPr>
        <p:spPr>
          <a:xfrm>
            <a:off x="685800" y="1645920"/>
            <a:ext cx="2499284" cy="3977640"/>
          </a:xfrm>
          <a:prstGeom prst="roundRect">
            <a:avLst>
              <a:gd name="adj" fmla="val 2927"/>
            </a:avLst>
          </a:prstGeom>
          <a:solidFill>
            <a:schemeClr val="bg2"/>
          </a:solidFill>
          <a:ln/>
        </p:spPr>
      </p:sp>
      <p:sp>
        <p:nvSpPr>
          <p:cNvPr id="13" name="Shape 10"/>
          <p:cNvSpPr/>
          <p:nvPr/>
        </p:nvSpPr>
        <p:spPr>
          <a:xfrm>
            <a:off x="685800" y="1645920"/>
            <a:ext cx="2499284" cy="73152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960120" y="187452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2"/>
                </a:solidFill>
              </a:rPr>
              <a:t>01</a:t>
            </a:r>
            <a:endParaRPr lang="en-US" sz="2600" dirty="0"/>
          </a:p>
        </p:txBody>
      </p:sp>
      <p:sp>
        <p:nvSpPr>
          <p:cNvPr id="15" name="Text 12"/>
          <p:cNvSpPr txBox="1"/>
          <p:nvPr/>
        </p:nvSpPr>
        <p:spPr>
          <a:xfrm>
            <a:off x="1737360" y="1938528"/>
            <a:ext cx="13105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크루 1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960120" y="2606040"/>
            <a:ext cx="2087804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________ (크루장)</a:t>
            </a:r>
            <a:endParaRPr lang="en-US" sz="125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________ (기술 도우미)</a:t>
            </a:r>
            <a:endParaRPr lang="en-US" sz="125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________ (기록)</a:t>
            </a:r>
            <a:endParaRPr lang="en-US" sz="125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________ (첫 시청자)</a:t>
            </a:r>
            <a:endParaRPr lang="en-US" sz="125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________</a:t>
            </a:r>
            <a:endParaRPr lang="en-US" sz="125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________</a:t>
            </a:r>
            <a:endParaRPr lang="en-US" sz="1250" dirty="0"/>
          </a:p>
        </p:txBody>
      </p:sp>
      <p:sp>
        <p:nvSpPr>
          <p:cNvPr id="17" name="Shape 14"/>
          <p:cNvSpPr/>
          <p:nvPr/>
        </p:nvSpPr>
        <p:spPr>
          <a:xfrm>
            <a:off x="3459404" y="1645920"/>
            <a:ext cx="2499284" cy="3977640"/>
          </a:xfrm>
          <a:prstGeom prst="roundRect">
            <a:avLst>
              <a:gd name="adj" fmla="val 2927"/>
            </a:avLst>
          </a:prstGeom>
          <a:solidFill>
            <a:schemeClr val="bg2"/>
          </a:solidFill>
          <a:ln/>
        </p:spPr>
      </p:sp>
      <p:sp>
        <p:nvSpPr>
          <p:cNvPr id="18" name="Shape 15"/>
          <p:cNvSpPr/>
          <p:nvPr/>
        </p:nvSpPr>
        <p:spPr>
          <a:xfrm>
            <a:off x="3459404" y="1645920"/>
            <a:ext cx="2499284" cy="73152"/>
          </a:xfrm>
          <a:prstGeom prst="rect">
            <a:avLst/>
          </a:prstGeom>
          <a:solidFill>
            <a:schemeClr val="accent4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3733724" y="187452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4"/>
                </a:solidFill>
              </a:rPr>
              <a:t>02</a:t>
            </a:r>
            <a:endParaRPr lang="en-US" sz="2600" dirty="0"/>
          </a:p>
        </p:txBody>
      </p:sp>
      <p:sp>
        <p:nvSpPr>
          <p:cNvPr id="20" name="Text 17"/>
          <p:cNvSpPr txBox="1"/>
          <p:nvPr/>
        </p:nvSpPr>
        <p:spPr>
          <a:xfrm>
            <a:off x="4510964" y="1938528"/>
            <a:ext cx="13105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크루 2</a:t>
            </a:r>
            <a:endParaRPr lang="en-US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3733724" y="2606040"/>
            <a:ext cx="2087804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________ (크루장)</a:t>
            </a:r>
            <a:endParaRPr lang="en-US" sz="125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________ (기술 도우미)</a:t>
            </a:r>
            <a:endParaRPr lang="en-US" sz="125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________ (기록)</a:t>
            </a:r>
            <a:endParaRPr lang="en-US" sz="125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________ (첫 시청자)</a:t>
            </a:r>
            <a:endParaRPr lang="en-US" sz="125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________</a:t>
            </a:r>
            <a:endParaRPr lang="en-US" sz="125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________</a:t>
            </a:r>
            <a:endParaRPr lang="en-US" sz="1250" dirty="0"/>
          </a:p>
        </p:txBody>
      </p:sp>
      <p:sp>
        <p:nvSpPr>
          <p:cNvPr id="22" name="Shape 19"/>
          <p:cNvSpPr/>
          <p:nvPr/>
        </p:nvSpPr>
        <p:spPr>
          <a:xfrm>
            <a:off x="6233008" y="1645920"/>
            <a:ext cx="2499284" cy="3977640"/>
          </a:xfrm>
          <a:prstGeom prst="roundRect">
            <a:avLst>
              <a:gd name="adj" fmla="val 2927"/>
            </a:avLst>
          </a:prstGeom>
          <a:solidFill>
            <a:schemeClr val="bg2"/>
          </a:solidFill>
          <a:ln/>
        </p:spPr>
      </p:sp>
      <p:sp>
        <p:nvSpPr>
          <p:cNvPr id="23" name="Shape 20"/>
          <p:cNvSpPr/>
          <p:nvPr/>
        </p:nvSpPr>
        <p:spPr>
          <a:xfrm>
            <a:off x="6233008" y="1645920"/>
            <a:ext cx="2499284" cy="73152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6507328" y="187452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3"/>
                </a:solidFill>
              </a:rPr>
              <a:t>03</a:t>
            </a:r>
            <a:endParaRPr lang="en-US" sz="2600" dirty="0"/>
          </a:p>
        </p:txBody>
      </p:sp>
      <p:sp>
        <p:nvSpPr>
          <p:cNvPr id="25" name="Text 22"/>
          <p:cNvSpPr txBox="1"/>
          <p:nvPr/>
        </p:nvSpPr>
        <p:spPr>
          <a:xfrm>
            <a:off x="7284568" y="1938528"/>
            <a:ext cx="13105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크루 3</a:t>
            </a:r>
            <a:endParaRPr lang="en-US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6507328" y="2606040"/>
            <a:ext cx="2087804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________ (크루장)</a:t>
            </a:r>
            <a:endParaRPr lang="en-US" sz="125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________ (기술 도우미)</a:t>
            </a:r>
            <a:endParaRPr lang="en-US" sz="125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________ (기록)</a:t>
            </a:r>
            <a:endParaRPr lang="en-US" sz="125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________ (첫 시청자)</a:t>
            </a:r>
            <a:endParaRPr lang="en-US" sz="125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________</a:t>
            </a:r>
            <a:endParaRPr lang="en-US" sz="125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________</a:t>
            </a:r>
            <a:endParaRPr lang="en-US" sz="1250" dirty="0"/>
          </a:p>
        </p:txBody>
      </p:sp>
      <p:sp>
        <p:nvSpPr>
          <p:cNvPr id="27" name="Shape 24"/>
          <p:cNvSpPr/>
          <p:nvPr/>
        </p:nvSpPr>
        <p:spPr>
          <a:xfrm>
            <a:off x="9006611" y="1645920"/>
            <a:ext cx="2499284" cy="3977640"/>
          </a:xfrm>
          <a:prstGeom prst="roundRect">
            <a:avLst>
              <a:gd name="adj" fmla="val 2927"/>
            </a:avLst>
          </a:prstGeom>
          <a:solidFill>
            <a:schemeClr val="bg2"/>
          </a:solidFill>
          <a:ln/>
        </p:spPr>
      </p:sp>
      <p:sp>
        <p:nvSpPr>
          <p:cNvPr id="28" name="Shape 25"/>
          <p:cNvSpPr/>
          <p:nvPr/>
        </p:nvSpPr>
        <p:spPr>
          <a:xfrm>
            <a:off x="9006611" y="1645920"/>
            <a:ext cx="2499284" cy="7315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9280931" y="187452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04</a:t>
            </a:r>
            <a:endParaRPr lang="en-US" sz="2600" dirty="0"/>
          </a:p>
        </p:txBody>
      </p:sp>
      <p:sp>
        <p:nvSpPr>
          <p:cNvPr id="30" name="Text 27"/>
          <p:cNvSpPr txBox="1"/>
          <p:nvPr/>
        </p:nvSpPr>
        <p:spPr>
          <a:xfrm>
            <a:off x="10058171" y="1938528"/>
            <a:ext cx="13105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크루 4</a:t>
            </a:r>
            <a:endParaRPr lang="en-US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9280931" y="2606040"/>
            <a:ext cx="2087804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________ (크루장)</a:t>
            </a:r>
            <a:endParaRPr lang="en-US" sz="125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________ (기술 도우미)</a:t>
            </a:r>
            <a:endParaRPr lang="en-US" sz="125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________ (기록)</a:t>
            </a:r>
            <a:endParaRPr lang="en-US" sz="125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________ (첫 시청자)</a:t>
            </a:r>
            <a:endParaRPr lang="en-US" sz="125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________</a:t>
            </a:r>
            <a:endParaRPr lang="en-US" sz="125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________</a:t>
            </a:r>
            <a:endParaRPr lang="en-US" sz="1250" dirty="0"/>
          </a:p>
        </p:txBody>
      </p:sp>
      <p:sp>
        <p:nvSpPr>
          <p:cNvPr id="32" name="Text 29"/>
          <p:cNvSpPr txBox="1"/>
          <p:nvPr/>
        </p:nvSpPr>
        <p:spPr>
          <a:xfrm>
            <a:off x="685800" y="580644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크루 이름은 오늘 7교시 전까지 크루가 직접 짓습니다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A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91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1교시 · OT와 과정 지도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0125151" y="502920"/>
            <a:ext cx="118872" cy="1188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4" name="Shape 2"/>
          <p:cNvSpPr/>
          <p:nvPr/>
        </p:nvSpPr>
        <p:spPr>
          <a:xfrm>
            <a:off x="10335463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5" name="Shape 3"/>
          <p:cNvSpPr/>
          <p:nvPr/>
        </p:nvSpPr>
        <p:spPr>
          <a:xfrm>
            <a:off x="10545775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6" name="Shape 4"/>
          <p:cNvSpPr/>
          <p:nvPr/>
        </p:nvSpPr>
        <p:spPr>
          <a:xfrm>
            <a:off x="10756087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7" name="Shape 5"/>
          <p:cNvSpPr/>
          <p:nvPr/>
        </p:nvSpPr>
        <p:spPr>
          <a:xfrm>
            <a:off x="10966399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8" name="Shape 6"/>
          <p:cNvSpPr/>
          <p:nvPr/>
        </p:nvSpPr>
        <p:spPr>
          <a:xfrm>
            <a:off x="11176711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9" name="Shape 7"/>
          <p:cNvSpPr/>
          <p:nvPr/>
        </p:nvSpPr>
        <p:spPr>
          <a:xfrm>
            <a:off x="11387023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10" name="Text 1"/>
          <p:cNvSpPr/>
          <p:nvPr>
            <p:ph idx="101" type="title" hasCustomPrompt="1"/>
          </p:nvPr>
        </p:nvSpPr>
        <p:spPr>
          <a:xfrm>
            <a:off x="685800" y="713232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지금 함께 세팅해요 · 15분</a:t>
            </a:r>
            <a:endParaRPr lang="en-US" sz="2800" dirty="0"/>
          </a:p>
        </p:txBody>
      </p:sp>
      <p:sp>
        <p:nvSpPr>
          <p:cNvPr id="12" name="Text 9"/>
          <p:cNvSpPr txBox="1"/>
          <p:nvPr/>
        </p:nvSpPr>
        <p:spPr>
          <a:xfrm>
            <a:off x="685800" y="1645920"/>
            <a:ext cx="198113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01</a:t>
            </a:r>
            <a:endParaRPr lang="en-US" sz="2200" dirty="0"/>
          </a:p>
        </p:txBody>
      </p:sp>
      <p:sp>
        <p:nvSpPr>
          <p:cNvPr id="13" name="Shape 10"/>
          <p:cNvSpPr/>
          <p:nvPr/>
        </p:nvSpPr>
        <p:spPr>
          <a:xfrm>
            <a:off x="685800" y="2148840"/>
            <a:ext cx="1981139" cy="2651760"/>
          </a:xfrm>
          <a:prstGeom prst="roundRect">
            <a:avLst>
              <a:gd name="adj" fmla="val 3692"/>
            </a:avLst>
          </a:prstGeom>
          <a:solidFill>
            <a:schemeClr val="bg2"/>
          </a:solidFill>
          <a:ln/>
        </p:spPr>
      </p:sp>
      <p:sp>
        <p:nvSpPr>
          <p:cNvPr id="14" name="Shape 11"/>
          <p:cNvSpPr/>
          <p:nvPr/>
        </p:nvSpPr>
        <p:spPr>
          <a:xfrm>
            <a:off x="960120" y="2423160"/>
            <a:ext cx="566928" cy="566928"/>
          </a:xfrm>
          <a:prstGeom prst="ellipse">
            <a:avLst/>
          </a:prstGeom>
          <a:solidFill>
            <a:srgbClr val="E6EEE9"/>
          </a:solidFill>
          <a:ln/>
        </p:spPr>
      </p:sp>
      <p:pic>
        <p:nvPicPr>
          <p:cNvPr id="15" name="Image 0" descr="FaComment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7521" y="2570561"/>
            <a:ext cx="272125" cy="272125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960120" y="3136392"/>
            <a:ext cx="143249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단톡방 입장</a:t>
            </a:r>
            <a:endParaRPr lang="en-US" sz="1500" dirty="0"/>
          </a:p>
        </p:txBody>
      </p:sp>
      <p:sp>
        <p:nvSpPr>
          <p:cNvPr id="17" name="Text 13"/>
          <p:cNvSpPr txBox="1"/>
          <p:nvPr/>
        </p:nvSpPr>
        <p:spPr>
          <a:xfrm>
            <a:off x="960120" y="3566160"/>
            <a:ext cx="1432499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accent5"/>
                </a:solidFill>
              </a:rPr>
              <a:t>공지 · 과제 · 질문</a:t>
            </a:r>
            <a:endParaRPr lang="en-US" sz="1250" dirty="0"/>
          </a:p>
        </p:txBody>
      </p:sp>
      <p:sp>
        <p:nvSpPr>
          <p:cNvPr id="18" name="Text 14"/>
          <p:cNvSpPr txBox="1"/>
          <p:nvPr/>
        </p:nvSpPr>
        <p:spPr>
          <a:xfrm>
            <a:off x="2895539" y="1645920"/>
            <a:ext cx="198113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02</a:t>
            </a:r>
            <a:endParaRPr lang="en-US" sz="2200" dirty="0"/>
          </a:p>
        </p:txBody>
      </p:sp>
      <p:sp>
        <p:nvSpPr>
          <p:cNvPr id="19" name="Shape 15"/>
          <p:cNvSpPr/>
          <p:nvPr/>
        </p:nvSpPr>
        <p:spPr>
          <a:xfrm>
            <a:off x="2895539" y="2148840"/>
            <a:ext cx="1981139" cy="2651760"/>
          </a:xfrm>
          <a:prstGeom prst="roundRect">
            <a:avLst>
              <a:gd name="adj" fmla="val 3692"/>
            </a:avLst>
          </a:prstGeom>
          <a:solidFill>
            <a:schemeClr val="bg2"/>
          </a:solidFill>
          <a:ln/>
        </p:spPr>
      </p:sp>
      <p:sp>
        <p:nvSpPr>
          <p:cNvPr id="20" name="Shape 16"/>
          <p:cNvSpPr/>
          <p:nvPr/>
        </p:nvSpPr>
        <p:spPr>
          <a:xfrm>
            <a:off x="3169859" y="2423160"/>
            <a:ext cx="566928" cy="566928"/>
          </a:xfrm>
          <a:prstGeom prst="ellipse">
            <a:avLst/>
          </a:prstGeom>
          <a:solidFill>
            <a:srgbClr val="E6EEE9"/>
          </a:solidFill>
          <a:ln/>
        </p:spPr>
      </p:sp>
      <p:pic>
        <p:nvPicPr>
          <p:cNvPr id="21" name="Image 1" descr="FaGoogleDriv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17260" y="2570561"/>
            <a:ext cx="272125" cy="272125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3169859" y="3136392"/>
            <a:ext cx="143249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드라이브 폴더</a:t>
            </a:r>
            <a:endParaRPr lang="en-US" sz="1500" dirty="0"/>
          </a:p>
        </p:txBody>
      </p:sp>
      <p:sp>
        <p:nvSpPr>
          <p:cNvPr id="23" name="Text 18"/>
          <p:cNvSpPr txBox="1"/>
          <p:nvPr/>
        </p:nvSpPr>
        <p:spPr>
          <a:xfrm>
            <a:off x="3169859" y="3566160"/>
            <a:ext cx="1432499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accent5"/>
                </a:solidFill>
              </a:rPr>
              <a:t>크루 폴더 → 내 이름</a:t>
            </a:r>
            <a:endParaRPr lang="en-US" sz="1250" dirty="0"/>
          </a:p>
        </p:txBody>
      </p:sp>
      <p:sp>
        <p:nvSpPr>
          <p:cNvPr id="24" name="Text 19"/>
          <p:cNvSpPr txBox="1"/>
          <p:nvPr/>
        </p:nvSpPr>
        <p:spPr>
          <a:xfrm>
            <a:off x="5105278" y="1645920"/>
            <a:ext cx="198113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03</a:t>
            </a:r>
            <a:endParaRPr lang="en-US" sz="2200" dirty="0"/>
          </a:p>
        </p:txBody>
      </p:sp>
      <p:sp>
        <p:nvSpPr>
          <p:cNvPr id="25" name="Shape 20"/>
          <p:cNvSpPr/>
          <p:nvPr/>
        </p:nvSpPr>
        <p:spPr>
          <a:xfrm>
            <a:off x="5105278" y="2148840"/>
            <a:ext cx="1981139" cy="2651760"/>
          </a:xfrm>
          <a:prstGeom prst="roundRect">
            <a:avLst>
              <a:gd name="adj" fmla="val 3692"/>
            </a:avLst>
          </a:prstGeom>
          <a:solidFill>
            <a:schemeClr val="bg2"/>
          </a:solidFill>
          <a:ln/>
        </p:spPr>
      </p:sp>
      <p:sp>
        <p:nvSpPr>
          <p:cNvPr id="26" name="Shape 21"/>
          <p:cNvSpPr/>
          <p:nvPr/>
        </p:nvSpPr>
        <p:spPr>
          <a:xfrm>
            <a:off x="5379598" y="2423160"/>
            <a:ext cx="566928" cy="566928"/>
          </a:xfrm>
          <a:prstGeom prst="ellipse">
            <a:avLst/>
          </a:prstGeom>
          <a:solidFill>
            <a:srgbClr val="E6EEE9"/>
          </a:solidFill>
          <a:ln/>
        </p:spPr>
      </p:sp>
      <p:pic>
        <p:nvPicPr>
          <p:cNvPr id="27" name="Image 2" descr="FaDesktop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26999" y="2570561"/>
            <a:ext cx="272125" cy="272125"/>
          </a:xfrm>
          <a:prstGeom prst="rect">
            <a:avLst/>
          </a:prstGeom>
        </p:spPr>
      </p:pic>
      <p:sp>
        <p:nvSpPr>
          <p:cNvPr id="28" name="Text 22"/>
          <p:cNvSpPr txBox="1"/>
          <p:nvPr/>
        </p:nvSpPr>
        <p:spPr>
          <a:xfrm>
            <a:off x="5379598" y="3136392"/>
            <a:ext cx="143249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CapCut 확인</a:t>
            </a:r>
            <a:endParaRPr lang="en-US" sz="1500" dirty="0"/>
          </a:p>
        </p:txBody>
      </p:sp>
      <p:sp>
        <p:nvSpPr>
          <p:cNvPr id="29" name="Text 23"/>
          <p:cNvSpPr txBox="1"/>
          <p:nvPr/>
        </p:nvSpPr>
        <p:spPr>
          <a:xfrm>
            <a:off x="5379598" y="3566160"/>
            <a:ext cx="1432499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accent5"/>
                </a:solidFill>
              </a:rPr>
              <a:t>PC에서 실행되는지, 안 되면 안내대로</a:t>
            </a:r>
            <a:endParaRPr lang="en-US" sz="1250" dirty="0"/>
          </a:p>
        </p:txBody>
      </p:sp>
      <p:sp>
        <p:nvSpPr>
          <p:cNvPr id="30" name="Text 24"/>
          <p:cNvSpPr txBox="1"/>
          <p:nvPr/>
        </p:nvSpPr>
        <p:spPr>
          <a:xfrm>
            <a:off x="7315017" y="1645920"/>
            <a:ext cx="198113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04</a:t>
            </a:r>
            <a:endParaRPr lang="en-US" sz="2200" dirty="0"/>
          </a:p>
        </p:txBody>
      </p:sp>
      <p:sp>
        <p:nvSpPr>
          <p:cNvPr id="31" name="Shape 25"/>
          <p:cNvSpPr/>
          <p:nvPr/>
        </p:nvSpPr>
        <p:spPr>
          <a:xfrm>
            <a:off x="7315017" y="2148840"/>
            <a:ext cx="1981139" cy="2651760"/>
          </a:xfrm>
          <a:prstGeom prst="roundRect">
            <a:avLst>
              <a:gd name="adj" fmla="val 3692"/>
            </a:avLst>
          </a:prstGeom>
          <a:solidFill>
            <a:schemeClr val="bg2"/>
          </a:solidFill>
          <a:ln/>
        </p:spPr>
      </p:sp>
      <p:sp>
        <p:nvSpPr>
          <p:cNvPr id="32" name="Shape 26"/>
          <p:cNvSpPr/>
          <p:nvPr/>
        </p:nvSpPr>
        <p:spPr>
          <a:xfrm>
            <a:off x="7589337" y="2423160"/>
            <a:ext cx="566928" cy="566928"/>
          </a:xfrm>
          <a:prstGeom prst="ellipse">
            <a:avLst/>
          </a:prstGeom>
          <a:solidFill>
            <a:srgbClr val="E6EEE9"/>
          </a:solidFill>
          <a:ln/>
        </p:spPr>
      </p:sp>
      <p:pic>
        <p:nvPicPr>
          <p:cNvPr id="33" name="Image 3" descr="FaKey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36738" y="2570561"/>
            <a:ext cx="272125" cy="272125"/>
          </a:xfrm>
          <a:prstGeom prst="rect">
            <a:avLst/>
          </a:prstGeom>
        </p:spPr>
      </p:pic>
      <p:sp>
        <p:nvSpPr>
          <p:cNvPr id="34" name="Text 27"/>
          <p:cNvSpPr txBox="1"/>
          <p:nvPr/>
        </p:nvSpPr>
        <p:spPr>
          <a:xfrm>
            <a:off x="7589337" y="3136392"/>
            <a:ext cx="143249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계정 로그인</a:t>
            </a:r>
            <a:endParaRPr lang="en-US" sz="1500" dirty="0"/>
          </a:p>
        </p:txBody>
      </p:sp>
      <p:sp>
        <p:nvSpPr>
          <p:cNvPr id="35" name="Text 28"/>
          <p:cNvSpPr txBox="1"/>
          <p:nvPr/>
        </p:nvSpPr>
        <p:spPr>
          <a:xfrm>
            <a:off x="7589337" y="3566160"/>
            <a:ext cx="1432499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accent5"/>
                </a:solidFill>
              </a:rPr>
              <a:t>ChatGPT · CapCut 유료 계정</a:t>
            </a:r>
            <a:endParaRPr lang="en-US" sz="1250" dirty="0"/>
          </a:p>
        </p:txBody>
      </p:sp>
      <p:sp>
        <p:nvSpPr>
          <p:cNvPr id="36" name="Text 29"/>
          <p:cNvSpPr txBox="1"/>
          <p:nvPr/>
        </p:nvSpPr>
        <p:spPr>
          <a:xfrm>
            <a:off x="9524756" y="1645920"/>
            <a:ext cx="198113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05</a:t>
            </a:r>
            <a:endParaRPr lang="en-US" sz="2200" dirty="0"/>
          </a:p>
        </p:txBody>
      </p:sp>
      <p:sp>
        <p:nvSpPr>
          <p:cNvPr id="37" name="Shape 30"/>
          <p:cNvSpPr/>
          <p:nvPr/>
        </p:nvSpPr>
        <p:spPr>
          <a:xfrm>
            <a:off x="9524756" y="2148840"/>
            <a:ext cx="1981139" cy="2651760"/>
          </a:xfrm>
          <a:prstGeom prst="roundRect">
            <a:avLst>
              <a:gd name="adj" fmla="val 3692"/>
            </a:avLst>
          </a:prstGeom>
          <a:solidFill>
            <a:schemeClr val="bg2"/>
          </a:solidFill>
          <a:ln/>
        </p:spPr>
      </p:sp>
      <p:sp>
        <p:nvSpPr>
          <p:cNvPr id="38" name="Shape 31"/>
          <p:cNvSpPr/>
          <p:nvPr/>
        </p:nvSpPr>
        <p:spPr>
          <a:xfrm>
            <a:off x="9799076" y="2423160"/>
            <a:ext cx="566928" cy="566928"/>
          </a:xfrm>
          <a:prstGeom prst="ellipse">
            <a:avLst/>
          </a:prstGeom>
          <a:solidFill>
            <a:srgbClr val="E6EEE9"/>
          </a:solidFill>
          <a:ln/>
        </p:spPr>
      </p:sp>
      <p:pic>
        <p:nvPicPr>
          <p:cNvPr id="39" name="Image 4" descr="FaHandshak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46477" y="2570561"/>
            <a:ext cx="272125" cy="272125"/>
          </a:xfrm>
          <a:prstGeom prst="rect">
            <a:avLst/>
          </a:prstGeom>
        </p:spPr>
      </p:pic>
      <p:sp>
        <p:nvSpPr>
          <p:cNvPr id="40" name="Text 32"/>
          <p:cNvSpPr txBox="1"/>
          <p:nvPr/>
        </p:nvSpPr>
        <p:spPr>
          <a:xfrm>
            <a:off x="9799076" y="3136392"/>
            <a:ext cx="143249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촬영 동의</a:t>
            </a:r>
            <a:endParaRPr lang="en-US" sz="1500" dirty="0"/>
          </a:p>
        </p:txBody>
      </p:sp>
      <p:sp>
        <p:nvSpPr>
          <p:cNvPr id="41" name="Text 33"/>
          <p:cNvSpPr txBox="1"/>
          <p:nvPr/>
        </p:nvSpPr>
        <p:spPr>
          <a:xfrm>
            <a:off x="9799076" y="3566160"/>
            <a:ext cx="1432499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accent5"/>
                </a:solidFill>
              </a:rPr>
              <a:t>수업 장면 → 6회차 브이로그</a:t>
            </a:r>
            <a:endParaRPr lang="en-US" sz="1250" dirty="0"/>
          </a:p>
        </p:txBody>
      </p:sp>
      <p:sp>
        <p:nvSpPr>
          <p:cNvPr id="42" name="Shape 34"/>
          <p:cNvSpPr/>
          <p:nvPr/>
        </p:nvSpPr>
        <p:spPr>
          <a:xfrm>
            <a:off x="685800" y="5120640"/>
            <a:ext cx="10820095" cy="512064"/>
          </a:xfrm>
          <a:prstGeom prst="roundRect">
            <a:avLst>
              <a:gd name="adj" fmla="val 14286"/>
            </a:avLst>
          </a:prstGeom>
          <a:solidFill>
            <a:schemeClr val="accent6"/>
          </a:solidFill>
          <a:ln/>
        </p:spPr>
      </p:sp>
      <p:sp>
        <p:nvSpPr>
          <p:cNvPr id="43" name="Text 35"/>
          <p:cNvSpPr txBox="1"/>
          <p:nvPr/>
        </p:nvSpPr>
        <p:spPr>
          <a:xfrm>
            <a:off x="960120" y="5120640"/>
            <a:ext cx="1027145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크루장은 크루 전원이 끝나면 손을 들어 주세요. 기술 도우미는 막힌 사람부터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A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91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1교시 · OT와 과정 지도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0125151" y="502920"/>
            <a:ext cx="118872" cy="1188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4" name="Shape 2"/>
          <p:cNvSpPr/>
          <p:nvPr/>
        </p:nvSpPr>
        <p:spPr>
          <a:xfrm>
            <a:off x="10335463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5" name="Shape 3"/>
          <p:cNvSpPr/>
          <p:nvPr/>
        </p:nvSpPr>
        <p:spPr>
          <a:xfrm>
            <a:off x="10545775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6" name="Shape 4"/>
          <p:cNvSpPr/>
          <p:nvPr/>
        </p:nvSpPr>
        <p:spPr>
          <a:xfrm>
            <a:off x="10756087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7" name="Shape 5"/>
          <p:cNvSpPr/>
          <p:nvPr/>
        </p:nvSpPr>
        <p:spPr>
          <a:xfrm>
            <a:off x="10966399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8" name="Shape 6"/>
          <p:cNvSpPr/>
          <p:nvPr/>
        </p:nvSpPr>
        <p:spPr>
          <a:xfrm>
            <a:off x="11176711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9" name="Shape 7"/>
          <p:cNvSpPr/>
          <p:nvPr/>
        </p:nvSpPr>
        <p:spPr>
          <a:xfrm>
            <a:off x="11387023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10" name="Text 1"/>
          <p:cNvSpPr/>
          <p:nvPr>
            <p:ph idx="101" type="title" hasCustomPrompt="1"/>
          </p:nvPr>
        </p:nvSpPr>
        <p:spPr>
          <a:xfrm>
            <a:off x="685800" y="713232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첫 기획: 이름 대신, 나를 설명하는 한 줄</a:t>
            </a:r>
            <a:endParaRPr lang="en-US" sz="2800" dirty="0"/>
          </a:p>
        </p:txBody>
      </p:sp>
      <p:sp>
        <p:nvSpPr>
          <p:cNvPr id="12" name="Shape 9"/>
          <p:cNvSpPr/>
          <p:nvPr/>
        </p:nvSpPr>
        <p:spPr>
          <a:xfrm>
            <a:off x="685800" y="1645920"/>
            <a:ext cx="10820095" cy="1234440"/>
          </a:xfrm>
          <a:prstGeom prst="roundRect">
            <a:avLst>
              <a:gd name="adj" fmla="val 5926"/>
            </a:avLst>
          </a:prstGeom>
          <a:solidFill>
            <a:schemeClr val="tx2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685800" y="1645920"/>
            <a:ext cx="10820095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___ 한   ___ 의   ___</a:t>
            </a:r>
            <a:endParaRPr lang="en-US" sz="3600" dirty="0"/>
          </a:p>
        </p:txBody>
      </p:sp>
      <p:sp>
        <p:nvSpPr>
          <p:cNvPr id="14" name="Text 11"/>
          <p:cNvSpPr txBox="1"/>
          <p:nvPr/>
        </p:nvSpPr>
        <p:spPr>
          <a:xfrm>
            <a:off x="685800" y="315468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이런 느낌으로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685800" y="3566160"/>
            <a:ext cx="51206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10년 만에 다시 출근하는 엄마의 첫 출근 준비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요리 30년 차가 처음 찍는 유튜브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퇴근 후 30분, 동네를 걷는 직장인의 산책 기록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6172200" y="3154680"/>
            <a:ext cx="5333695" cy="2057400"/>
          </a:xfrm>
          <a:prstGeom prst="roundRect">
            <a:avLst>
              <a:gd name="adj" fmla="val 3556"/>
            </a:avLst>
          </a:prstGeom>
          <a:solidFill>
            <a:srgbClr val="FFFFFF"/>
          </a:solidFill>
          <a:ln w="12700">
            <a:solidFill>
              <a:schemeClr val="accent4"/>
            </a:solidFill>
            <a:prstDash val="dash"/>
          </a:ln>
        </p:spPr>
      </p:sp>
      <p:sp>
        <p:nvSpPr>
          <p:cNvPr id="17" name="Text 14"/>
          <p:cNvSpPr txBox="1"/>
          <p:nvPr/>
        </p:nvSpPr>
        <p:spPr>
          <a:xfrm>
            <a:off x="6400800" y="3319272"/>
            <a:ext cx="48764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4"/>
                </a:solidFill>
              </a:rPr>
              <a:t>ChatGPT에 이렇게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6400800" y="3630168"/>
            <a:ext cx="4876495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나는 [하는 일]이고 [좋아하는 것]을 좋아해. 이름 없이 나를 소개하는 한 줄 후보 10개를 줘. 처음 보는 사람이 "보고 싶다"고 느끼게.</a:t>
            </a:r>
            <a:endParaRPr lang="en-US" sz="1350" dirty="0"/>
          </a:p>
        </p:txBody>
      </p:sp>
      <p:sp>
        <p:nvSpPr>
          <p:cNvPr id="19" name="Shape 16"/>
          <p:cNvSpPr/>
          <p:nvPr/>
        </p:nvSpPr>
        <p:spPr>
          <a:xfrm>
            <a:off x="685800" y="5486400"/>
            <a:ext cx="10820095" cy="512064"/>
          </a:xfrm>
          <a:prstGeom prst="roundRect">
            <a:avLst>
              <a:gd name="adj" fmla="val 14286"/>
            </a:avLst>
          </a:prstGeom>
          <a:solidFill>
            <a:schemeClr val="accent6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960120" y="5486400"/>
            <a:ext cx="1027145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3분 쓰기 → 짝에게 읽기 → 3번 고쳐 쓰기. 최종 한 줄은 내가 고릅니다 (워크북 p.2)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A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ARUBIT/build/.cache/s1/img03_gra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/home/user/MARUBIT/build/.cache/s1/overla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685800" y="1325880"/>
            <a:ext cx="3657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0" b="1" dirty="0">
                <a:solidFill>
                  <a:schemeClr val="accent1"/>
                </a:solidFill>
              </a:rPr>
              <a:t>02</a:t>
            </a:r>
            <a:endParaRPr lang="en-US" sz="11000" dirty="0"/>
          </a:p>
        </p:txBody>
      </p:sp>
      <p:sp>
        <p:nvSpPr>
          <p:cNvPr id="5" name="Text 1"/>
          <p:cNvSpPr txBox="1"/>
          <p:nvPr/>
        </p:nvSpPr>
        <p:spPr>
          <a:xfrm>
            <a:off x="758952" y="10515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chemeClr val="accent6"/>
                </a:solidFill>
              </a:rPr>
              <a:t>2교시</a:t>
            </a:r>
            <a:endParaRPr lang="en-US" sz="1400" dirty="0"/>
          </a:p>
        </p:txBody>
      </p:sp>
      <p:sp>
        <p:nvSpPr>
          <p:cNvPr id="6" name="Text 0"/>
          <p:cNvSpPr/>
          <p:nvPr>
            <p:ph idx="100" type="title" hasCustomPrompt="1"/>
          </p:nvPr>
        </p:nvSpPr>
        <p:spPr>
          <a:xfrm>
            <a:off x="685800" y="324612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영상 콘텐츠, 지금 어떻게 만들어지나</a:t>
            </a:r>
            <a:endParaRPr lang="en-US" sz="4000" dirty="0"/>
          </a:p>
        </p:txBody>
      </p:sp>
      <p:sp>
        <p:nvSpPr>
          <p:cNvPr id="7" name="Text 0"/>
          <p:cNvSpPr/>
          <p:nvPr>
            <p:ph idx="101" type="body" hasCustomPrompt="1"/>
          </p:nvPr>
        </p:nvSpPr>
        <p:spPr>
          <a:xfrm>
            <a:off x="685800" y="4480560"/>
            <a:ext cx="7132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11:00–11:50  ·  우리가 매일 보는 영상의 지도와, 한 편이 만들어지는 과정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1188720" y="2103120"/>
            <a:ext cx="97840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오늘 아침부터 지금까지,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영상 몇 편 보셨나요?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1188720" y="3977640"/>
            <a:ext cx="9784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숏폼 하나를 1편으로 셉니다. 크루에서 가장 많이 본 사람은?</a:t>
            </a:r>
            <a:endParaRPr lang="en-US" sz="1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91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2교시 · 영상 콘텐츠, 지금 어떻게 만들어지나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0125151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4" name="Shape 2"/>
          <p:cNvSpPr/>
          <p:nvPr/>
        </p:nvSpPr>
        <p:spPr>
          <a:xfrm>
            <a:off x="10335463" y="502920"/>
            <a:ext cx="118872" cy="1188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Shape 3"/>
          <p:cNvSpPr/>
          <p:nvPr/>
        </p:nvSpPr>
        <p:spPr>
          <a:xfrm>
            <a:off x="10545775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6" name="Shape 4"/>
          <p:cNvSpPr/>
          <p:nvPr/>
        </p:nvSpPr>
        <p:spPr>
          <a:xfrm>
            <a:off x="10756087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7" name="Shape 5"/>
          <p:cNvSpPr/>
          <p:nvPr/>
        </p:nvSpPr>
        <p:spPr>
          <a:xfrm>
            <a:off x="10966399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8" name="Shape 6"/>
          <p:cNvSpPr/>
          <p:nvPr/>
        </p:nvSpPr>
        <p:spPr>
          <a:xfrm>
            <a:off x="11176711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9" name="Shape 7"/>
          <p:cNvSpPr/>
          <p:nvPr/>
        </p:nvSpPr>
        <p:spPr>
          <a:xfrm>
            <a:off x="11387023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10" name="Text 1"/>
          <p:cNvSpPr/>
          <p:nvPr>
            <p:ph idx="101" type="title" hasCustomPrompt="1"/>
          </p:nvPr>
        </p:nvSpPr>
        <p:spPr>
          <a:xfrm>
            <a:off x="685800" y="713232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영상 콘텐츠 지도</a:t>
            </a:r>
            <a:endParaRPr lang="en-US" sz="28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645920"/>
          <a:ext cx="704088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914400"/>
                <a:gridCol w="914400"/>
                <a:gridCol w="914400"/>
                <a:gridCol w="1645920"/>
              </a:tblGrid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chemeClr val="bg1"/>
                          </a:solidFill>
                        </a:rPr>
                        <a:t>유형</a:t>
                      </a:r>
                      <a:endParaRPr lang="en-US" sz="13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chemeClr val="bg1"/>
                          </a:solidFill>
                        </a:rPr>
                        <a:t>숏폼</a:t>
                      </a:r>
                      <a:endParaRPr lang="en-US" sz="13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chemeClr val="bg1"/>
                          </a:solidFill>
                        </a:rPr>
                        <a:t>롱폼</a:t>
                      </a:r>
                      <a:endParaRPr lang="en-US" sz="13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chemeClr val="bg1"/>
                          </a:solidFill>
                        </a:rPr>
                        <a:t>라이브</a:t>
                      </a:r>
                      <a:endParaRPr lang="en-US" sz="13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chemeClr val="bg1"/>
                          </a:solidFill>
                        </a:rPr>
                        <a:t>이 과정에서</a:t>
                      </a:r>
                      <a:endParaRPr lang="en-US" sz="13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브이로그 · 일상</a:t>
                      </a:r>
                      <a:endParaRPr lang="en-US" sz="13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●</a:t>
                      </a:r>
                      <a:endParaRPr lang="en-US" sz="13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●</a:t>
                      </a:r>
                      <a:endParaRPr lang="en-US" sz="13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3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4회차</a:t>
                      </a:r>
                      <a:endParaRPr lang="en-US" sz="13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정보성 · 하우투</a:t>
                      </a:r>
                      <a:endParaRPr lang="en-US" sz="13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●</a:t>
                      </a:r>
                      <a:endParaRPr lang="en-US" sz="13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●</a:t>
                      </a:r>
                      <a:endParaRPr lang="en-US" sz="13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3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4회차</a:t>
                      </a:r>
                      <a:endParaRPr lang="en-US" sz="13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리뷰 · 언박싱</a:t>
                      </a:r>
                      <a:endParaRPr lang="en-US" sz="13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●</a:t>
                      </a:r>
                      <a:endParaRPr lang="en-US" sz="13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●</a:t>
                      </a:r>
                      <a:endParaRPr lang="en-US" sz="13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●</a:t>
                      </a:r>
                      <a:endParaRPr lang="en-US" sz="13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4회차 (라이브커머스)</a:t>
                      </a:r>
                      <a:endParaRPr lang="en-US" sz="13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토크 · 리액션 · 스트리머</a:t>
                      </a:r>
                      <a:endParaRPr lang="en-US" sz="13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●</a:t>
                      </a:r>
                      <a:endParaRPr lang="en-US" sz="13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●</a:t>
                      </a:r>
                      <a:endParaRPr lang="en-US" sz="13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●</a:t>
                      </a:r>
                      <a:endParaRPr lang="en-US" sz="13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4회차</a:t>
                      </a:r>
                      <a:endParaRPr lang="en-US" sz="13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AI 영상 · 숏드라마</a:t>
                      </a:r>
                      <a:endParaRPr lang="en-US" sz="13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●</a:t>
                      </a:r>
                      <a:endParaRPr lang="en-US" sz="13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3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3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4회차</a:t>
                      </a:r>
                      <a:endParaRPr lang="en-US" sz="13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브랜디드 · 광고</a:t>
                      </a:r>
                      <a:endParaRPr lang="en-US" sz="13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●</a:t>
                      </a:r>
                      <a:endParaRPr lang="en-US" sz="13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●</a:t>
                      </a:r>
                      <a:endParaRPr lang="en-US" sz="13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3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5회차</a:t>
                      </a:r>
                      <a:endParaRPr lang="en-US" sz="13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13" name="Shape 9"/>
          <p:cNvSpPr/>
          <p:nvPr/>
        </p:nvSpPr>
        <p:spPr>
          <a:xfrm>
            <a:off x="8046720" y="1645920"/>
            <a:ext cx="3459175" cy="109728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/>
        </p:spPr>
      </p:sp>
      <p:sp>
        <p:nvSpPr>
          <p:cNvPr id="14" name="Text 10"/>
          <p:cNvSpPr txBox="1"/>
          <p:nvPr/>
        </p:nvSpPr>
        <p:spPr>
          <a:xfrm>
            <a:off x="8321040" y="17830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숏폼</a:t>
            </a:r>
            <a:endParaRPr lang="en-US" sz="1700" dirty="0"/>
          </a:p>
        </p:txBody>
      </p:sp>
      <p:sp>
        <p:nvSpPr>
          <p:cNvPr id="15" name="Text 11"/>
          <p:cNvSpPr txBox="1"/>
          <p:nvPr/>
        </p:nvSpPr>
        <p:spPr>
          <a:xfrm>
            <a:off x="8321040" y="2148840"/>
            <a:ext cx="2956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accent5"/>
                </a:solidFill>
              </a:rPr>
              <a:t>15~90초 세로 영상. 쇼츠 · 릴스 · 틱톡. 발견되는 곳</a:t>
            </a:r>
            <a:endParaRPr lang="en-US" sz="1250" dirty="0"/>
          </a:p>
        </p:txBody>
      </p:sp>
      <p:sp>
        <p:nvSpPr>
          <p:cNvPr id="16" name="Shape 12"/>
          <p:cNvSpPr/>
          <p:nvPr/>
        </p:nvSpPr>
        <p:spPr>
          <a:xfrm>
            <a:off x="8046720" y="2862072"/>
            <a:ext cx="3459175" cy="109728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/>
        </p:spPr>
      </p:sp>
      <p:sp>
        <p:nvSpPr>
          <p:cNvPr id="17" name="Text 13"/>
          <p:cNvSpPr txBox="1"/>
          <p:nvPr/>
        </p:nvSpPr>
        <p:spPr>
          <a:xfrm>
            <a:off x="8321040" y="2999232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롱폼</a:t>
            </a:r>
            <a:endParaRPr lang="en-US" sz="1700" dirty="0"/>
          </a:p>
        </p:txBody>
      </p:sp>
      <p:sp>
        <p:nvSpPr>
          <p:cNvPr id="18" name="Text 14"/>
          <p:cNvSpPr txBox="1"/>
          <p:nvPr/>
        </p:nvSpPr>
        <p:spPr>
          <a:xfrm>
            <a:off x="8321040" y="3364992"/>
            <a:ext cx="2956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accent5"/>
                </a:solidFill>
              </a:rPr>
              <a:t>몇 분 이상 가로 영상. 깊이와 신뢰가 쌓이는 곳</a:t>
            </a:r>
            <a:endParaRPr lang="en-US" sz="1250" dirty="0"/>
          </a:p>
        </p:txBody>
      </p:sp>
      <p:sp>
        <p:nvSpPr>
          <p:cNvPr id="19" name="Shape 15"/>
          <p:cNvSpPr/>
          <p:nvPr/>
        </p:nvSpPr>
        <p:spPr>
          <a:xfrm>
            <a:off x="8046720" y="4078224"/>
            <a:ext cx="3459175" cy="109728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/>
        </p:spPr>
      </p:sp>
      <p:sp>
        <p:nvSpPr>
          <p:cNvPr id="20" name="Text 16"/>
          <p:cNvSpPr txBox="1"/>
          <p:nvPr/>
        </p:nvSpPr>
        <p:spPr>
          <a:xfrm>
            <a:off x="8321040" y="4215384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라이브</a:t>
            </a:r>
            <a:endParaRPr lang="en-US" sz="1700" dirty="0"/>
          </a:p>
        </p:txBody>
      </p:sp>
      <p:sp>
        <p:nvSpPr>
          <p:cNvPr id="21" name="Text 17"/>
          <p:cNvSpPr txBox="1"/>
          <p:nvPr/>
        </p:nvSpPr>
        <p:spPr>
          <a:xfrm>
            <a:off x="8321040" y="4581144"/>
            <a:ext cx="2956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accent5"/>
                </a:solidFill>
              </a:rPr>
              <a:t>실시간 방송. 소통과 판매(라이브커머스)</a:t>
            </a:r>
            <a:endParaRPr lang="en-US" sz="1250" dirty="0"/>
          </a:p>
        </p:txBody>
      </p:sp>
      <p:sp>
        <p:nvSpPr>
          <p:cNvPr id="22" name="Text 18"/>
          <p:cNvSpPr txBox="1"/>
          <p:nvPr/>
        </p:nvSpPr>
        <p:spPr>
          <a:xfrm>
            <a:off x="685800" y="544068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● 그 형식에서 흔한 조합 (대략적인 지도)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A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91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2교시 · 영상 콘텐츠, 지금 어떻게 만들어지나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0125151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4" name="Shape 2"/>
          <p:cNvSpPr/>
          <p:nvPr/>
        </p:nvSpPr>
        <p:spPr>
          <a:xfrm>
            <a:off x="10335463" y="502920"/>
            <a:ext cx="118872" cy="1188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Shape 3"/>
          <p:cNvSpPr/>
          <p:nvPr/>
        </p:nvSpPr>
        <p:spPr>
          <a:xfrm>
            <a:off x="10545775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6" name="Shape 4"/>
          <p:cNvSpPr/>
          <p:nvPr/>
        </p:nvSpPr>
        <p:spPr>
          <a:xfrm>
            <a:off x="10756087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7" name="Shape 5"/>
          <p:cNvSpPr/>
          <p:nvPr/>
        </p:nvSpPr>
        <p:spPr>
          <a:xfrm>
            <a:off x="10966399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8" name="Shape 6"/>
          <p:cNvSpPr/>
          <p:nvPr/>
        </p:nvSpPr>
        <p:spPr>
          <a:xfrm>
            <a:off x="11176711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9" name="Shape 7"/>
          <p:cNvSpPr/>
          <p:nvPr/>
        </p:nvSpPr>
        <p:spPr>
          <a:xfrm>
            <a:off x="11387023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10" name="Text 1"/>
          <p:cNvSpPr/>
          <p:nvPr>
            <p:ph idx="101" type="title" hasCustomPrompt="1"/>
          </p:nvPr>
        </p:nvSpPr>
        <p:spPr>
          <a:xfrm>
            <a:off x="685800" y="713232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플랫폼마다 성격이 다르다</a:t>
            </a:r>
            <a:endParaRPr lang="en-US" sz="2800" dirty="0"/>
          </a:p>
        </p:txBody>
      </p:sp>
      <p:sp>
        <p:nvSpPr>
          <p:cNvPr id="12" name="Shape 9"/>
          <p:cNvSpPr/>
          <p:nvPr/>
        </p:nvSpPr>
        <p:spPr>
          <a:xfrm>
            <a:off x="685800" y="1645920"/>
            <a:ext cx="3423818" cy="4206240"/>
          </a:xfrm>
          <a:prstGeom prst="roundRect">
            <a:avLst>
              <a:gd name="adj" fmla="val 2137"/>
            </a:avLst>
          </a:prstGeom>
          <a:solidFill>
            <a:schemeClr val="bg2"/>
          </a:solidFill>
          <a:ln/>
        </p:spPr>
      </p:sp>
      <p:sp>
        <p:nvSpPr>
          <p:cNvPr id="13" name="Shape 10"/>
          <p:cNvSpPr/>
          <p:nvPr/>
        </p:nvSpPr>
        <p:spPr>
          <a:xfrm>
            <a:off x="1005840" y="1920240"/>
            <a:ext cx="685800" cy="685800"/>
          </a:xfrm>
          <a:prstGeom prst="ellipse">
            <a:avLst/>
          </a:prstGeom>
          <a:solidFill>
            <a:srgbClr val="E6EEE9"/>
          </a:solidFill>
          <a:ln/>
        </p:spPr>
      </p:sp>
      <p:pic>
        <p:nvPicPr>
          <p:cNvPr id="14" name="Image 0" descr="FaYoutub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84148" y="2098548"/>
            <a:ext cx="329184" cy="329184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1874520" y="2011680"/>
            <a:ext cx="205221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유튜브</a:t>
            </a:r>
            <a:endParaRPr lang="en-US" sz="2100" dirty="0"/>
          </a:p>
        </p:txBody>
      </p:sp>
      <p:sp>
        <p:nvSpPr>
          <p:cNvPr id="16" name="Text 12"/>
          <p:cNvSpPr txBox="1"/>
          <p:nvPr/>
        </p:nvSpPr>
        <p:spPr>
          <a:xfrm>
            <a:off x="1005840" y="2834640"/>
            <a:ext cx="278373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검색과 추천이 함께 일하고, 영상이 오래 쌓이는 곳</a:t>
            </a:r>
            <a:endParaRPr lang="en-US" sz="1450" dirty="0"/>
          </a:p>
        </p:txBody>
      </p:sp>
      <p:sp>
        <p:nvSpPr>
          <p:cNvPr id="17" name="Text 13"/>
          <p:cNvSpPr txBox="1"/>
          <p:nvPr/>
        </p:nvSpPr>
        <p:spPr>
          <a:xfrm>
            <a:off x="1005840" y="3840480"/>
            <a:ext cx="27837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5"/>
                </a:solidFill>
              </a:rPr>
              <a:t>강한 형식</a:t>
            </a:r>
            <a:endParaRPr lang="en-US" sz="1100" dirty="0"/>
          </a:p>
        </p:txBody>
      </p:sp>
      <p:sp>
        <p:nvSpPr>
          <p:cNvPr id="18" name="Text 14"/>
          <p:cNvSpPr txBox="1"/>
          <p:nvPr/>
        </p:nvSpPr>
        <p:spPr>
          <a:xfrm>
            <a:off x="1005840" y="4114800"/>
            <a:ext cx="27837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롱폼 · 쇼츠 · 라이브</a:t>
            </a:r>
            <a:endParaRPr lang="en-US" sz="1400" dirty="0"/>
          </a:p>
        </p:txBody>
      </p:sp>
      <p:sp>
        <p:nvSpPr>
          <p:cNvPr id="19" name="Text 15"/>
          <p:cNvSpPr txBox="1"/>
          <p:nvPr/>
        </p:nvSpPr>
        <p:spPr>
          <a:xfrm>
            <a:off x="1005840" y="4663440"/>
            <a:ext cx="27837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5"/>
                </a:solidFill>
              </a:rPr>
              <a:t>이렇게 쓰자</a:t>
            </a:r>
            <a:endParaRPr lang="en-US" sz="1100" dirty="0"/>
          </a:p>
        </p:txBody>
      </p:sp>
      <p:sp>
        <p:nvSpPr>
          <p:cNvPr id="20" name="Text 16"/>
          <p:cNvSpPr txBox="1"/>
          <p:nvPr/>
        </p:nvSpPr>
        <p:spPr>
          <a:xfrm>
            <a:off x="1005840" y="4937760"/>
            <a:ext cx="27837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우리 수업의 기록 채널</a:t>
            </a:r>
            <a:endParaRPr lang="en-US" sz="1400" dirty="0"/>
          </a:p>
        </p:txBody>
      </p:sp>
      <p:sp>
        <p:nvSpPr>
          <p:cNvPr id="21" name="Shape 17"/>
          <p:cNvSpPr/>
          <p:nvPr/>
        </p:nvSpPr>
        <p:spPr>
          <a:xfrm>
            <a:off x="4383938" y="1645920"/>
            <a:ext cx="3423818" cy="4206240"/>
          </a:xfrm>
          <a:prstGeom prst="roundRect">
            <a:avLst>
              <a:gd name="adj" fmla="val 2137"/>
            </a:avLst>
          </a:prstGeom>
          <a:solidFill>
            <a:schemeClr val="bg2"/>
          </a:solidFill>
          <a:ln/>
        </p:spPr>
      </p:sp>
      <p:sp>
        <p:nvSpPr>
          <p:cNvPr id="22" name="Shape 18"/>
          <p:cNvSpPr/>
          <p:nvPr/>
        </p:nvSpPr>
        <p:spPr>
          <a:xfrm>
            <a:off x="4703978" y="1920240"/>
            <a:ext cx="685800" cy="685800"/>
          </a:xfrm>
          <a:prstGeom prst="ellipse">
            <a:avLst/>
          </a:prstGeom>
          <a:solidFill>
            <a:srgbClr val="E6EEE9"/>
          </a:solidFill>
          <a:ln/>
        </p:spPr>
      </p:sp>
      <p:pic>
        <p:nvPicPr>
          <p:cNvPr id="23" name="Image 1" descr="FaInstagram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2286" y="2098548"/>
            <a:ext cx="329184" cy="329184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5572658" y="2011680"/>
            <a:ext cx="205221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인스타그램</a:t>
            </a:r>
            <a:endParaRPr lang="en-US" sz="2100" dirty="0"/>
          </a:p>
        </p:txBody>
      </p:sp>
      <p:sp>
        <p:nvSpPr>
          <p:cNvPr id="25" name="Text 20"/>
          <p:cNvSpPr txBox="1"/>
          <p:nvPr/>
        </p:nvSpPr>
        <p:spPr>
          <a:xfrm>
            <a:off x="4703978" y="2834640"/>
            <a:ext cx="278373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관계와 브랜드의 얼굴. 팔로워와 가까운 곳</a:t>
            </a:r>
            <a:endParaRPr lang="en-US" sz="1450" dirty="0"/>
          </a:p>
        </p:txBody>
      </p:sp>
      <p:sp>
        <p:nvSpPr>
          <p:cNvPr id="26" name="Text 21"/>
          <p:cNvSpPr txBox="1"/>
          <p:nvPr/>
        </p:nvSpPr>
        <p:spPr>
          <a:xfrm>
            <a:off x="4703978" y="3840480"/>
            <a:ext cx="27837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5"/>
                </a:solidFill>
              </a:rPr>
              <a:t>강한 형식</a:t>
            </a:r>
            <a:endParaRPr lang="en-US" sz="1100" dirty="0"/>
          </a:p>
        </p:txBody>
      </p:sp>
      <p:sp>
        <p:nvSpPr>
          <p:cNvPr id="27" name="Text 22"/>
          <p:cNvSpPr txBox="1"/>
          <p:nvPr/>
        </p:nvSpPr>
        <p:spPr>
          <a:xfrm>
            <a:off x="4703978" y="4114800"/>
            <a:ext cx="27837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릴스 · 캐러셀 · 스토리</a:t>
            </a:r>
            <a:endParaRPr lang="en-US" sz="1400" dirty="0"/>
          </a:p>
        </p:txBody>
      </p:sp>
      <p:sp>
        <p:nvSpPr>
          <p:cNvPr id="28" name="Text 23"/>
          <p:cNvSpPr txBox="1"/>
          <p:nvPr/>
        </p:nvSpPr>
        <p:spPr>
          <a:xfrm>
            <a:off x="4703978" y="4663440"/>
            <a:ext cx="27837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5"/>
                </a:solidFill>
              </a:rPr>
              <a:t>이렇게 쓰자</a:t>
            </a:r>
            <a:endParaRPr lang="en-US" sz="1100" dirty="0"/>
          </a:p>
        </p:txBody>
      </p:sp>
      <p:sp>
        <p:nvSpPr>
          <p:cNvPr id="29" name="Text 24"/>
          <p:cNvSpPr txBox="1"/>
          <p:nvPr/>
        </p:nvSpPr>
        <p:spPr>
          <a:xfrm>
            <a:off x="4703978" y="4937760"/>
            <a:ext cx="27837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가게 · 개인 브랜드 홍보</a:t>
            </a:r>
            <a:endParaRPr lang="en-US" sz="1400" dirty="0"/>
          </a:p>
        </p:txBody>
      </p:sp>
      <p:sp>
        <p:nvSpPr>
          <p:cNvPr id="30" name="Shape 25"/>
          <p:cNvSpPr/>
          <p:nvPr/>
        </p:nvSpPr>
        <p:spPr>
          <a:xfrm>
            <a:off x="8082077" y="1645920"/>
            <a:ext cx="3423818" cy="4206240"/>
          </a:xfrm>
          <a:prstGeom prst="roundRect">
            <a:avLst>
              <a:gd name="adj" fmla="val 2137"/>
            </a:avLst>
          </a:prstGeom>
          <a:solidFill>
            <a:schemeClr val="bg2"/>
          </a:solidFill>
          <a:ln/>
        </p:spPr>
      </p:sp>
      <p:sp>
        <p:nvSpPr>
          <p:cNvPr id="31" name="Shape 26"/>
          <p:cNvSpPr/>
          <p:nvPr/>
        </p:nvSpPr>
        <p:spPr>
          <a:xfrm>
            <a:off x="8402117" y="1920240"/>
            <a:ext cx="685800" cy="685800"/>
          </a:xfrm>
          <a:prstGeom prst="ellipse">
            <a:avLst/>
          </a:prstGeom>
          <a:solidFill>
            <a:srgbClr val="E6EEE9"/>
          </a:solidFill>
          <a:ln/>
        </p:spPr>
      </p:sp>
      <p:pic>
        <p:nvPicPr>
          <p:cNvPr id="32" name="Image 2" descr="FaTikto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80425" y="2098548"/>
            <a:ext cx="329184" cy="329184"/>
          </a:xfrm>
          <a:prstGeom prst="rect">
            <a:avLst/>
          </a:prstGeom>
        </p:spPr>
      </p:pic>
      <p:sp>
        <p:nvSpPr>
          <p:cNvPr id="33" name="Text 27"/>
          <p:cNvSpPr txBox="1"/>
          <p:nvPr/>
        </p:nvSpPr>
        <p:spPr>
          <a:xfrm>
            <a:off x="9270797" y="2011680"/>
            <a:ext cx="205221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틱톡</a:t>
            </a:r>
            <a:endParaRPr lang="en-US" sz="2100" dirty="0"/>
          </a:p>
        </p:txBody>
      </p:sp>
      <p:sp>
        <p:nvSpPr>
          <p:cNvPr id="34" name="Text 28"/>
          <p:cNvSpPr txBox="1"/>
          <p:nvPr/>
        </p:nvSpPr>
        <p:spPr>
          <a:xfrm>
            <a:off x="8402117" y="2834640"/>
            <a:ext cx="278373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발견과 트렌드. 소리와 밈이 퍼지는 속도가 빠른 곳</a:t>
            </a:r>
            <a:endParaRPr lang="en-US" sz="1450" dirty="0"/>
          </a:p>
        </p:txBody>
      </p:sp>
      <p:sp>
        <p:nvSpPr>
          <p:cNvPr id="35" name="Text 29"/>
          <p:cNvSpPr txBox="1"/>
          <p:nvPr/>
        </p:nvSpPr>
        <p:spPr>
          <a:xfrm>
            <a:off x="8402117" y="3840480"/>
            <a:ext cx="27837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5"/>
                </a:solidFill>
              </a:rPr>
              <a:t>강한 형식</a:t>
            </a:r>
            <a:endParaRPr lang="en-US" sz="1100" dirty="0"/>
          </a:p>
        </p:txBody>
      </p:sp>
      <p:sp>
        <p:nvSpPr>
          <p:cNvPr id="36" name="Text 30"/>
          <p:cNvSpPr txBox="1"/>
          <p:nvPr/>
        </p:nvSpPr>
        <p:spPr>
          <a:xfrm>
            <a:off x="8402117" y="4114800"/>
            <a:ext cx="27837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짧은 세로 영상</a:t>
            </a:r>
            <a:endParaRPr lang="en-US" sz="1400" dirty="0"/>
          </a:p>
        </p:txBody>
      </p:sp>
      <p:sp>
        <p:nvSpPr>
          <p:cNvPr id="37" name="Text 31"/>
          <p:cNvSpPr txBox="1"/>
          <p:nvPr/>
        </p:nvSpPr>
        <p:spPr>
          <a:xfrm>
            <a:off x="8402117" y="4663440"/>
            <a:ext cx="27837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5"/>
                </a:solidFill>
              </a:rPr>
              <a:t>이렇게 쓰자</a:t>
            </a:r>
            <a:endParaRPr lang="en-US" sz="1100" dirty="0"/>
          </a:p>
        </p:txBody>
      </p:sp>
      <p:sp>
        <p:nvSpPr>
          <p:cNvPr id="38" name="Text 32"/>
          <p:cNvSpPr txBox="1"/>
          <p:nvPr/>
        </p:nvSpPr>
        <p:spPr>
          <a:xfrm>
            <a:off x="8402117" y="4937760"/>
            <a:ext cx="27837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새로운 사람에게 닿기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A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91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2교시 · 영상 콘텐츠, 지금 어떻게 만들어지나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0125151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4" name="Shape 2"/>
          <p:cNvSpPr/>
          <p:nvPr/>
        </p:nvSpPr>
        <p:spPr>
          <a:xfrm>
            <a:off x="10335463" y="502920"/>
            <a:ext cx="118872" cy="1188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Shape 3"/>
          <p:cNvSpPr/>
          <p:nvPr/>
        </p:nvSpPr>
        <p:spPr>
          <a:xfrm>
            <a:off x="10545775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6" name="Shape 4"/>
          <p:cNvSpPr/>
          <p:nvPr/>
        </p:nvSpPr>
        <p:spPr>
          <a:xfrm>
            <a:off x="10756087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7" name="Shape 5"/>
          <p:cNvSpPr/>
          <p:nvPr/>
        </p:nvSpPr>
        <p:spPr>
          <a:xfrm>
            <a:off x="10966399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8" name="Shape 6"/>
          <p:cNvSpPr/>
          <p:nvPr/>
        </p:nvSpPr>
        <p:spPr>
          <a:xfrm>
            <a:off x="11176711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9" name="Shape 7"/>
          <p:cNvSpPr/>
          <p:nvPr/>
        </p:nvSpPr>
        <p:spPr>
          <a:xfrm>
            <a:off x="11387023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10" name="Text 1"/>
          <p:cNvSpPr/>
          <p:nvPr>
            <p:ph idx="101" type="title" hasCustomPrompt="1"/>
          </p:nvPr>
        </p:nvSpPr>
        <p:spPr>
          <a:xfrm>
            <a:off x="685800" y="713232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프로의 제작 공정 7단계</a:t>
            </a:r>
            <a:endParaRPr lang="en-US" sz="2800" dirty="0"/>
          </a:p>
        </p:txBody>
      </p:sp>
      <p:sp>
        <p:nvSpPr>
          <p:cNvPr id="12" name="Shape 9"/>
          <p:cNvSpPr/>
          <p:nvPr/>
        </p:nvSpPr>
        <p:spPr>
          <a:xfrm>
            <a:off x="685800" y="1828800"/>
            <a:ext cx="1373298" cy="2926080"/>
          </a:xfrm>
          <a:prstGeom prst="roundRect">
            <a:avLst>
              <a:gd name="adj" fmla="val 5327"/>
            </a:avLst>
          </a:prstGeom>
          <a:solidFill>
            <a:schemeClr val="bg2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868680" y="2011680"/>
            <a:ext cx="10075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01</a:t>
            </a:r>
            <a:endParaRPr lang="en-US" sz="2200" dirty="0"/>
          </a:p>
        </p:txBody>
      </p:sp>
      <p:sp>
        <p:nvSpPr>
          <p:cNvPr id="14" name="Text 11"/>
          <p:cNvSpPr txBox="1"/>
          <p:nvPr/>
        </p:nvSpPr>
        <p:spPr>
          <a:xfrm>
            <a:off x="868680" y="2606040"/>
            <a:ext cx="109897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기획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868680" y="3383280"/>
            <a:ext cx="109897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accent5"/>
                </a:solidFill>
              </a:rPr>
              <a:t>누구에게 · 무엇을 · 왜</a:t>
            </a:r>
            <a:endParaRPr lang="en-US" sz="1150" dirty="0"/>
          </a:p>
        </p:txBody>
      </p:sp>
      <p:sp>
        <p:nvSpPr>
          <p:cNvPr id="16" name="Text 13"/>
          <p:cNvSpPr txBox="1"/>
          <p:nvPr/>
        </p:nvSpPr>
        <p:spPr>
          <a:xfrm>
            <a:off x="868680" y="4251960"/>
            <a:ext cx="10989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2회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2260266" y="1828800"/>
            <a:ext cx="1373298" cy="2926080"/>
          </a:xfrm>
          <a:prstGeom prst="roundRect">
            <a:avLst>
              <a:gd name="adj" fmla="val 5327"/>
            </a:avLst>
          </a:prstGeom>
          <a:solidFill>
            <a:schemeClr val="bg2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2443146" y="2011680"/>
            <a:ext cx="10075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02</a:t>
            </a:r>
            <a:endParaRPr lang="en-US" sz="2200" dirty="0"/>
          </a:p>
        </p:txBody>
      </p:sp>
      <p:sp>
        <p:nvSpPr>
          <p:cNvPr id="19" name="Text 16"/>
          <p:cNvSpPr txBox="1"/>
          <p:nvPr/>
        </p:nvSpPr>
        <p:spPr>
          <a:xfrm>
            <a:off x="2443146" y="2606040"/>
            <a:ext cx="109897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프리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프로덕션</a:t>
            </a:r>
            <a:endParaRPr lang="en-US" sz="1600" dirty="0"/>
          </a:p>
        </p:txBody>
      </p:sp>
      <p:sp>
        <p:nvSpPr>
          <p:cNvPr id="20" name="Text 17"/>
          <p:cNvSpPr txBox="1"/>
          <p:nvPr/>
        </p:nvSpPr>
        <p:spPr>
          <a:xfrm>
            <a:off x="2443146" y="3383280"/>
            <a:ext cx="109897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accent5"/>
                </a:solidFill>
              </a:rPr>
              <a:t>대본 · 콘티 · 장소</a:t>
            </a:r>
            <a:endParaRPr lang="en-US" sz="1150" dirty="0"/>
          </a:p>
        </p:txBody>
      </p:sp>
      <p:sp>
        <p:nvSpPr>
          <p:cNvPr id="21" name="Text 18"/>
          <p:cNvSpPr txBox="1"/>
          <p:nvPr/>
        </p:nvSpPr>
        <p:spPr>
          <a:xfrm>
            <a:off x="2443146" y="4251960"/>
            <a:ext cx="10989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2회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3834732" y="1828800"/>
            <a:ext cx="1373298" cy="2926080"/>
          </a:xfrm>
          <a:prstGeom prst="roundRect">
            <a:avLst>
              <a:gd name="adj" fmla="val 5327"/>
            </a:avLst>
          </a:prstGeom>
          <a:solidFill>
            <a:schemeClr val="tx2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4017612" y="2011680"/>
            <a:ext cx="10075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03</a:t>
            </a:r>
            <a:endParaRPr lang="en-US" sz="2200" dirty="0"/>
          </a:p>
        </p:txBody>
      </p:sp>
      <p:sp>
        <p:nvSpPr>
          <p:cNvPr id="24" name="Text 21"/>
          <p:cNvSpPr txBox="1"/>
          <p:nvPr/>
        </p:nvSpPr>
        <p:spPr>
          <a:xfrm>
            <a:off x="4017612" y="2606040"/>
            <a:ext cx="109897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촬영</a:t>
            </a:r>
            <a:endParaRPr lang="en-US" sz="1600" dirty="0"/>
          </a:p>
        </p:txBody>
      </p:sp>
      <p:sp>
        <p:nvSpPr>
          <p:cNvPr id="25" name="Text 22"/>
          <p:cNvSpPr txBox="1"/>
          <p:nvPr/>
        </p:nvSpPr>
        <p:spPr>
          <a:xfrm>
            <a:off x="4017612" y="3383280"/>
            <a:ext cx="109897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C9D3CE"/>
                </a:solidFill>
              </a:rPr>
              <a:t>빛 · 소리 · 샷</a:t>
            </a:r>
            <a:endParaRPr lang="en-US" sz="1150" dirty="0"/>
          </a:p>
        </p:txBody>
      </p:sp>
      <p:sp>
        <p:nvSpPr>
          <p:cNvPr id="26" name="Text 23"/>
          <p:cNvSpPr txBox="1"/>
          <p:nvPr/>
        </p:nvSpPr>
        <p:spPr>
          <a:xfrm>
            <a:off x="4017612" y="4251960"/>
            <a:ext cx="10989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오늘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5409199" y="1828800"/>
            <a:ext cx="1373298" cy="2926080"/>
          </a:xfrm>
          <a:prstGeom prst="roundRect">
            <a:avLst>
              <a:gd name="adj" fmla="val 5327"/>
            </a:avLst>
          </a:prstGeom>
          <a:solidFill>
            <a:schemeClr val="bg2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5592079" y="2011680"/>
            <a:ext cx="10075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04</a:t>
            </a:r>
            <a:endParaRPr lang="en-US" sz="2200" dirty="0"/>
          </a:p>
        </p:txBody>
      </p:sp>
      <p:sp>
        <p:nvSpPr>
          <p:cNvPr id="29" name="Text 26"/>
          <p:cNvSpPr txBox="1"/>
          <p:nvPr/>
        </p:nvSpPr>
        <p:spPr>
          <a:xfrm>
            <a:off x="5592079" y="2606040"/>
            <a:ext cx="109897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편집</a:t>
            </a:r>
            <a:endParaRPr lang="en-US" sz="1600" dirty="0"/>
          </a:p>
        </p:txBody>
      </p:sp>
      <p:sp>
        <p:nvSpPr>
          <p:cNvPr id="30" name="Text 27"/>
          <p:cNvSpPr txBox="1"/>
          <p:nvPr/>
        </p:nvSpPr>
        <p:spPr>
          <a:xfrm>
            <a:off x="5592079" y="3383280"/>
            <a:ext cx="109897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accent5"/>
                </a:solidFill>
              </a:rPr>
              <a:t>컷 · 자막 · 음악</a:t>
            </a:r>
            <a:endParaRPr lang="en-US" sz="1150" dirty="0"/>
          </a:p>
        </p:txBody>
      </p:sp>
      <p:sp>
        <p:nvSpPr>
          <p:cNvPr id="31" name="Text 28"/>
          <p:cNvSpPr txBox="1"/>
          <p:nvPr/>
        </p:nvSpPr>
        <p:spPr>
          <a:xfrm>
            <a:off x="5592079" y="4251960"/>
            <a:ext cx="10989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3·4회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6983665" y="1828800"/>
            <a:ext cx="1373298" cy="2926080"/>
          </a:xfrm>
          <a:prstGeom prst="roundRect">
            <a:avLst>
              <a:gd name="adj" fmla="val 5327"/>
            </a:avLst>
          </a:prstGeom>
          <a:solidFill>
            <a:schemeClr val="bg2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7166545" y="2011680"/>
            <a:ext cx="10075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05</a:t>
            </a:r>
            <a:endParaRPr lang="en-US" sz="2200" dirty="0"/>
          </a:p>
        </p:txBody>
      </p:sp>
      <p:sp>
        <p:nvSpPr>
          <p:cNvPr id="34" name="Text 31"/>
          <p:cNvSpPr txBox="1"/>
          <p:nvPr/>
        </p:nvSpPr>
        <p:spPr>
          <a:xfrm>
            <a:off x="7166545" y="2606040"/>
            <a:ext cx="109897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마스터링</a:t>
            </a:r>
            <a:endParaRPr lang="en-US" sz="1600" dirty="0"/>
          </a:p>
        </p:txBody>
      </p:sp>
      <p:sp>
        <p:nvSpPr>
          <p:cNvPr id="35" name="Text 32"/>
          <p:cNvSpPr txBox="1"/>
          <p:nvPr/>
        </p:nvSpPr>
        <p:spPr>
          <a:xfrm>
            <a:off x="7166545" y="3383280"/>
            <a:ext cx="109897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accent5"/>
                </a:solidFill>
              </a:rPr>
              <a:t>음량 · 색 · 규격</a:t>
            </a:r>
            <a:endParaRPr lang="en-US" sz="1150" dirty="0"/>
          </a:p>
        </p:txBody>
      </p:sp>
      <p:sp>
        <p:nvSpPr>
          <p:cNvPr id="36" name="Text 33"/>
          <p:cNvSpPr txBox="1"/>
          <p:nvPr/>
        </p:nvSpPr>
        <p:spPr>
          <a:xfrm>
            <a:off x="7166545" y="4251960"/>
            <a:ext cx="10989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5회</a:t>
            </a:r>
            <a:endParaRPr lang="en-US" sz="1200" dirty="0"/>
          </a:p>
        </p:txBody>
      </p:sp>
      <p:sp>
        <p:nvSpPr>
          <p:cNvPr id="37" name="Shape 34"/>
          <p:cNvSpPr/>
          <p:nvPr/>
        </p:nvSpPr>
        <p:spPr>
          <a:xfrm>
            <a:off x="8558131" y="1828800"/>
            <a:ext cx="1373298" cy="2926080"/>
          </a:xfrm>
          <a:prstGeom prst="roundRect">
            <a:avLst>
              <a:gd name="adj" fmla="val 5327"/>
            </a:avLst>
          </a:prstGeom>
          <a:solidFill>
            <a:schemeClr val="bg2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8741011" y="2011680"/>
            <a:ext cx="10075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06</a:t>
            </a:r>
            <a:endParaRPr lang="en-US" sz="2200" dirty="0"/>
          </a:p>
        </p:txBody>
      </p:sp>
      <p:sp>
        <p:nvSpPr>
          <p:cNvPr id="39" name="Text 36"/>
          <p:cNvSpPr txBox="1"/>
          <p:nvPr/>
        </p:nvSpPr>
        <p:spPr>
          <a:xfrm>
            <a:off x="8741011" y="2606040"/>
            <a:ext cx="109897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발행</a:t>
            </a:r>
            <a:endParaRPr lang="en-US" sz="1600" dirty="0"/>
          </a:p>
        </p:txBody>
      </p:sp>
      <p:sp>
        <p:nvSpPr>
          <p:cNvPr id="40" name="Text 37"/>
          <p:cNvSpPr txBox="1"/>
          <p:nvPr/>
        </p:nvSpPr>
        <p:spPr>
          <a:xfrm>
            <a:off x="8741011" y="3383280"/>
            <a:ext cx="109897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accent5"/>
                </a:solidFill>
              </a:rPr>
              <a:t>제목 · 썸네일</a:t>
            </a:r>
            <a:endParaRPr lang="en-US" sz="1150" dirty="0"/>
          </a:p>
        </p:txBody>
      </p:sp>
      <p:sp>
        <p:nvSpPr>
          <p:cNvPr id="41" name="Text 38"/>
          <p:cNvSpPr txBox="1"/>
          <p:nvPr/>
        </p:nvSpPr>
        <p:spPr>
          <a:xfrm>
            <a:off x="8741011" y="4251960"/>
            <a:ext cx="10989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2회</a:t>
            </a:r>
            <a:endParaRPr lang="en-US" sz="1200" dirty="0"/>
          </a:p>
        </p:txBody>
      </p:sp>
      <p:sp>
        <p:nvSpPr>
          <p:cNvPr id="42" name="Shape 39"/>
          <p:cNvSpPr/>
          <p:nvPr/>
        </p:nvSpPr>
        <p:spPr>
          <a:xfrm>
            <a:off x="10132597" y="1828800"/>
            <a:ext cx="1373298" cy="2926080"/>
          </a:xfrm>
          <a:prstGeom prst="roundRect">
            <a:avLst>
              <a:gd name="adj" fmla="val 5327"/>
            </a:avLst>
          </a:prstGeom>
          <a:solidFill>
            <a:schemeClr val="bg2"/>
          </a:solidFill>
          <a:ln/>
        </p:spPr>
      </p:sp>
      <p:sp>
        <p:nvSpPr>
          <p:cNvPr id="43" name="Text 40"/>
          <p:cNvSpPr txBox="1"/>
          <p:nvPr/>
        </p:nvSpPr>
        <p:spPr>
          <a:xfrm>
            <a:off x="10315477" y="2011680"/>
            <a:ext cx="10075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07</a:t>
            </a:r>
            <a:endParaRPr lang="en-US" sz="2200" dirty="0"/>
          </a:p>
        </p:txBody>
      </p:sp>
      <p:sp>
        <p:nvSpPr>
          <p:cNvPr id="44" name="Text 41"/>
          <p:cNvSpPr txBox="1"/>
          <p:nvPr/>
        </p:nvSpPr>
        <p:spPr>
          <a:xfrm>
            <a:off x="10315477" y="2606040"/>
            <a:ext cx="109897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분석</a:t>
            </a:r>
            <a:endParaRPr lang="en-US" sz="1600" dirty="0"/>
          </a:p>
        </p:txBody>
      </p:sp>
      <p:sp>
        <p:nvSpPr>
          <p:cNvPr id="45" name="Text 42"/>
          <p:cNvSpPr txBox="1"/>
          <p:nvPr/>
        </p:nvSpPr>
        <p:spPr>
          <a:xfrm>
            <a:off x="10315477" y="3383280"/>
            <a:ext cx="109897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accent5"/>
                </a:solidFill>
              </a:rPr>
              <a:t>지표 → 다음 기획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15477" y="4251960"/>
            <a:ext cx="10989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5회</a:t>
            </a:r>
            <a:endParaRPr lang="en-US" sz="1200" dirty="0"/>
          </a:p>
        </p:txBody>
      </p:sp>
      <p:sp>
        <p:nvSpPr>
          <p:cNvPr id="47" name="Shape 44"/>
          <p:cNvSpPr/>
          <p:nvPr/>
        </p:nvSpPr>
        <p:spPr>
          <a:xfrm>
            <a:off x="685800" y="5120640"/>
            <a:ext cx="10820095" cy="512064"/>
          </a:xfrm>
          <a:prstGeom prst="roundRect">
            <a:avLst>
              <a:gd name="adj" fmla="val 14286"/>
            </a:avLst>
          </a:prstGeom>
          <a:solidFill>
            <a:schemeClr val="accent6"/>
          </a:solidFill>
          <a:ln/>
        </p:spPr>
      </p:sp>
      <p:sp>
        <p:nvSpPr>
          <p:cNvPr id="48" name="Text 45"/>
          <p:cNvSpPr txBox="1"/>
          <p:nvPr/>
        </p:nvSpPr>
        <p:spPr>
          <a:xfrm>
            <a:off x="960120" y="5120640"/>
            <a:ext cx="1027145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오늘은 3단계 '촬영'의 기초. 카드 아래 숫자는 각 단계를 깊게 배우는 회차입니다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A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91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2교시 · 영상 콘텐츠, 지금 어떻게 만들어지나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0125151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4" name="Shape 2"/>
          <p:cNvSpPr/>
          <p:nvPr/>
        </p:nvSpPr>
        <p:spPr>
          <a:xfrm>
            <a:off x="10335463" y="502920"/>
            <a:ext cx="118872" cy="1188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Shape 3"/>
          <p:cNvSpPr/>
          <p:nvPr/>
        </p:nvSpPr>
        <p:spPr>
          <a:xfrm>
            <a:off x="10545775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6" name="Shape 4"/>
          <p:cNvSpPr/>
          <p:nvPr/>
        </p:nvSpPr>
        <p:spPr>
          <a:xfrm>
            <a:off x="10756087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7" name="Shape 5"/>
          <p:cNvSpPr/>
          <p:nvPr/>
        </p:nvSpPr>
        <p:spPr>
          <a:xfrm>
            <a:off x="10966399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8" name="Shape 6"/>
          <p:cNvSpPr/>
          <p:nvPr/>
        </p:nvSpPr>
        <p:spPr>
          <a:xfrm>
            <a:off x="11176711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9" name="Shape 7"/>
          <p:cNvSpPr/>
          <p:nvPr/>
        </p:nvSpPr>
        <p:spPr>
          <a:xfrm>
            <a:off x="11387023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10" name="Text 1"/>
          <p:cNvSpPr/>
          <p:nvPr>
            <p:ph idx="101" type="title" hasCustomPrompt="1"/>
          </p:nvPr>
        </p:nvSpPr>
        <p:spPr>
          <a:xfrm>
            <a:off x="685800" y="713232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한 편 따라가기 ① 카페 30초 릴스: 기획 → 촬영</a:t>
            </a:r>
            <a:endParaRPr lang="en-US" sz="2800" dirty="0"/>
          </a:p>
        </p:txBody>
      </p:sp>
      <p:pic>
        <p:nvPicPr>
          <p:cNvPr id="12" name="Image 0" descr="카페 릴스 6컷 콘티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85800" y="1645920"/>
            <a:ext cx="5852160" cy="3904488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6812280" y="1645920"/>
            <a:ext cx="4693615" cy="1207008"/>
          </a:xfrm>
          <a:prstGeom prst="roundRect">
            <a:avLst>
              <a:gd name="adj" fmla="val 6061"/>
            </a:avLst>
          </a:prstGeom>
          <a:solidFill>
            <a:schemeClr val="bg2"/>
          </a:solidFill>
          <a:ln/>
        </p:spPr>
      </p:sp>
      <p:sp>
        <p:nvSpPr>
          <p:cNvPr id="14" name="Text 10"/>
          <p:cNvSpPr txBox="1"/>
          <p:nvPr/>
        </p:nvSpPr>
        <p:spPr>
          <a:xfrm>
            <a:off x="7040880" y="1764792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1 기획</a:t>
            </a:r>
            <a:endParaRPr lang="en-US" sz="1500" dirty="0"/>
          </a:p>
        </p:txBody>
      </p:sp>
      <p:sp>
        <p:nvSpPr>
          <p:cNvPr id="15" name="Text 11"/>
          <p:cNvSpPr txBox="1"/>
          <p:nvPr/>
        </p:nvSpPr>
        <p:spPr>
          <a:xfrm>
            <a:off x="7040880" y="2084832"/>
            <a:ext cx="4236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근처 직장인에게, 비 오는 날 창가 자리와 라떼를, 저장하고 찾아오게</a:t>
            </a:r>
            <a:endParaRPr lang="en-US" sz="1250" dirty="0"/>
          </a:p>
        </p:txBody>
      </p:sp>
      <p:sp>
        <p:nvSpPr>
          <p:cNvPr id="16" name="Text 12"/>
          <p:cNvSpPr txBox="1"/>
          <p:nvPr/>
        </p:nvSpPr>
        <p:spPr>
          <a:xfrm>
            <a:off x="7040880" y="2514600"/>
            <a:ext cx="4236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accent5"/>
                </a:solidFill>
              </a:rPr>
              <a:t>"비 오는 날, 여기 창가 자리 하나면 충분해요"</a:t>
            </a:r>
            <a:endParaRPr lang="en-US" sz="1150" dirty="0"/>
          </a:p>
        </p:txBody>
      </p:sp>
      <p:sp>
        <p:nvSpPr>
          <p:cNvPr id="17" name="Shape 13"/>
          <p:cNvSpPr/>
          <p:nvPr/>
        </p:nvSpPr>
        <p:spPr>
          <a:xfrm>
            <a:off x="6812280" y="2971800"/>
            <a:ext cx="4693615" cy="1207008"/>
          </a:xfrm>
          <a:prstGeom prst="roundRect">
            <a:avLst>
              <a:gd name="adj" fmla="val 6061"/>
            </a:avLst>
          </a:prstGeom>
          <a:solidFill>
            <a:schemeClr val="bg2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7040880" y="3090672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2 프리프로덕션</a:t>
            </a:r>
            <a:endParaRPr lang="en-US" sz="1500" dirty="0"/>
          </a:p>
        </p:txBody>
      </p:sp>
      <p:sp>
        <p:nvSpPr>
          <p:cNvPr id="19" name="Text 15"/>
          <p:cNvSpPr txBox="1"/>
          <p:nvPr/>
        </p:nvSpPr>
        <p:spPr>
          <a:xfrm>
            <a:off x="7040880" y="3410712"/>
            <a:ext cx="4236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6컷 콘티 · 샷 리스트 · 오전 창가빛 · 소품(우산, 젖은 창)</a:t>
            </a:r>
            <a:endParaRPr lang="en-US" sz="1250" dirty="0"/>
          </a:p>
        </p:txBody>
      </p:sp>
      <p:sp>
        <p:nvSpPr>
          <p:cNvPr id="20" name="Text 16"/>
          <p:cNvSpPr txBox="1"/>
          <p:nvPr/>
        </p:nvSpPr>
        <p:spPr>
          <a:xfrm>
            <a:off x="7040880" y="3840480"/>
            <a:ext cx="4236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accent5"/>
                </a:solidFill>
              </a:rPr>
              <a:t>산출물: 콘티 한 장, 샷 리스트</a:t>
            </a:r>
            <a:endParaRPr lang="en-US" sz="1150" dirty="0"/>
          </a:p>
        </p:txBody>
      </p:sp>
      <p:sp>
        <p:nvSpPr>
          <p:cNvPr id="21" name="Shape 17"/>
          <p:cNvSpPr/>
          <p:nvPr/>
        </p:nvSpPr>
        <p:spPr>
          <a:xfrm>
            <a:off x="6812280" y="4297680"/>
            <a:ext cx="4693615" cy="1207008"/>
          </a:xfrm>
          <a:prstGeom prst="roundRect">
            <a:avLst>
              <a:gd name="adj" fmla="val 6061"/>
            </a:avLst>
          </a:prstGeom>
          <a:solidFill>
            <a:schemeClr val="bg2"/>
          </a:solidFill>
          <a:ln/>
        </p:spPr>
      </p:sp>
      <p:sp>
        <p:nvSpPr>
          <p:cNvPr id="22" name="Text 18"/>
          <p:cNvSpPr txBox="1"/>
          <p:nvPr/>
        </p:nvSpPr>
        <p:spPr>
          <a:xfrm>
            <a:off x="7040880" y="4416552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3 촬영</a:t>
            </a:r>
            <a:endParaRPr lang="en-US" sz="1500" dirty="0"/>
          </a:p>
        </p:txBody>
      </p:sp>
      <p:sp>
        <p:nvSpPr>
          <p:cNvPr id="23" name="Text 19"/>
          <p:cNvSpPr txBox="1"/>
          <p:nvPr/>
        </p:nvSpPr>
        <p:spPr>
          <a:xfrm>
            <a:off x="7040880" y="4736592"/>
            <a:ext cx="4236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5샷 시퀀스 + B롤(빗방울, 김 오르는 컵) · 우유 붓기는 60fps · 룸톤 10초</a:t>
            </a:r>
            <a:endParaRPr lang="en-US" sz="1250" dirty="0"/>
          </a:p>
        </p:txBody>
      </p:sp>
      <p:sp>
        <p:nvSpPr>
          <p:cNvPr id="24" name="Text 20"/>
          <p:cNvSpPr txBox="1"/>
          <p:nvPr/>
        </p:nvSpPr>
        <p:spPr>
          <a:xfrm>
            <a:off x="7040880" y="5166360"/>
            <a:ext cx="4236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accent5"/>
                </a:solidFill>
              </a:rPr>
              <a:t>산출물: 클립 20~30개</a:t>
            </a:r>
            <a:endParaRPr lang="en-US" sz="1150" dirty="0"/>
          </a:p>
        </p:txBody>
      </p:sp>
      <p:sp>
        <p:nvSpPr>
          <p:cNvPr id="25" name="Text 21"/>
          <p:cNvSpPr txBox="1"/>
          <p:nvPr/>
        </p:nvSpPr>
        <p:spPr>
          <a:xfrm>
            <a:off x="685800" y="6144768"/>
            <a:ext cx="10058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가상의 예시입니다. 왼쪽 그림은 6컷 콘티(스토리보드).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A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91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2교시 · 영상 콘텐츠, 지금 어떻게 만들어지나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0125151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4" name="Shape 2"/>
          <p:cNvSpPr/>
          <p:nvPr/>
        </p:nvSpPr>
        <p:spPr>
          <a:xfrm>
            <a:off x="10335463" y="502920"/>
            <a:ext cx="118872" cy="1188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Shape 3"/>
          <p:cNvSpPr/>
          <p:nvPr/>
        </p:nvSpPr>
        <p:spPr>
          <a:xfrm>
            <a:off x="10545775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6" name="Shape 4"/>
          <p:cNvSpPr/>
          <p:nvPr/>
        </p:nvSpPr>
        <p:spPr>
          <a:xfrm>
            <a:off x="10756087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7" name="Shape 5"/>
          <p:cNvSpPr/>
          <p:nvPr/>
        </p:nvSpPr>
        <p:spPr>
          <a:xfrm>
            <a:off x="10966399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8" name="Shape 6"/>
          <p:cNvSpPr/>
          <p:nvPr/>
        </p:nvSpPr>
        <p:spPr>
          <a:xfrm>
            <a:off x="11176711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9" name="Shape 7"/>
          <p:cNvSpPr/>
          <p:nvPr/>
        </p:nvSpPr>
        <p:spPr>
          <a:xfrm>
            <a:off x="11387023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10" name="Text 1"/>
          <p:cNvSpPr/>
          <p:nvPr>
            <p:ph idx="101" type="title" hasCustomPrompt="1"/>
          </p:nvPr>
        </p:nvSpPr>
        <p:spPr>
          <a:xfrm>
            <a:off x="685800" y="713232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한 편 따라가기 ② 카페 30초 릴스: 편집 → 분석</a:t>
            </a:r>
            <a:endParaRPr lang="en-US" sz="2800" dirty="0"/>
          </a:p>
        </p:txBody>
      </p:sp>
      <p:sp>
        <p:nvSpPr>
          <p:cNvPr id="12" name="Shape 9"/>
          <p:cNvSpPr/>
          <p:nvPr/>
        </p:nvSpPr>
        <p:spPr>
          <a:xfrm>
            <a:off x="685800" y="1600200"/>
            <a:ext cx="2514600" cy="4434840"/>
          </a:xfrm>
          <a:prstGeom prst="roundRect">
            <a:avLst>
              <a:gd name="adj" fmla="val 8000"/>
            </a:avLst>
          </a:prstGeom>
          <a:solidFill>
            <a:srgbClr val="0E1110"/>
          </a:solidFill>
          <a:ln/>
        </p:spPr>
      </p:sp>
      <p:pic>
        <p:nvPicPr>
          <p:cNvPr id="13" name="Image 0" descr="카페 릴스 완성 장면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77240" y="1691640"/>
            <a:ext cx="2331720" cy="4251960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3520440" y="16916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0초</a:t>
            </a:r>
            <a:endParaRPr lang="en-US" sz="1100" dirty="0"/>
          </a:p>
        </p:txBody>
      </p:sp>
      <p:sp>
        <p:nvSpPr>
          <p:cNvPr id="15" name="Text 11"/>
          <p:cNvSpPr txBox="1"/>
          <p:nvPr/>
        </p:nvSpPr>
        <p:spPr>
          <a:xfrm>
            <a:off x="10957255" y="16916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30초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3520440" y="2011680"/>
            <a:ext cx="761970" cy="457200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17" name="Text 13"/>
          <p:cNvSpPr txBox="1"/>
          <p:nvPr/>
        </p:nvSpPr>
        <p:spPr>
          <a:xfrm>
            <a:off x="3593592" y="2011680"/>
            <a:ext cx="67053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훅</a:t>
            </a:r>
            <a:endParaRPr lang="en-US" sz="1200" dirty="0"/>
          </a:p>
        </p:txBody>
      </p:sp>
      <p:sp>
        <p:nvSpPr>
          <p:cNvPr id="18" name="Shape 14"/>
          <p:cNvSpPr/>
          <p:nvPr/>
        </p:nvSpPr>
        <p:spPr>
          <a:xfrm>
            <a:off x="4318986" y="2011680"/>
            <a:ext cx="5553243" cy="457200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19" name="Text 15"/>
          <p:cNvSpPr txBox="1"/>
          <p:nvPr/>
        </p:nvSpPr>
        <p:spPr>
          <a:xfrm>
            <a:off x="4392138" y="2011680"/>
            <a:ext cx="546180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본론</a:t>
            </a:r>
            <a:endParaRPr lang="en-US" sz="1200" dirty="0"/>
          </a:p>
        </p:txBody>
      </p:sp>
      <p:sp>
        <p:nvSpPr>
          <p:cNvPr id="20" name="Shape 16"/>
          <p:cNvSpPr/>
          <p:nvPr/>
        </p:nvSpPr>
        <p:spPr>
          <a:xfrm>
            <a:off x="9908804" y="2011680"/>
            <a:ext cx="1560515" cy="45720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21" name="Text 17"/>
          <p:cNvSpPr txBox="1"/>
          <p:nvPr/>
        </p:nvSpPr>
        <p:spPr>
          <a:xfrm>
            <a:off x="9981956" y="2011680"/>
            <a:ext cx="14690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마무리</a:t>
            </a:r>
            <a:endParaRPr lang="en-US" sz="1200" dirty="0"/>
          </a:p>
        </p:txBody>
      </p:sp>
      <p:sp>
        <p:nvSpPr>
          <p:cNvPr id="22" name="Text 18"/>
          <p:cNvSpPr txBox="1"/>
          <p:nvPr/>
        </p:nvSpPr>
        <p:spPr>
          <a:xfrm>
            <a:off x="3520440" y="2560320"/>
            <a:ext cx="7985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0–3초 훅: 우유가 퍼지는 슬로   ·   3–24초 본론: 창가 · 손 · 표정 · 컵   ·   24–30초 마무리: 간판 + "저장해 두세요"</a:t>
            </a:r>
            <a:endParaRPr lang="en-US" sz="1100" dirty="0"/>
          </a:p>
        </p:txBody>
      </p:sp>
      <p:sp>
        <p:nvSpPr>
          <p:cNvPr id="23" name="Shape 19"/>
          <p:cNvSpPr/>
          <p:nvPr/>
        </p:nvSpPr>
        <p:spPr>
          <a:xfrm>
            <a:off x="3520440" y="3017520"/>
            <a:ext cx="3878428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/>
        </p:spPr>
      </p:sp>
      <p:sp>
        <p:nvSpPr>
          <p:cNvPr id="24" name="Text 20"/>
          <p:cNvSpPr txBox="1"/>
          <p:nvPr/>
        </p:nvSpPr>
        <p:spPr>
          <a:xfrm>
            <a:off x="3749040" y="3154680"/>
            <a:ext cx="34212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4 편집</a:t>
            </a:r>
            <a:endParaRPr lang="en-US" sz="1500" dirty="0"/>
          </a:p>
        </p:txBody>
      </p:sp>
      <p:sp>
        <p:nvSpPr>
          <p:cNvPr id="25" name="Text 21"/>
          <p:cNvSpPr txBox="1"/>
          <p:nvPr/>
        </p:nvSpPr>
        <p:spPr>
          <a:xfrm>
            <a:off x="3749040" y="3520440"/>
            <a:ext cx="34212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훅 3초 → 본론 → 마무리 · 자막 3역할 · 음악 30~50%</a:t>
            </a:r>
            <a:endParaRPr lang="en-US" sz="1250" dirty="0"/>
          </a:p>
        </p:txBody>
      </p:sp>
      <p:sp>
        <p:nvSpPr>
          <p:cNvPr id="26" name="Shape 22"/>
          <p:cNvSpPr/>
          <p:nvPr/>
        </p:nvSpPr>
        <p:spPr>
          <a:xfrm>
            <a:off x="7627468" y="3017520"/>
            <a:ext cx="3878428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/>
        </p:spPr>
      </p:sp>
      <p:sp>
        <p:nvSpPr>
          <p:cNvPr id="27" name="Text 23"/>
          <p:cNvSpPr txBox="1"/>
          <p:nvPr/>
        </p:nvSpPr>
        <p:spPr>
          <a:xfrm>
            <a:off x="7856068" y="3154680"/>
            <a:ext cx="34212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5 마스터링</a:t>
            </a:r>
            <a:endParaRPr lang="en-US" sz="1500" dirty="0"/>
          </a:p>
        </p:txBody>
      </p:sp>
      <p:sp>
        <p:nvSpPr>
          <p:cNvPr id="28" name="Text 24"/>
          <p:cNvSpPr txBox="1"/>
          <p:nvPr/>
        </p:nvSpPr>
        <p:spPr>
          <a:xfrm>
            <a:off x="7856068" y="3520440"/>
            <a:ext cx="34212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목소리 &gt; 음악 · 컷마다 색 통일 · 오탈자 · 1080×1920</a:t>
            </a:r>
            <a:endParaRPr lang="en-US" sz="1250" dirty="0"/>
          </a:p>
        </p:txBody>
      </p:sp>
      <p:sp>
        <p:nvSpPr>
          <p:cNvPr id="29" name="Shape 25"/>
          <p:cNvSpPr/>
          <p:nvPr/>
        </p:nvSpPr>
        <p:spPr>
          <a:xfrm>
            <a:off x="3520440" y="4480560"/>
            <a:ext cx="3878428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/>
        </p:spPr>
      </p:sp>
      <p:sp>
        <p:nvSpPr>
          <p:cNvPr id="30" name="Text 26"/>
          <p:cNvSpPr txBox="1"/>
          <p:nvPr/>
        </p:nvSpPr>
        <p:spPr>
          <a:xfrm>
            <a:off x="3749040" y="4617720"/>
            <a:ext cx="34212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6 발행</a:t>
            </a:r>
            <a:endParaRPr lang="en-US" sz="1500" dirty="0"/>
          </a:p>
        </p:txBody>
      </p:sp>
      <p:sp>
        <p:nvSpPr>
          <p:cNvPr id="31" name="Text 27"/>
          <p:cNvSpPr txBox="1"/>
          <p:nvPr/>
        </p:nvSpPr>
        <p:spPr>
          <a:xfrm>
            <a:off x="3749040" y="4983480"/>
            <a:ext cx="34212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커버 · 캡션 첫 줄 = 훅 · 해시태그 2~3개 · 위치 태그 · AI 표시</a:t>
            </a:r>
            <a:endParaRPr lang="en-US" sz="1250" dirty="0"/>
          </a:p>
        </p:txBody>
      </p:sp>
      <p:sp>
        <p:nvSpPr>
          <p:cNvPr id="32" name="Shape 28"/>
          <p:cNvSpPr/>
          <p:nvPr/>
        </p:nvSpPr>
        <p:spPr>
          <a:xfrm>
            <a:off x="7627468" y="4480560"/>
            <a:ext cx="3878428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/>
        </p:spPr>
      </p:sp>
      <p:sp>
        <p:nvSpPr>
          <p:cNvPr id="33" name="Text 29"/>
          <p:cNvSpPr txBox="1"/>
          <p:nvPr/>
        </p:nvSpPr>
        <p:spPr>
          <a:xfrm>
            <a:off x="7856068" y="4617720"/>
            <a:ext cx="34212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7 분석</a:t>
            </a:r>
            <a:endParaRPr lang="en-US" sz="1500" dirty="0"/>
          </a:p>
        </p:txBody>
      </p:sp>
      <p:sp>
        <p:nvSpPr>
          <p:cNvPr id="34" name="Text 30"/>
          <p:cNvSpPr txBox="1"/>
          <p:nvPr/>
        </p:nvSpPr>
        <p:spPr>
          <a:xfrm>
            <a:off x="7856068" y="4983480"/>
            <a:ext cx="34212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3초에 몇 명이 넘겼나 · 저장 수 → 다음 기획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A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91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2교시 · 영상 콘텐츠, 지금 어떻게 만들어지나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0125151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4" name="Shape 2"/>
          <p:cNvSpPr/>
          <p:nvPr/>
        </p:nvSpPr>
        <p:spPr>
          <a:xfrm>
            <a:off x="10335463" y="502920"/>
            <a:ext cx="118872" cy="1188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Shape 3"/>
          <p:cNvSpPr/>
          <p:nvPr/>
        </p:nvSpPr>
        <p:spPr>
          <a:xfrm>
            <a:off x="10545775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6" name="Shape 4"/>
          <p:cNvSpPr/>
          <p:nvPr/>
        </p:nvSpPr>
        <p:spPr>
          <a:xfrm>
            <a:off x="10756087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7" name="Shape 5"/>
          <p:cNvSpPr/>
          <p:nvPr/>
        </p:nvSpPr>
        <p:spPr>
          <a:xfrm>
            <a:off x="10966399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8" name="Shape 6"/>
          <p:cNvSpPr/>
          <p:nvPr/>
        </p:nvSpPr>
        <p:spPr>
          <a:xfrm>
            <a:off x="11176711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9" name="Shape 7"/>
          <p:cNvSpPr/>
          <p:nvPr/>
        </p:nvSpPr>
        <p:spPr>
          <a:xfrm>
            <a:off x="11387023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10" name="Text 1"/>
          <p:cNvSpPr/>
          <p:nvPr>
            <p:ph idx="101" type="title" hasCustomPrompt="1"/>
          </p:nvPr>
        </p:nvSpPr>
        <p:spPr>
          <a:xfrm>
            <a:off x="685800" y="713232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프로덕션 현장 vs 1인 크리에이터</a:t>
            </a:r>
            <a:endParaRPr lang="en-US" sz="2800" dirty="0"/>
          </a:p>
        </p:txBody>
      </p:sp>
      <p:sp>
        <p:nvSpPr>
          <p:cNvPr id="12" name="Shape 9"/>
          <p:cNvSpPr/>
          <p:nvPr/>
        </p:nvSpPr>
        <p:spPr>
          <a:xfrm>
            <a:off x="685800" y="1645920"/>
            <a:ext cx="5227168" cy="3931920"/>
          </a:xfrm>
          <a:prstGeom prst="roundRect">
            <a:avLst>
              <a:gd name="adj" fmla="val 1860"/>
            </a:avLst>
          </a:prstGeom>
          <a:solidFill>
            <a:schemeClr val="bg2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1005840" y="1874520"/>
            <a:ext cx="45870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프로덕션 현장</a:t>
            </a:r>
            <a:endParaRPr lang="en-US" sz="1900" dirty="0"/>
          </a:p>
        </p:txBody>
      </p:sp>
      <p:sp>
        <p:nvSpPr>
          <p:cNvPr id="14" name="Text 11"/>
          <p:cNvSpPr txBox="1"/>
          <p:nvPr/>
        </p:nvSpPr>
        <p:spPr>
          <a:xfrm>
            <a:off x="1005840" y="2286000"/>
            <a:ext cx="4587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accent5"/>
                </a:solidFill>
              </a:rPr>
              <a:t>역할마다 사람이 따로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1005840" y="2743200"/>
            <a:ext cx="2156384" cy="5120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DE4E0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1005840" y="2743200"/>
            <a:ext cx="215638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기획 PD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3436544" y="2743200"/>
            <a:ext cx="2156384" cy="5120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DE4E0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3436544" y="2743200"/>
            <a:ext cx="215638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작가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1005840" y="3401568"/>
            <a:ext cx="2156384" cy="5120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DE4E0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005840" y="3401568"/>
            <a:ext cx="215638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촬영감독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3436544" y="3401568"/>
            <a:ext cx="2156384" cy="5120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DE4E0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3436544" y="3401568"/>
            <a:ext cx="215638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조명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1005840" y="4059936"/>
            <a:ext cx="2156384" cy="5120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DE4E0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1005840" y="4059936"/>
            <a:ext cx="215638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음향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3436544" y="4059936"/>
            <a:ext cx="2156384" cy="5120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DE4E0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3436544" y="4059936"/>
            <a:ext cx="215638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편집자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1005840" y="4718304"/>
            <a:ext cx="2156384" cy="5120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DE4E0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1005840" y="4718304"/>
            <a:ext cx="215638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컬러리스트</a:t>
            </a:r>
            <a:endParaRPr lang="en-US" sz="1400" dirty="0"/>
          </a:p>
        </p:txBody>
      </p:sp>
      <p:sp>
        <p:nvSpPr>
          <p:cNvPr id="29" name="Shape 26"/>
          <p:cNvSpPr/>
          <p:nvPr/>
        </p:nvSpPr>
        <p:spPr>
          <a:xfrm>
            <a:off x="3436544" y="4718304"/>
            <a:ext cx="2156384" cy="5120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DE4E0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3436544" y="4718304"/>
            <a:ext cx="215638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마케터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6278728" y="1645920"/>
            <a:ext cx="5227168" cy="3931920"/>
          </a:xfrm>
          <a:prstGeom prst="roundRect">
            <a:avLst>
              <a:gd name="adj" fmla="val 1860"/>
            </a:avLst>
          </a:prstGeom>
          <a:solidFill>
            <a:schemeClr val="tx2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6598768" y="1874520"/>
            <a:ext cx="45870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1인 크리에이터</a:t>
            </a:r>
            <a:endParaRPr lang="en-US" sz="1900" dirty="0"/>
          </a:p>
        </p:txBody>
      </p:sp>
      <p:sp>
        <p:nvSpPr>
          <p:cNvPr id="33" name="Text 30"/>
          <p:cNvSpPr txBox="1"/>
          <p:nvPr/>
        </p:nvSpPr>
        <p:spPr>
          <a:xfrm>
            <a:off x="6598768" y="2286000"/>
            <a:ext cx="4587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C9D3CE"/>
                </a:solidFill>
              </a:rPr>
              <a:t>같은 역할을 혼자</a:t>
            </a:r>
            <a:endParaRPr lang="en-US" sz="1250" dirty="0"/>
          </a:p>
        </p:txBody>
      </p:sp>
      <p:sp>
        <p:nvSpPr>
          <p:cNvPr id="34" name="Text 31"/>
          <p:cNvSpPr txBox="1"/>
          <p:nvPr/>
        </p:nvSpPr>
        <p:spPr>
          <a:xfrm>
            <a:off x="6598768" y="2834640"/>
            <a:ext cx="1371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0" b="1" dirty="0">
                <a:solidFill>
                  <a:schemeClr val="bg1"/>
                </a:solidFill>
              </a:rPr>
              <a:t>나</a:t>
            </a:r>
            <a:endParaRPr lang="en-US" sz="7000" dirty="0"/>
          </a:p>
        </p:txBody>
      </p:sp>
      <p:sp>
        <p:nvSpPr>
          <p:cNvPr id="35" name="Text 32"/>
          <p:cNvSpPr txBox="1"/>
          <p:nvPr/>
        </p:nvSpPr>
        <p:spPr>
          <a:xfrm>
            <a:off x="7878928" y="2834640"/>
            <a:ext cx="731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5400" b="1" dirty="0">
                <a:solidFill>
                  <a:schemeClr val="accent6"/>
                </a:solidFill>
              </a:rPr>
              <a:t>+</a:t>
            </a:r>
            <a:endParaRPr lang="en-US" sz="5400" dirty="0"/>
          </a:p>
        </p:txBody>
      </p:sp>
      <p:sp>
        <p:nvSpPr>
          <p:cNvPr id="36" name="Text 33"/>
          <p:cNvSpPr txBox="1"/>
          <p:nvPr/>
        </p:nvSpPr>
        <p:spPr>
          <a:xfrm>
            <a:off x="8656168" y="2834640"/>
            <a:ext cx="2011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0" b="1" dirty="0">
                <a:solidFill>
                  <a:schemeClr val="accent1"/>
                </a:solidFill>
              </a:rPr>
              <a:t>AI</a:t>
            </a:r>
            <a:endParaRPr lang="en-US" sz="7000" dirty="0"/>
          </a:p>
        </p:txBody>
      </p:sp>
      <p:sp>
        <p:nvSpPr>
          <p:cNvPr id="37" name="Text 34"/>
          <p:cNvSpPr txBox="1"/>
          <p:nvPr/>
        </p:nvSpPr>
        <p:spPr>
          <a:xfrm>
            <a:off x="6598768" y="4297680"/>
            <a:ext cx="458708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9D3CE"/>
                </a:solidFill>
              </a:rPr>
              <a:t>아이디어 · 대본 초안 · 자막 · 보정은 AI가 거들고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C9D3CE"/>
                </a:solidFill>
              </a:rPr>
              <a:t>정하고 고르고 책임지는 건 내가</a:t>
            </a:r>
            <a:endParaRPr lang="en-US" sz="1400" dirty="0"/>
          </a:p>
        </p:txBody>
      </p:sp>
      <p:sp>
        <p:nvSpPr>
          <p:cNvPr id="38" name="Shape 35"/>
          <p:cNvSpPr/>
          <p:nvPr/>
        </p:nvSpPr>
        <p:spPr>
          <a:xfrm>
            <a:off x="685800" y="5715000"/>
            <a:ext cx="10820095" cy="512064"/>
          </a:xfrm>
          <a:prstGeom prst="roundRect">
            <a:avLst>
              <a:gd name="adj" fmla="val 14286"/>
            </a:avLst>
          </a:prstGeom>
          <a:solidFill>
            <a:schemeClr val="accent6"/>
          </a:solidFill>
          <a:ln/>
        </p:spPr>
      </p:sp>
      <p:sp>
        <p:nvSpPr>
          <p:cNvPr id="39" name="Text 36"/>
          <p:cNvSpPr txBox="1"/>
          <p:nvPr/>
        </p:nvSpPr>
        <p:spPr>
          <a:xfrm>
            <a:off x="960120" y="5715000"/>
            <a:ext cx="1027145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역할은 똑같다. 사람 수만 다르다. 그래서 1인 크리에이터에게 AI는 팀원이다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A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91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2교시 · 영상 콘텐츠, 지금 어떻게 만들어지나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0125151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4" name="Shape 2"/>
          <p:cNvSpPr/>
          <p:nvPr/>
        </p:nvSpPr>
        <p:spPr>
          <a:xfrm>
            <a:off x="10335463" y="502920"/>
            <a:ext cx="118872" cy="1188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Shape 3"/>
          <p:cNvSpPr/>
          <p:nvPr/>
        </p:nvSpPr>
        <p:spPr>
          <a:xfrm>
            <a:off x="10545775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6" name="Shape 4"/>
          <p:cNvSpPr/>
          <p:nvPr/>
        </p:nvSpPr>
        <p:spPr>
          <a:xfrm>
            <a:off x="10756087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7" name="Shape 5"/>
          <p:cNvSpPr/>
          <p:nvPr/>
        </p:nvSpPr>
        <p:spPr>
          <a:xfrm>
            <a:off x="10966399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8" name="Shape 6"/>
          <p:cNvSpPr/>
          <p:nvPr/>
        </p:nvSpPr>
        <p:spPr>
          <a:xfrm>
            <a:off x="11176711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9" name="Shape 7"/>
          <p:cNvSpPr/>
          <p:nvPr/>
        </p:nvSpPr>
        <p:spPr>
          <a:xfrm>
            <a:off x="11387023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10" name="Text 1"/>
          <p:cNvSpPr/>
          <p:nvPr>
            <p:ph idx="101" type="title" hasCustomPrompt="1"/>
          </p:nvPr>
        </p:nvSpPr>
        <p:spPr>
          <a:xfrm>
            <a:off x="685800" y="713232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AI가 바꾼 제작 과정</a:t>
            </a:r>
            <a:endParaRPr lang="en-US" sz="28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645920"/>
          <a:ext cx="10820095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3931920"/>
                <a:gridCol w="3566160"/>
                <a:gridCol w="1493215"/>
              </a:tblGrid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chemeClr val="bg1"/>
                          </a:solidFill>
                        </a:rPr>
                        <a:t>단계</a:t>
                      </a:r>
                      <a:endParaRPr lang="en-US" sz="13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chemeClr val="bg1"/>
                          </a:solidFill>
                        </a:rPr>
                        <a:t>AI가 거드는 일</a:t>
                      </a:r>
                      <a:endParaRPr lang="en-US" sz="13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chemeClr val="bg1"/>
                          </a:solidFill>
                        </a:rPr>
                        <a:t>사람이 하는 일</a:t>
                      </a:r>
                      <a:endParaRPr lang="en-US" sz="13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chemeClr val="bg1"/>
                          </a:solidFill>
                        </a:rPr>
                        <a:t>배우는 회차</a:t>
                      </a:r>
                      <a:endParaRPr lang="en-US" sz="13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기획</a:t>
                      </a:r>
                      <a:endParaRPr lang="en-US" sz="13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아이디어 후보 · 레퍼런스 정리 · 대본 초안</a:t>
                      </a:r>
                      <a:endParaRPr lang="en-US" sz="13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무엇을 왜 만들지, 최종 선택</a:t>
                      </a:r>
                      <a:endParaRPr lang="en-US" sz="13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2회</a:t>
                      </a:r>
                      <a:endParaRPr lang="en-US" sz="13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프리프로덕션</a:t>
                      </a:r>
                      <a:endParaRPr lang="en-US" sz="13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콘티 그림 · 샷 리스트</a:t>
                      </a:r>
                      <a:endParaRPr lang="en-US" sz="13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장소 · 사람 섭외, 현장 판단</a:t>
                      </a:r>
                      <a:endParaRPr lang="en-US" sz="13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2회</a:t>
                      </a:r>
                      <a:endParaRPr lang="en-US" sz="13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촬영</a:t>
                      </a:r>
                      <a:endParaRPr lang="en-US" sz="13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구도 피드백 · 찍을 수 없는 장면 생성</a:t>
                      </a:r>
                      <a:endParaRPr lang="en-US" sz="13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진짜 장소 · 사람 · 감정을 담기</a:t>
                      </a:r>
                      <a:endParaRPr lang="en-US" sz="13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1 · 4회</a:t>
                      </a:r>
                      <a:endParaRPr lang="en-US" sz="13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편집</a:t>
                      </a:r>
                      <a:endParaRPr lang="en-US" sz="13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자동 자막 · 잡음 제거 · 컷 제안</a:t>
                      </a:r>
                      <a:endParaRPr lang="en-US" sz="13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어디서 자르고 무엇을 강조할지</a:t>
                      </a:r>
                      <a:endParaRPr lang="en-US" sz="13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3 · 5회</a:t>
                      </a:r>
                      <a:endParaRPr lang="en-US" sz="13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마스터링</a:t>
                      </a:r>
                      <a:endParaRPr lang="en-US" sz="13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음량 · 색 자동 보정</a:t>
                      </a:r>
                      <a:endParaRPr lang="en-US" sz="13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끝까지 보고 최종 검수</a:t>
                      </a:r>
                      <a:endParaRPr lang="en-US" sz="13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5회</a:t>
                      </a:r>
                      <a:endParaRPr lang="en-US" sz="13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발행</a:t>
                      </a:r>
                      <a:endParaRPr lang="en-US" sz="13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제목 · 캡션 · 썸네일 문구 후보</a:t>
                      </a:r>
                      <a:endParaRPr lang="en-US" sz="13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약속 지키기, AI 사용 표시</a:t>
                      </a:r>
                      <a:endParaRPr lang="en-US" sz="13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2 · 5회</a:t>
                      </a:r>
                      <a:endParaRPr lang="en-US" sz="13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분석</a:t>
                      </a:r>
                      <a:endParaRPr lang="en-US" sz="13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지표 요약</a:t>
                      </a:r>
                      <a:endParaRPr lang="en-US" sz="13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다음 기획 결정</a:t>
                      </a:r>
                      <a:endParaRPr lang="en-US" sz="13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5회</a:t>
                      </a:r>
                      <a:endParaRPr lang="en-US" sz="135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A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91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2교시 · 영상 콘텐츠, 지금 어떻게 만들어지나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0125151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4" name="Shape 2"/>
          <p:cNvSpPr/>
          <p:nvPr/>
        </p:nvSpPr>
        <p:spPr>
          <a:xfrm>
            <a:off x="10335463" y="502920"/>
            <a:ext cx="118872" cy="1188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Shape 3"/>
          <p:cNvSpPr/>
          <p:nvPr/>
        </p:nvSpPr>
        <p:spPr>
          <a:xfrm>
            <a:off x="10545775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6" name="Shape 4"/>
          <p:cNvSpPr/>
          <p:nvPr/>
        </p:nvSpPr>
        <p:spPr>
          <a:xfrm>
            <a:off x="10756087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7" name="Shape 5"/>
          <p:cNvSpPr/>
          <p:nvPr/>
        </p:nvSpPr>
        <p:spPr>
          <a:xfrm>
            <a:off x="10966399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8" name="Shape 6"/>
          <p:cNvSpPr/>
          <p:nvPr/>
        </p:nvSpPr>
        <p:spPr>
          <a:xfrm>
            <a:off x="11176711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9" name="Shape 7"/>
          <p:cNvSpPr/>
          <p:nvPr/>
        </p:nvSpPr>
        <p:spPr>
          <a:xfrm>
            <a:off x="11387023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10" name="Text 1"/>
          <p:cNvSpPr/>
          <p:nvPr>
            <p:ph idx="101" type="title" hasCustomPrompt="1"/>
          </p:nvPr>
        </p:nvSpPr>
        <p:spPr>
          <a:xfrm>
            <a:off x="685800" y="713232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편집 다음에 오는 것: 마스터링</a:t>
            </a:r>
            <a:endParaRPr lang="en-US" sz="2800" dirty="0"/>
          </a:p>
        </p:txBody>
      </p:sp>
      <p:sp>
        <p:nvSpPr>
          <p:cNvPr id="12" name="Shape 9"/>
          <p:cNvSpPr/>
          <p:nvPr/>
        </p:nvSpPr>
        <p:spPr>
          <a:xfrm>
            <a:off x="685800" y="1645920"/>
            <a:ext cx="1981139" cy="3063240"/>
          </a:xfrm>
          <a:prstGeom prst="roundRect">
            <a:avLst>
              <a:gd name="adj" fmla="val 3692"/>
            </a:avLst>
          </a:prstGeom>
          <a:solidFill>
            <a:schemeClr val="bg2"/>
          </a:solidFill>
          <a:ln/>
        </p:spPr>
      </p:sp>
      <p:sp>
        <p:nvSpPr>
          <p:cNvPr id="13" name="Shape 10"/>
          <p:cNvSpPr/>
          <p:nvPr/>
        </p:nvSpPr>
        <p:spPr>
          <a:xfrm>
            <a:off x="960120" y="1920240"/>
            <a:ext cx="566928" cy="566928"/>
          </a:xfrm>
          <a:prstGeom prst="ellipse">
            <a:avLst/>
          </a:prstGeom>
          <a:solidFill>
            <a:srgbClr val="E6EEE9"/>
          </a:solidFill>
          <a:ln/>
        </p:spPr>
      </p:sp>
      <p:pic>
        <p:nvPicPr>
          <p:cNvPr id="14" name="Image 0" descr="FaVolumeU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7521" y="2067641"/>
            <a:ext cx="272125" cy="272125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960120" y="2633472"/>
            <a:ext cx="143249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소리 크기</a:t>
            </a:r>
            <a:endParaRPr lang="en-US" sz="1500" dirty="0"/>
          </a:p>
        </p:txBody>
      </p:sp>
      <p:sp>
        <p:nvSpPr>
          <p:cNvPr id="16" name="Text 12"/>
          <p:cNvSpPr txBox="1"/>
          <p:nvPr/>
        </p:nvSpPr>
        <p:spPr>
          <a:xfrm>
            <a:off x="960120" y="3063240"/>
            <a:ext cx="1432499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accent5"/>
                </a:solidFill>
              </a:rPr>
              <a:t>목소리 &gt; 음악. 플랫폼이 음량을 맞추니 무작정 키우지 않기</a:t>
            </a:r>
            <a:endParaRPr lang="en-US" sz="1250" dirty="0"/>
          </a:p>
        </p:txBody>
      </p:sp>
      <p:sp>
        <p:nvSpPr>
          <p:cNvPr id="17" name="Shape 13"/>
          <p:cNvSpPr/>
          <p:nvPr/>
        </p:nvSpPr>
        <p:spPr>
          <a:xfrm>
            <a:off x="2895539" y="1645920"/>
            <a:ext cx="1981139" cy="3063240"/>
          </a:xfrm>
          <a:prstGeom prst="roundRect">
            <a:avLst>
              <a:gd name="adj" fmla="val 3692"/>
            </a:avLst>
          </a:prstGeom>
          <a:solidFill>
            <a:schemeClr val="bg2"/>
          </a:solidFill>
          <a:ln/>
        </p:spPr>
      </p:sp>
      <p:sp>
        <p:nvSpPr>
          <p:cNvPr id="18" name="Shape 14"/>
          <p:cNvSpPr/>
          <p:nvPr/>
        </p:nvSpPr>
        <p:spPr>
          <a:xfrm>
            <a:off x="3169859" y="1920240"/>
            <a:ext cx="566928" cy="566928"/>
          </a:xfrm>
          <a:prstGeom prst="ellipse">
            <a:avLst/>
          </a:prstGeom>
          <a:solidFill>
            <a:srgbClr val="E6EEE9"/>
          </a:solidFill>
          <a:ln/>
        </p:spPr>
      </p:sp>
      <p:pic>
        <p:nvPicPr>
          <p:cNvPr id="19" name="Image 1" descr="FaPalett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17260" y="2067641"/>
            <a:ext cx="272125" cy="272125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3169859" y="2633472"/>
            <a:ext cx="143249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색 · 밝기</a:t>
            </a:r>
            <a:endParaRPr lang="en-US" sz="1500" dirty="0"/>
          </a:p>
        </p:txBody>
      </p:sp>
      <p:sp>
        <p:nvSpPr>
          <p:cNvPr id="21" name="Text 16"/>
          <p:cNvSpPr txBox="1"/>
          <p:nvPr/>
        </p:nvSpPr>
        <p:spPr>
          <a:xfrm>
            <a:off x="3169859" y="3063240"/>
            <a:ext cx="1432499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accent5"/>
                </a:solidFill>
              </a:rPr>
              <a:t>클립마다 톤을 한 가지로</a:t>
            </a:r>
            <a:endParaRPr lang="en-US" sz="1250" dirty="0"/>
          </a:p>
        </p:txBody>
      </p:sp>
      <p:sp>
        <p:nvSpPr>
          <p:cNvPr id="22" name="Shape 17"/>
          <p:cNvSpPr/>
          <p:nvPr/>
        </p:nvSpPr>
        <p:spPr>
          <a:xfrm>
            <a:off x="5105278" y="1645920"/>
            <a:ext cx="1981139" cy="3063240"/>
          </a:xfrm>
          <a:prstGeom prst="roundRect">
            <a:avLst>
              <a:gd name="adj" fmla="val 3692"/>
            </a:avLst>
          </a:prstGeom>
          <a:solidFill>
            <a:schemeClr val="bg2"/>
          </a:solidFill>
          <a:ln/>
        </p:spPr>
      </p:sp>
      <p:sp>
        <p:nvSpPr>
          <p:cNvPr id="23" name="Shape 18"/>
          <p:cNvSpPr/>
          <p:nvPr/>
        </p:nvSpPr>
        <p:spPr>
          <a:xfrm>
            <a:off x="5379598" y="1920240"/>
            <a:ext cx="566928" cy="566928"/>
          </a:xfrm>
          <a:prstGeom prst="ellipse">
            <a:avLst/>
          </a:prstGeom>
          <a:solidFill>
            <a:srgbClr val="E6EEE9"/>
          </a:solidFill>
          <a:ln/>
        </p:spPr>
      </p:sp>
      <p:pic>
        <p:nvPicPr>
          <p:cNvPr id="24" name="Image 2" descr="FaFon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26999" y="2067641"/>
            <a:ext cx="272125" cy="272125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5379598" y="2633472"/>
            <a:ext cx="143249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자막 점검</a:t>
            </a:r>
            <a:endParaRPr lang="en-US" sz="1500" dirty="0"/>
          </a:p>
        </p:txBody>
      </p:sp>
      <p:sp>
        <p:nvSpPr>
          <p:cNvPr id="26" name="Text 20"/>
          <p:cNvSpPr txBox="1"/>
          <p:nvPr/>
        </p:nvSpPr>
        <p:spPr>
          <a:xfrm>
            <a:off x="5379598" y="3063240"/>
            <a:ext cx="1432499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accent5"/>
                </a:solidFill>
              </a:rPr>
              <a:t>오탈자, 잘린 글자, 버튼에 가리는 위치</a:t>
            </a:r>
            <a:endParaRPr lang="en-US" sz="1250" dirty="0"/>
          </a:p>
        </p:txBody>
      </p:sp>
      <p:sp>
        <p:nvSpPr>
          <p:cNvPr id="27" name="Shape 21"/>
          <p:cNvSpPr/>
          <p:nvPr/>
        </p:nvSpPr>
        <p:spPr>
          <a:xfrm>
            <a:off x="7315017" y="1645920"/>
            <a:ext cx="1981139" cy="3063240"/>
          </a:xfrm>
          <a:prstGeom prst="roundRect">
            <a:avLst>
              <a:gd name="adj" fmla="val 3692"/>
            </a:avLst>
          </a:prstGeom>
          <a:solidFill>
            <a:schemeClr val="bg2"/>
          </a:solidFill>
          <a:ln/>
        </p:spPr>
      </p:sp>
      <p:sp>
        <p:nvSpPr>
          <p:cNvPr id="28" name="Shape 22"/>
          <p:cNvSpPr/>
          <p:nvPr/>
        </p:nvSpPr>
        <p:spPr>
          <a:xfrm>
            <a:off x="7589337" y="1920240"/>
            <a:ext cx="566928" cy="566928"/>
          </a:xfrm>
          <a:prstGeom prst="ellipse">
            <a:avLst/>
          </a:prstGeom>
          <a:solidFill>
            <a:srgbClr val="E6EEE9"/>
          </a:solidFill>
          <a:ln/>
        </p:spPr>
      </p:sp>
      <p:pic>
        <p:nvPicPr>
          <p:cNvPr id="29" name="Image 3" descr="FaExpand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36738" y="2067641"/>
            <a:ext cx="272125" cy="272125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7589337" y="2633472"/>
            <a:ext cx="143249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내보내기 규격</a:t>
            </a:r>
            <a:endParaRPr lang="en-US" sz="1500" dirty="0"/>
          </a:p>
        </p:txBody>
      </p:sp>
      <p:sp>
        <p:nvSpPr>
          <p:cNvPr id="31" name="Text 24"/>
          <p:cNvSpPr txBox="1"/>
          <p:nvPr/>
        </p:nvSpPr>
        <p:spPr>
          <a:xfrm>
            <a:off x="7589337" y="3063240"/>
            <a:ext cx="1432499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accent5"/>
                </a:solidFill>
              </a:rPr>
              <a:t>해상도 · 프레임 · 비율</a:t>
            </a:r>
            <a:endParaRPr lang="en-US" sz="1250" dirty="0"/>
          </a:p>
        </p:txBody>
      </p:sp>
      <p:sp>
        <p:nvSpPr>
          <p:cNvPr id="32" name="Shape 25"/>
          <p:cNvSpPr/>
          <p:nvPr/>
        </p:nvSpPr>
        <p:spPr>
          <a:xfrm>
            <a:off x="9524756" y="1645920"/>
            <a:ext cx="1981139" cy="3063240"/>
          </a:xfrm>
          <a:prstGeom prst="roundRect">
            <a:avLst>
              <a:gd name="adj" fmla="val 3692"/>
            </a:avLst>
          </a:prstGeom>
          <a:solidFill>
            <a:schemeClr val="bg2"/>
          </a:solidFill>
          <a:ln/>
        </p:spPr>
      </p:sp>
      <p:sp>
        <p:nvSpPr>
          <p:cNvPr id="33" name="Shape 26"/>
          <p:cNvSpPr/>
          <p:nvPr/>
        </p:nvSpPr>
        <p:spPr>
          <a:xfrm>
            <a:off x="9799076" y="1920240"/>
            <a:ext cx="566928" cy="566928"/>
          </a:xfrm>
          <a:prstGeom prst="ellipse">
            <a:avLst/>
          </a:prstGeom>
          <a:solidFill>
            <a:srgbClr val="E6EEE9"/>
          </a:solidFill>
          <a:ln/>
        </p:spPr>
      </p:sp>
      <p:pic>
        <p:nvPicPr>
          <p:cNvPr id="34" name="Image 4" descr="FaCheckDoubl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46477" y="2067641"/>
            <a:ext cx="272125" cy="272125"/>
          </a:xfrm>
          <a:prstGeom prst="rect">
            <a:avLst/>
          </a:prstGeom>
        </p:spPr>
      </p:pic>
      <p:sp>
        <p:nvSpPr>
          <p:cNvPr id="35" name="Text 27"/>
          <p:cNvSpPr txBox="1"/>
          <p:nvPr/>
        </p:nvSpPr>
        <p:spPr>
          <a:xfrm>
            <a:off x="9799076" y="2633472"/>
            <a:ext cx="143249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최종 검수</a:t>
            </a:r>
            <a:endParaRPr lang="en-US" sz="1500" dirty="0"/>
          </a:p>
        </p:txBody>
      </p:sp>
      <p:sp>
        <p:nvSpPr>
          <p:cNvPr id="36" name="Text 28"/>
          <p:cNvSpPr txBox="1"/>
          <p:nvPr/>
        </p:nvSpPr>
        <p:spPr>
          <a:xfrm>
            <a:off x="9799076" y="3063240"/>
            <a:ext cx="1432499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accent5"/>
                </a:solidFill>
              </a:rPr>
              <a:t>소리 켜고 한 번, 끄고 한 번</a:t>
            </a:r>
            <a:endParaRPr lang="en-US" sz="1250" dirty="0"/>
          </a:p>
        </p:txBody>
      </p:sp>
      <p:sp>
        <p:nvSpPr>
          <p:cNvPr id="37" name="Shape 29"/>
          <p:cNvSpPr/>
          <p:nvPr/>
        </p:nvSpPr>
        <p:spPr>
          <a:xfrm>
            <a:off x="685800" y="5029200"/>
            <a:ext cx="10820095" cy="512064"/>
          </a:xfrm>
          <a:prstGeom prst="roundRect">
            <a:avLst>
              <a:gd name="adj" fmla="val 14286"/>
            </a:avLst>
          </a:prstGeom>
          <a:solidFill>
            <a:schemeClr val="accent6"/>
          </a:solidFill>
          <a:ln/>
        </p:spPr>
      </p:sp>
      <p:sp>
        <p:nvSpPr>
          <p:cNvPr id="38" name="Text 30"/>
          <p:cNvSpPr txBox="1"/>
          <p:nvPr/>
        </p:nvSpPr>
        <p:spPr>
          <a:xfrm>
            <a:off x="960120" y="5029200"/>
            <a:ext cx="1027145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직접 해 보는 건 5회차. 오늘은 '편집이 끝이 아니다'만 기억하세요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A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91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2교시 · 영상 콘텐츠, 지금 어떻게 만들어지나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0125151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4" name="Shape 2"/>
          <p:cNvSpPr/>
          <p:nvPr/>
        </p:nvSpPr>
        <p:spPr>
          <a:xfrm>
            <a:off x="10335463" y="502920"/>
            <a:ext cx="118872" cy="1188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Shape 3"/>
          <p:cNvSpPr/>
          <p:nvPr/>
        </p:nvSpPr>
        <p:spPr>
          <a:xfrm>
            <a:off x="10545775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6" name="Shape 4"/>
          <p:cNvSpPr/>
          <p:nvPr/>
        </p:nvSpPr>
        <p:spPr>
          <a:xfrm>
            <a:off x="10756087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7" name="Shape 5"/>
          <p:cNvSpPr/>
          <p:nvPr/>
        </p:nvSpPr>
        <p:spPr>
          <a:xfrm>
            <a:off x="10966399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8" name="Shape 6"/>
          <p:cNvSpPr/>
          <p:nvPr/>
        </p:nvSpPr>
        <p:spPr>
          <a:xfrm>
            <a:off x="11176711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9" name="Shape 7"/>
          <p:cNvSpPr/>
          <p:nvPr/>
        </p:nvSpPr>
        <p:spPr>
          <a:xfrm>
            <a:off x="11387023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10" name="Text 1"/>
          <p:cNvSpPr/>
          <p:nvPr>
            <p:ph idx="101" type="title" hasCustomPrompt="1"/>
          </p:nvPr>
        </p:nvSpPr>
        <p:spPr>
          <a:xfrm>
            <a:off x="685800" y="713232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플랫폼마다 화면이 다르다</a:t>
            </a:r>
            <a:endParaRPr lang="en-US" sz="2800" dirty="0"/>
          </a:p>
        </p:txBody>
      </p:sp>
      <p:sp>
        <p:nvSpPr>
          <p:cNvPr id="12" name="Shape 9"/>
          <p:cNvSpPr/>
          <p:nvPr/>
        </p:nvSpPr>
        <p:spPr>
          <a:xfrm>
            <a:off x="868680" y="1691640"/>
            <a:ext cx="1783080" cy="3172968"/>
          </a:xfrm>
          <a:prstGeom prst="roundRect">
            <a:avLst>
              <a:gd name="adj" fmla="val 7179"/>
            </a:avLst>
          </a:prstGeom>
          <a:solidFill>
            <a:schemeClr val="bg2"/>
          </a:solidFill>
          <a:ln w="25400">
            <a:solidFill>
              <a:schemeClr val="tx2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1394460" y="2912364"/>
            <a:ext cx="731520" cy="731520"/>
          </a:xfrm>
          <a:prstGeom prst="ellipse">
            <a:avLst/>
          </a:prstGeom>
          <a:solidFill>
            <a:srgbClr val="E6EEE9"/>
          </a:solidFill>
          <a:ln/>
        </p:spPr>
      </p:sp>
      <p:pic>
        <p:nvPicPr>
          <p:cNvPr id="14" name="Image 0" descr="FaYoutub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84655" y="3102559"/>
            <a:ext cx="351130" cy="351130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594360" y="502920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유튜브 쇼츠</a:t>
            </a:r>
            <a:endParaRPr lang="en-US" sz="1500" dirty="0"/>
          </a:p>
        </p:txBody>
      </p:sp>
      <p:sp>
        <p:nvSpPr>
          <p:cNvPr id="16" name="Text 12"/>
          <p:cNvSpPr txBox="1"/>
          <p:nvPr/>
        </p:nvSpPr>
        <p:spPr>
          <a:xfrm>
            <a:off x="594360" y="534924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9:16 · 1080×1920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3218688" y="1691640"/>
            <a:ext cx="1783080" cy="3172968"/>
          </a:xfrm>
          <a:prstGeom prst="roundRect">
            <a:avLst>
              <a:gd name="adj" fmla="val 7179"/>
            </a:avLst>
          </a:prstGeom>
          <a:solidFill>
            <a:schemeClr val="bg2"/>
          </a:solidFill>
          <a:ln w="25400">
            <a:solidFill>
              <a:schemeClr val="tx2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3744468" y="2912364"/>
            <a:ext cx="731520" cy="731520"/>
          </a:xfrm>
          <a:prstGeom prst="ellipse">
            <a:avLst/>
          </a:prstGeom>
          <a:solidFill>
            <a:srgbClr val="E6EEE9"/>
          </a:solidFill>
          <a:ln/>
        </p:spPr>
      </p:sp>
      <p:pic>
        <p:nvPicPr>
          <p:cNvPr id="19" name="Image 1" descr="FaInstagram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34663" y="3102559"/>
            <a:ext cx="351130" cy="351130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2944368" y="502920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인스타그램 릴스</a:t>
            </a:r>
            <a:endParaRPr lang="en-US" sz="1500" dirty="0"/>
          </a:p>
        </p:txBody>
      </p:sp>
      <p:sp>
        <p:nvSpPr>
          <p:cNvPr id="21" name="Text 16"/>
          <p:cNvSpPr txBox="1"/>
          <p:nvPr/>
        </p:nvSpPr>
        <p:spPr>
          <a:xfrm>
            <a:off x="2944368" y="534924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9:16 · 1080×1920</a:t>
            </a:r>
            <a:endParaRPr lang="en-US" sz="1200" dirty="0"/>
          </a:p>
        </p:txBody>
      </p:sp>
      <p:sp>
        <p:nvSpPr>
          <p:cNvPr id="22" name="Shape 17"/>
          <p:cNvSpPr/>
          <p:nvPr/>
        </p:nvSpPr>
        <p:spPr>
          <a:xfrm>
            <a:off x="5568696" y="1691640"/>
            <a:ext cx="1783080" cy="3172968"/>
          </a:xfrm>
          <a:prstGeom prst="roundRect">
            <a:avLst>
              <a:gd name="adj" fmla="val 7179"/>
            </a:avLst>
          </a:prstGeom>
          <a:solidFill>
            <a:schemeClr val="bg2"/>
          </a:solidFill>
          <a:ln w="25400">
            <a:solidFill>
              <a:schemeClr val="tx2"/>
            </a:solidFill>
            <a:prstDash val="solid"/>
          </a:ln>
        </p:spPr>
      </p:sp>
      <p:sp>
        <p:nvSpPr>
          <p:cNvPr id="23" name="Shape 18"/>
          <p:cNvSpPr/>
          <p:nvPr/>
        </p:nvSpPr>
        <p:spPr>
          <a:xfrm>
            <a:off x="6094476" y="2912364"/>
            <a:ext cx="731520" cy="731520"/>
          </a:xfrm>
          <a:prstGeom prst="ellipse">
            <a:avLst/>
          </a:prstGeom>
          <a:solidFill>
            <a:srgbClr val="E6EEE9"/>
          </a:solidFill>
          <a:ln/>
        </p:spPr>
      </p:sp>
      <p:pic>
        <p:nvPicPr>
          <p:cNvPr id="24" name="Image 2" descr="FaTikto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84671" y="3102559"/>
            <a:ext cx="351130" cy="351130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5294376" y="502920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틱톡</a:t>
            </a:r>
            <a:endParaRPr lang="en-US" sz="1500" dirty="0"/>
          </a:p>
        </p:txBody>
      </p:sp>
      <p:sp>
        <p:nvSpPr>
          <p:cNvPr id="26" name="Text 20"/>
          <p:cNvSpPr txBox="1"/>
          <p:nvPr/>
        </p:nvSpPr>
        <p:spPr>
          <a:xfrm>
            <a:off x="5294376" y="534924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9:16 · 1080×1920</a:t>
            </a:r>
            <a:endParaRPr lang="en-US" sz="1200" dirty="0"/>
          </a:p>
        </p:txBody>
      </p:sp>
      <p:sp>
        <p:nvSpPr>
          <p:cNvPr id="27" name="Shape 21"/>
          <p:cNvSpPr/>
          <p:nvPr/>
        </p:nvSpPr>
        <p:spPr>
          <a:xfrm>
            <a:off x="7918704" y="2596896"/>
            <a:ext cx="4023360" cy="2267712"/>
          </a:xfrm>
          <a:prstGeom prst="roundRect">
            <a:avLst>
              <a:gd name="adj" fmla="val 5645"/>
            </a:avLst>
          </a:prstGeom>
          <a:solidFill>
            <a:schemeClr val="bg2"/>
          </a:solidFill>
          <a:ln w="25400">
            <a:solidFill>
              <a:schemeClr val="tx2"/>
            </a:solidFill>
            <a:prstDash val="solid"/>
          </a:ln>
        </p:spPr>
      </p:sp>
      <p:sp>
        <p:nvSpPr>
          <p:cNvPr id="28" name="Shape 22"/>
          <p:cNvSpPr/>
          <p:nvPr/>
        </p:nvSpPr>
        <p:spPr>
          <a:xfrm>
            <a:off x="9564624" y="3364992"/>
            <a:ext cx="731520" cy="731520"/>
          </a:xfrm>
          <a:prstGeom prst="ellipse">
            <a:avLst/>
          </a:prstGeom>
          <a:solidFill>
            <a:srgbClr val="E6EEE9"/>
          </a:solidFill>
          <a:ln/>
        </p:spPr>
      </p:sp>
      <p:pic>
        <p:nvPicPr>
          <p:cNvPr id="29" name="Image 3" descr="FaYoutub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54819" y="3555187"/>
            <a:ext cx="351130" cy="351130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7644384" y="50292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유튜브 롱폼</a:t>
            </a:r>
            <a:endParaRPr lang="en-US" sz="1500" dirty="0"/>
          </a:p>
        </p:txBody>
      </p:sp>
      <p:sp>
        <p:nvSpPr>
          <p:cNvPr id="31" name="Text 24"/>
          <p:cNvSpPr txBox="1"/>
          <p:nvPr/>
        </p:nvSpPr>
        <p:spPr>
          <a:xfrm>
            <a:off x="7644384" y="53492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16:9 · 1920×1080</a:t>
            </a:r>
            <a:endParaRPr lang="en-US" sz="1200" dirty="0"/>
          </a:p>
        </p:txBody>
      </p:sp>
      <p:sp>
        <p:nvSpPr>
          <p:cNvPr id="32" name="Text 25"/>
          <p:cNvSpPr txBox="1"/>
          <p:nvPr/>
        </p:nvSpPr>
        <p:spPr>
          <a:xfrm>
            <a:off x="685800" y="5806440"/>
            <a:ext cx="108200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우리 수업 기본값  ·  세로 9:16  ·  1080×1920  ·  30fps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A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1188720" y="2103120"/>
            <a:ext cx="97840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점심 시간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1188720" y="3977640"/>
            <a:ext cx="9784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11:50–12:40  ·  오후는 카메라 원리부터. 폰을 충전하고, 저장공간을 10GB 이상 비워 두세요</a:t>
            </a:r>
            <a:endParaRPr lang="en-US" sz="18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ARUBIT/build/.cache/s1/img04_gra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/home/user/MARUBIT/build/.cache/s1/overla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685800" y="1325880"/>
            <a:ext cx="3657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0" b="1" dirty="0">
                <a:solidFill>
                  <a:schemeClr val="accent1"/>
                </a:solidFill>
              </a:rPr>
              <a:t>03</a:t>
            </a:r>
            <a:endParaRPr lang="en-US" sz="11000" dirty="0"/>
          </a:p>
        </p:txBody>
      </p:sp>
      <p:sp>
        <p:nvSpPr>
          <p:cNvPr id="5" name="Text 1"/>
          <p:cNvSpPr txBox="1"/>
          <p:nvPr/>
        </p:nvSpPr>
        <p:spPr>
          <a:xfrm>
            <a:off x="758952" y="10515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chemeClr val="accent6"/>
                </a:solidFill>
              </a:rPr>
              <a:t>3교시</a:t>
            </a:r>
            <a:endParaRPr lang="en-US" sz="1400" dirty="0"/>
          </a:p>
        </p:txBody>
      </p:sp>
      <p:sp>
        <p:nvSpPr>
          <p:cNvPr id="6" name="Text 0"/>
          <p:cNvSpPr/>
          <p:nvPr>
            <p:ph idx="100" type="title" hasCustomPrompt="1"/>
          </p:nvPr>
        </p:nvSpPr>
        <p:spPr>
          <a:xfrm>
            <a:off x="685800" y="324612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카메라의 원리 ① 사진</a:t>
            </a:r>
            <a:endParaRPr lang="en-US" sz="4000" dirty="0"/>
          </a:p>
        </p:txBody>
      </p:sp>
      <p:sp>
        <p:nvSpPr>
          <p:cNvPr id="7" name="Text 0"/>
          <p:cNvSpPr/>
          <p:nvPr>
            <p:ph idx="101" type="body" hasCustomPrompt="1"/>
          </p:nvPr>
        </p:nvSpPr>
        <p:spPr>
          <a:xfrm>
            <a:off x="685800" y="4480560"/>
            <a:ext cx="7132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12:40–13:30  ·  얼마나 많은 빛을, 어떤 색으로, 어디에 초점을</a:t>
            </a:r>
            <a:endParaRPr lang="en-US" sz="16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91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3교시 · 카메라의 원리 ① 사진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0125151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4" name="Shape 2"/>
          <p:cNvSpPr/>
          <p:nvPr/>
        </p:nvSpPr>
        <p:spPr>
          <a:xfrm>
            <a:off x="10335463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5" name="Shape 3"/>
          <p:cNvSpPr/>
          <p:nvPr/>
        </p:nvSpPr>
        <p:spPr>
          <a:xfrm>
            <a:off x="10545775" y="502920"/>
            <a:ext cx="118872" cy="1188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6" name="Shape 4"/>
          <p:cNvSpPr/>
          <p:nvPr/>
        </p:nvSpPr>
        <p:spPr>
          <a:xfrm>
            <a:off x="10756087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7" name="Shape 5"/>
          <p:cNvSpPr/>
          <p:nvPr/>
        </p:nvSpPr>
        <p:spPr>
          <a:xfrm>
            <a:off x="10966399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8" name="Shape 6"/>
          <p:cNvSpPr/>
          <p:nvPr/>
        </p:nvSpPr>
        <p:spPr>
          <a:xfrm>
            <a:off x="11176711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9" name="Shape 7"/>
          <p:cNvSpPr/>
          <p:nvPr/>
        </p:nvSpPr>
        <p:spPr>
          <a:xfrm>
            <a:off x="11387023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10" name="Text 1"/>
          <p:cNvSpPr/>
          <p:nvPr>
            <p:ph idx="101" type="title" hasCustomPrompt="1"/>
          </p:nvPr>
        </p:nvSpPr>
        <p:spPr>
          <a:xfrm>
            <a:off x="685800" y="713232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사진은 빛을 담는 일: 노출 삼각형</a:t>
            </a:r>
            <a:endParaRPr lang="en-US" sz="2800" dirty="0"/>
          </a:p>
        </p:txBody>
      </p:sp>
      <p:sp>
        <p:nvSpPr>
          <p:cNvPr id="12" name="Shape 9"/>
          <p:cNvSpPr/>
          <p:nvPr/>
        </p:nvSpPr>
        <p:spPr>
          <a:xfrm>
            <a:off x="685800" y="1645920"/>
            <a:ext cx="4937760" cy="4389120"/>
          </a:xfrm>
          <a:prstGeom prst="roundRect">
            <a:avLst>
              <a:gd name="adj" fmla="val 1667"/>
            </a:avLst>
          </a:prstGeom>
          <a:solidFill>
            <a:schemeClr val="tx2"/>
          </a:solidFill>
          <a:ln/>
        </p:spPr>
      </p:sp>
      <p:sp>
        <p:nvSpPr>
          <p:cNvPr id="13" name="Shape 10"/>
          <p:cNvSpPr/>
          <p:nvPr/>
        </p:nvSpPr>
        <p:spPr>
          <a:xfrm>
            <a:off x="1371600" y="2240280"/>
            <a:ext cx="3566160" cy="3108960"/>
          </a:xfrm>
          <a:prstGeom prst="triangle">
            <a:avLst/>
          </a:prstGeom>
          <a:solidFill>
            <a:srgbClr val="1E2724"/>
          </a:solidFill>
          <a:ln w="31750">
            <a:solidFill>
              <a:schemeClr val="accent1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2240280" y="406908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</a:rPr>
              <a:t>노출</a:t>
            </a:r>
            <a:endParaRPr lang="en-US" sz="2600" dirty="0"/>
          </a:p>
        </p:txBody>
      </p:sp>
      <p:sp>
        <p:nvSpPr>
          <p:cNvPr id="15" name="Shape 12"/>
          <p:cNvSpPr/>
          <p:nvPr/>
        </p:nvSpPr>
        <p:spPr>
          <a:xfrm>
            <a:off x="2743200" y="1828800"/>
            <a:ext cx="822960" cy="82296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2743200" y="182880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조리개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960120" y="4983480"/>
            <a:ext cx="822960" cy="822960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960120" y="49834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셔터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4526280" y="4983480"/>
            <a:ext cx="822960" cy="82296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4526280" y="49834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ISO</a:t>
            </a:r>
            <a:endParaRPr lang="en-US" sz="1600" dirty="0"/>
          </a:p>
        </p:txBody>
      </p:sp>
      <p:sp>
        <p:nvSpPr>
          <p:cNvPr id="21" name="Shape 18"/>
          <p:cNvSpPr/>
          <p:nvPr/>
        </p:nvSpPr>
        <p:spPr>
          <a:xfrm>
            <a:off x="5989320" y="1645920"/>
            <a:ext cx="5516575" cy="1152144"/>
          </a:xfrm>
          <a:prstGeom prst="roundRect">
            <a:avLst>
              <a:gd name="adj" fmla="val 6349"/>
            </a:avLst>
          </a:prstGeom>
          <a:solidFill>
            <a:schemeClr val="bg2"/>
          </a:solidFill>
          <a:ln/>
        </p:spPr>
      </p:sp>
      <p:sp>
        <p:nvSpPr>
          <p:cNvPr id="22" name="Shape 19"/>
          <p:cNvSpPr/>
          <p:nvPr/>
        </p:nvSpPr>
        <p:spPr>
          <a:xfrm>
            <a:off x="6217920" y="1865376"/>
            <a:ext cx="237744" cy="237744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6583680" y="1783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조리개</a:t>
            </a:r>
            <a:endParaRPr lang="en-US" sz="1800" dirty="0"/>
          </a:p>
        </p:txBody>
      </p:sp>
      <p:sp>
        <p:nvSpPr>
          <p:cNvPr id="24" name="Text 21"/>
          <p:cNvSpPr txBox="1"/>
          <p:nvPr/>
        </p:nvSpPr>
        <p:spPr>
          <a:xfrm>
            <a:off x="6583680" y="2194560"/>
            <a:ext cx="46936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accent5"/>
                </a:solidFill>
              </a:rPr>
              <a:t>빛이 들어오는 구멍의 크기  → 배경이 얼마나 흐려지나</a:t>
            </a:r>
            <a:endParaRPr lang="en-US" sz="1350" dirty="0"/>
          </a:p>
        </p:txBody>
      </p:sp>
      <p:sp>
        <p:nvSpPr>
          <p:cNvPr id="25" name="Shape 22"/>
          <p:cNvSpPr/>
          <p:nvPr/>
        </p:nvSpPr>
        <p:spPr>
          <a:xfrm>
            <a:off x="5989320" y="2944368"/>
            <a:ext cx="5516575" cy="1152144"/>
          </a:xfrm>
          <a:prstGeom prst="roundRect">
            <a:avLst>
              <a:gd name="adj" fmla="val 6349"/>
            </a:avLst>
          </a:prstGeom>
          <a:solidFill>
            <a:schemeClr val="bg2"/>
          </a:solidFill>
          <a:ln/>
        </p:spPr>
      </p:sp>
      <p:sp>
        <p:nvSpPr>
          <p:cNvPr id="26" name="Shape 23"/>
          <p:cNvSpPr/>
          <p:nvPr/>
        </p:nvSpPr>
        <p:spPr>
          <a:xfrm>
            <a:off x="6217920" y="3163824"/>
            <a:ext cx="237744" cy="237744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6583680" y="308152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셔터스피드</a:t>
            </a:r>
            <a:endParaRPr lang="en-US" sz="1800" dirty="0"/>
          </a:p>
        </p:txBody>
      </p:sp>
      <p:sp>
        <p:nvSpPr>
          <p:cNvPr id="28" name="Text 25"/>
          <p:cNvSpPr txBox="1"/>
          <p:nvPr/>
        </p:nvSpPr>
        <p:spPr>
          <a:xfrm>
            <a:off x="6583680" y="3493008"/>
            <a:ext cx="46936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accent5"/>
                </a:solidFill>
              </a:rPr>
              <a:t>빛을 받는 시간  → 움직임이 멈추나, 흐르나</a:t>
            </a:r>
            <a:endParaRPr lang="en-US" sz="1350" dirty="0"/>
          </a:p>
        </p:txBody>
      </p:sp>
      <p:sp>
        <p:nvSpPr>
          <p:cNvPr id="29" name="Shape 26"/>
          <p:cNvSpPr/>
          <p:nvPr/>
        </p:nvSpPr>
        <p:spPr>
          <a:xfrm>
            <a:off x="5989320" y="4242816"/>
            <a:ext cx="5516575" cy="1152144"/>
          </a:xfrm>
          <a:prstGeom prst="roundRect">
            <a:avLst>
              <a:gd name="adj" fmla="val 6349"/>
            </a:avLst>
          </a:prstGeom>
          <a:solidFill>
            <a:schemeClr val="bg2"/>
          </a:solidFill>
          <a:ln/>
        </p:spPr>
      </p:sp>
      <p:sp>
        <p:nvSpPr>
          <p:cNvPr id="30" name="Shape 27"/>
          <p:cNvSpPr/>
          <p:nvPr/>
        </p:nvSpPr>
        <p:spPr>
          <a:xfrm>
            <a:off x="6217920" y="4462272"/>
            <a:ext cx="237744" cy="237744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31" name="Text 28"/>
          <p:cNvSpPr txBox="1"/>
          <p:nvPr/>
        </p:nvSpPr>
        <p:spPr>
          <a:xfrm>
            <a:off x="6583680" y="4379976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ISO</a:t>
            </a:r>
            <a:endParaRPr lang="en-US" sz="1800" dirty="0"/>
          </a:p>
        </p:txBody>
      </p:sp>
      <p:sp>
        <p:nvSpPr>
          <p:cNvPr id="32" name="Text 29"/>
          <p:cNvSpPr txBox="1"/>
          <p:nvPr/>
        </p:nvSpPr>
        <p:spPr>
          <a:xfrm>
            <a:off x="6583680" y="4791456"/>
            <a:ext cx="46936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accent5"/>
                </a:solidFill>
              </a:rPr>
              <a:t>빛에 반응하는 감도  → 화면이 깨끗한가, 자글자글한가</a:t>
            </a:r>
            <a:endParaRPr lang="en-US" sz="1350" dirty="0"/>
          </a:p>
        </p:txBody>
      </p:sp>
      <p:sp>
        <p:nvSpPr>
          <p:cNvPr id="33" name="Text 30"/>
          <p:cNvSpPr txBox="1"/>
          <p:nvPr/>
        </p:nvSpPr>
        <p:spPr>
          <a:xfrm>
            <a:off x="5989320" y="5623560"/>
            <a:ext cx="551657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chemeClr val="accent3"/>
                </a:solidFill>
              </a:rPr>
              <a:t>하나로 밝게 만들면, 나머지 둘 중 하나가 대가를 치른다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A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91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3교시 · 카메라의 원리 ① 사진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0125151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4" name="Shape 2"/>
          <p:cNvSpPr/>
          <p:nvPr/>
        </p:nvSpPr>
        <p:spPr>
          <a:xfrm>
            <a:off x="10335463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5" name="Shape 3"/>
          <p:cNvSpPr/>
          <p:nvPr/>
        </p:nvSpPr>
        <p:spPr>
          <a:xfrm>
            <a:off x="10545775" y="502920"/>
            <a:ext cx="118872" cy="1188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6" name="Shape 4"/>
          <p:cNvSpPr/>
          <p:nvPr/>
        </p:nvSpPr>
        <p:spPr>
          <a:xfrm>
            <a:off x="10756087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7" name="Shape 5"/>
          <p:cNvSpPr/>
          <p:nvPr/>
        </p:nvSpPr>
        <p:spPr>
          <a:xfrm>
            <a:off x="10966399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8" name="Shape 6"/>
          <p:cNvSpPr/>
          <p:nvPr/>
        </p:nvSpPr>
        <p:spPr>
          <a:xfrm>
            <a:off x="11176711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9" name="Shape 7"/>
          <p:cNvSpPr/>
          <p:nvPr/>
        </p:nvSpPr>
        <p:spPr>
          <a:xfrm>
            <a:off x="11387023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10" name="Text 1"/>
          <p:cNvSpPr/>
          <p:nvPr>
            <p:ph idx="101" type="title" hasCustomPrompt="1"/>
          </p:nvPr>
        </p:nvSpPr>
        <p:spPr>
          <a:xfrm>
            <a:off x="685800" y="713232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조리개 · 셔터 · ISO를 한 장에</a:t>
            </a:r>
            <a:endParaRPr lang="en-US" sz="28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645920"/>
          <a:ext cx="10820095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2926080"/>
                <a:gridCol w="3017520"/>
                <a:gridCol w="2956255"/>
              </a:tblGrid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한쪽 끝</a:t>
                      </a:r>
                      <a:endParaRPr lang="en-US" sz="14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다른 쪽 끝</a:t>
                      </a:r>
                      <a:endParaRPr lang="en-US" sz="14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폰에서는</a:t>
                      </a:r>
                      <a:endParaRPr lang="en-US" sz="14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조리개 (f값)</a:t>
                      </a:r>
                      <a:endParaRPr lang="en-US" sz="14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f/1.8 · 구멍 큼 · 밝음 · 배경 흐림</a:t>
                      </a:r>
                      <a:endParaRPr lang="en-US" sz="14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f/11 · 구멍 작음 · 어두움 · 앞뒤 선명</a:t>
                      </a:r>
                      <a:endParaRPr lang="en-US" sz="14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대부분 고정 → 인물 모드, 대상에 가까이</a:t>
                      </a:r>
                      <a:endParaRPr lang="en-US" sz="14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셔터스피드</a:t>
                      </a:r>
                      <a:endParaRPr lang="en-US" sz="14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1/1000 · 순간이 멈춤</a:t>
                      </a:r>
                      <a:endParaRPr lang="en-US" sz="14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1/30 · 움직임이 흐름, 흔들림</a:t>
                      </a:r>
                      <a:endParaRPr lang="en-US" sz="14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영상은 4교시 '2배 규칙'</a:t>
                      </a:r>
                      <a:endParaRPr lang="en-US" sz="14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ISO</a:t>
                      </a:r>
                      <a:endParaRPr lang="en-US" sz="14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100~400 · 깨끗</a:t>
                      </a:r>
                      <a:endParaRPr lang="en-US" sz="14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3200 이상 · 자글자글</a:t>
                      </a:r>
                      <a:endParaRPr lang="en-US" sz="14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어두우면 ISO 말고 빛을 더하기</a:t>
                      </a:r>
                      <a:endParaRPr lang="en-US" sz="1400" dirty="0"/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13" name="Shape 9"/>
          <p:cNvSpPr/>
          <p:nvPr/>
        </p:nvSpPr>
        <p:spPr>
          <a:xfrm>
            <a:off x="685800" y="5257800"/>
            <a:ext cx="10820095" cy="512064"/>
          </a:xfrm>
          <a:prstGeom prst="roundRect">
            <a:avLst>
              <a:gd name="adj" fmla="val 14286"/>
            </a:avLst>
          </a:prstGeom>
          <a:solidFill>
            <a:schemeClr val="accent6"/>
          </a:solidFill>
          <a:ln/>
        </p:spPr>
      </p:sp>
      <p:sp>
        <p:nvSpPr>
          <p:cNvPr id="14" name="Text 10"/>
          <p:cNvSpPr txBox="1"/>
          <p:nvPr/>
        </p:nvSpPr>
        <p:spPr>
          <a:xfrm>
            <a:off x="960120" y="5257800"/>
            <a:ext cx="1027145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조리개는 숫자가 작을수록 밝다 — 이것 하나만 확실히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A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91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3교시 · 카메라의 원리 ① 사진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0125151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4" name="Shape 2"/>
          <p:cNvSpPr/>
          <p:nvPr/>
        </p:nvSpPr>
        <p:spPr>
          <a:xfrm>
            <a:off x="10335463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5" name="Shape 3"/>
          <p:cNvSpPr/>
          <p:nvPr/>
        </p:nvSpPr>
        <p:spPr>
          <a:xfrm>
            <a:off x="10545775" y="502920"/>
            <a:ext cx="118872" cy="1188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6" name="Shape 4"/>
          <p:cNvSpPr/>
          <p:nvPr/>
        </p:nvSpPr>
        <p:spPr>
          <a:xfrm>
            <a:off x="10756087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7" name="Shape 5"/>
          <p:cNvSpPr/>
          <p:nvPr/>
        </p:nvSpPr>
        <p:spPr>
          <a:xfrm>
            <a:off x="10966399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8" name="Shape 6"/>
          <p:cNvSpPr/>
          <p:nvPr/>
        </p:nvSpPr>
        <p:spPr>
          <a:xfrm>
            <a:off x="11176711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9" name="Shape 7"/>
          <p:cNvSpPr/>
          <p:nvPr/>
        </p:nvSpPr>
        <p:spPr>
          <a:xfrm>
            <a:off x="11387023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10" name="Text 1"/>
          <p:cNvSpPr/>
          <p:nvPr>
            <p:ph idx="101" type="title" hasCustomPrompt="1"/>
          </p:nvPr>
        </p:nvSpPr>
        <p:spPr>
          <a:xfrm>
            <a:off x="685800" y="713232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화이트밸런스: 빛에도 색이 있다</a:t>
            </a:r>
            <a:endParaRPr lang="en-US" sz="2800" dirty="0"/>
          </a:p>
        </p:txBody>
      </p:sp>
      <p:pic>
        <p:nvPicPr>
          <p:cNvPr id="12" name="Image 0" descr="약 3,000K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85800" y="1645920"/>
            <a:ext cx="3423818" cy="233172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85800" y="4069080"/>
            <a:ext cx="342381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약 3,000K</a:t>
            </a:r>
            <a:endParaRPr lang="en-US" sz="2000" dirty="0"/>
          </a:p>
        </p:txBody>
      </p:sp>
      <p:sp>
        <p:nvSpPr>
          <p:cNvPr id="14" name="Text 10"/>
          <p:cNvSpPr txBox="1"/>
          <p:nvPr/>
        </p:nvSpPr>
        <p:spPr>
          <a:xfrm>
            <a:off x="685800" y="4480560"/>
            <a:ext cx="342381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촛불 · 전구 → 노랗게</a:t>
            </a:r>
            <a:endParaRPr lang="en-US" sz="1300" dirty="0"/>
          </a:p>
        </p:txBody>
      </p:sp>
      <p:pic>
        <p:nvPicPr>
          <p:cNvPr id="15" name="Image 1" descr="약 5,500K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383938" y="1645920"/>
            <a:ext cx="3423818" cy="233172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4383938" y="4069080"/>
            <a:ext cx="342381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약 5,500K</a:t>
            </a:r>
            <a:endParaRPr lang="en-US" sz="2000" dirty="0"/>
          </a:p>
        </p:txBody>
      </p:sp>
      <p:sp>
        <p:nvSpPr>
          <p:cNvPr id="17" name="Text 12"/>
          <p:cNvSpPr txBox="1"/>
          <p:nvPr/>
        </p:nvSpPr>
        <p:spPr>
          <a:xfrm>
            <a:off x="4383938" y="4480560"/>
            <a:ext cx="342381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한낮 햇빛 → 자연스럽게</a:t>
            </a:r>
            <a:endParaRPr lang="en-US" sz="1300" dirty="0"/>
          </a:p>
        </p:txBody>
      </p:sp>
      <p:pic>
        <p:nvPicPr>
          <p:cNvPr id="18" name="Image 2" descr="약 7,000K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082077" y="1645920"/>
            <a:ext cx="3423818" cy="233172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8082077" y="4069080"/>
            <a:ext cx="342381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약 7,000K</a:t>
            </a:r>
            <a:endParaRPr lang="en-US" sz="2000" dirty="0"/>
          </a:p>
        </p:txBody>
      </p:sp>
      <p:sp>
        <p:nvSpPr>
          <p:cNvPr id="20" name="Text 14"/>
          <p:cNvSpPr txBox="1"/>
          <p:nvPr/>
        </p:nvSpPr>
        <p:spPr>
          <a:xfrm>
            <a:off x="8082077" y="4480560"/>
            <a:ext cx="342381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그늘 · 흐린 날 → 파랗게</a:t>
            </a:r>
            <a:endParaRPr lang="en-US" sz="1300" dirty="0"/>
          </a:p>
        </p:txBody>
      </p:sp>
      <p:sp>
        <p:nvSpPr>
          <p:cNvPr id="21" name="Shape 15"/>
          <p:cNvSpPr/>
          <p:nvPr/>
        </p:nvSpPr>
        <p:spPr>
          <a:xfrm>
            <a:off x="685800" y="5166360"/>
            <a:ext cx="10820095" cy="512064"/>
          </a:xfrm>
          <a:prstGeom prst="roundRect">
            <a:avLst>
              <a:gd name="adj" fmla="val 14286"/>
            </a:avLst>
          </a:prstGeom>
          <a:solidFill>
            <a:schemeClr val="accent6"/>
          </a:solidFill>
          <a:ln/>
        </p:spPr>
      </p:sp>
      <p:sp>
        <p:nvSpPr>
          <p:cNvPr id="22" name="Text 16"/>
          <p:cNvSpPr txBox="1"/>
          <p:nvPr/>
        </p:nvSpPr>
        <p:spPr>
          <a:xfrm>
            <a:off x="960120" y="5166360"/>
            <a:ext cx="1027145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영상은 화이트밸런스를 고정하고, 색이 다른 빛을 섞지 않기 (창가 빛 + 형광등 = 얼굴 반반)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A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91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3교시 · 카메라의 원리 ① 사진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0125151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4" name="Shape 2"/>
          <p:cNvSpPr/>
          <p:nvPr/>
        </p:nvSpPr>
        <p:spPr>
          <a:xfrm>
            <a:off x="10335463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5" name="Shape 3"/>
          <p:cNvSpPr/>
          <p:nvPr/>
        </p:nvSpPr>
        <p:spPr>
          <a:xfrm>
            <a:off x="10545775" y="502920"/>
            <a:ext cx="118872" cy="1188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6" name="Shape 4"/>
          <p:cNvSpPr/>
          <p:nvPr/>
        </p:nvSpPr>
        <p:spPr>
          <a:xfrm>
            <a:off x="10756087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7" name="Shape 5"/>
          <p:cNvSpPr/>
          <p:nvPr/>
        </p:nvSpPr>
        <p:spPr>
          <a:xfrm>
            <a:off x="10966399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8" name="Shape 6"/>
          <p:cNvSpPr/>
          <p:nvPr/>
        </p:nvSpPr>
        <p:spPr>
          <a:xfrm>
            <a:off x="11176711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9" name="Shape 7"/>
          <p:cNvSpPr/>
          <p:nvPr/>
        </p:nvSpPr>
        <p:spPr>
          <a:xfrm>
            <a:off x="11387023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10" name="Text 1"/>
          <p:cNvSpPr/>
          <p:nvPr>
            <p:ph idx="101" type="title" hasCustomPrompt="1"/>
          </p:nvPr>
        </p:nvSpPr>
        <p:spPr>
          <a:xfrm>
            <a:off x="685800" y="713232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초점 · 심도 · 폰의 렌즈</a:t>
            </a:r>
            <a:endParaRPr lang="en-US" sz="2800" dirty="0"/>
          </a:p>
        </p:txBody>
      </p:sp>
      <p:pic>
        <p:nvPicPr>
          <p:cNvPr id="12" name="Image 0" descr="/home/user/MARUBIT/build/.cache/s1/img16_1_ph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85800" y="1645920"/>
            <a:ext cx="2697480" cy="269748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85800" y="443484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얕은 심도</a:t>
            </a:r>
            <a:endParaRPr lang="en-US" sz="1300" dirty="0"/>
          </a:p>
        </p:txBody>
      </p:sp>
      <p:sp>
        <p:nvSpPr>
          <p:cNvPr id="14" name="Text 10"/>
          <p:cNvSpPr txBox="1"/>
          <p:nvPr/>
        </p:nvSpPr>
        <p:spPr>
          <a:xfrm>
            <a:off x="685800" y="4709160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accent5"/>
                </a:solidFill>
              </a:rPr>
              <a:t>주인공만 선명 · 감성</a:t>
            </a:r>
            <a:endParaRPr lang="en-US" sz="1150" dirty="0"/>
          </a:p>
        </p:txBody>
      </p:sp>
      <p:pic>
        <p:nvPicPr>
          <p:cNvPr id="15" name="Image 1" descr="/home/user/MARUBIT/build/.cache/s1/img16_2_ph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3611880" y="1645920"/>
            <a:ext cx="2697480" cy="269748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611880" y="443484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깊은 심도</a:t>
            </a:r>
            <a:endParaRPr lang="en-US" sz="1300" dirty="0"/>
          </a:p>
        </p:txBody>
      </p:sp>
      <p:sp>
        <p:nvSpPr>
          <p:cNvPr id="17" name="Text 12"/>
          <p:cNvSpPr txBox="1"/>
          <p:nvPr/>
        </p:nvSpPr>
        <p:spPr>
          <a:xfrm>
            <a:off x="3611880" y="4709160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accent5"/>
                </a:solidFill>
              </a:rPr>
              <a:t>전부 선명 · 정보</a:t>
            </a:r>
            <a:endParaRPr lang="en-US" sz="1150" dirty="0"/>
          </a:p>
        </p:txBody>
      </p:sp>
      <p:sp>
        <p:nvSpPr>
          <p:cNvPr id="18" name="Shape 13"/>
          <p:cNvSpPr/>
          <p:nvPr/>
        </p:nvSpPr>
        <p:spPr>
          <a:xfrm>
            <a:off x="6629400" y="1645920"/>
            <a:ext cx="4876495" cy="868680"/>
          </a:xfrm>
          <a:prstGeom prst="roundRect">
            <a:avLst>
              <a:gd name="adj" fmla="val 8421"/>
            </a:avLst>
          </a:prstGeom>
          <a:solidFill>
            <a:schemeClr val="bg2"/>
          </a:solidFill>
          <a:ln/>
        </p:spPr>
      </p:sp>
      <p:sp>
        <p:nvSpPr>
          <p:cNvPr id="19" name="Text 14"/>
          <p:cNvSpPr txBox="1"/>
          <p:nvPr/>
        </p:nvSpPr>
        <p:spPr>
          <a:xfrm>
            <a:off x="6858000" y="1645920"/>
            <a:ext cx="1005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2"/>
                </a:solidFill>
              </a:rPr>
              <a:t>0.5x</a:t>
            </a:r>
            <a:endParaRPr lang="en-US" sz="2000" dirty="0"/>
          </a:p>
        </p:txBody>
      </p:sp>
      <p:sp>
        <p:nvSpPr>
          <p:cNvPr id="20" name="Text 15"/>
          <p:cNvSpPr txBox="1"/>
          <p:nvPr/>
        </p:nvSpPr>
        <p:spPr>
          <a:xfrm>
            <a:off x="7863840" y="1755648"/>
            <a:ext cx="35048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초광각</a:t>
            </a:r>
            <a:endParaRPr lang="en-US" sz="1500" dirty="0"/>
          </a:p>
        </p:txBody>
      </p:sp>
      <p:sp>
        <p:nvSpPr>
          <p:cNvPr id="21" name="Text 16"/>
          <p:cNvSpPr txBox="1"/>
          <p:nvPr/>
        </p:nvSpPr>
        <p:spPr>
          <a:xfrm>
            <a:off x="7863840" y="2075688"/>
            <a:ext cx="3504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공간 전체 · 가장자리가 휨 · 얼굴 가까이는 왜곡</a:t>
            </a:r>
            <a:endParaRPr lang="en-US" sz="1200" dirty="0"/>
          </a:p>
        </p:txBody>
      </p:sp>
      <p:sp>
        <p:nvSpPr>
          <p:cNvPr id="22" name="Shape 17"/>
          <p:cNvSpPr/>
          <p:nvPr/>
        </p:nvSpPr>
        <p:spPr>
          <a:xfrm>
            <a:off x="6629400" y="2633472"/>
            <a:ext cx="4876495" cy="868680"/>
          </a:xfrm>
          <a:prstGeom prst="roundRect">
            <a:avLst>
              <a:gd name="adj" fmla="val 8421"/>
            </a:avLst>
          </a:prstGeom>
          <a:solidFill>
            <a:schemeClr val="bg2"/>
          </a:solidFill>
          <a:ln/>
        </p:spPr>
      </p:sp>
      <p:sp>
        <p:nvSpPr>
          <p:cNvPr id="23" name="Text 18"/>
          <p:cNvSpPr txBox="1"/>
          <p:nvPr/>
        </p:nvSpPr>
        <p:spPr>
          <a:xfrm>
            <a:off x="6858000" y="2633472"/>
            <a:ext cx="1005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2"/>
                </a:solidFill>
              </a:rPr>
              <a:t>1x</a:t>
            </a:r>
            <a:endParaRPr lang="en-US" sz="2000" dirty="0"/>
          </a:p>
        </p:txBody>
      </p:sp>
      <p:sp>
        <p:nvSpPr>
          <p:cNvPr id="24" name="Text 19"/>
          <p:cNvSpPr txBox="1"/>
          <p:nvPr/>
        </p:nvSpPr>
        <p:spPr>
          <a:xfrm>
            <a:off x="7863840" y="2743200"/>
            <a:ext cx="35048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기본</a:t>
            </a:r>
            <a:endParaRPr lang="en-US" sz="1500" dirty="0"/>
          </a:p>
        </p:txBody>
      </p:sp>
      <p:sp>
        <p:nvSpPr>
          <p:cNvPr id="25" name="Text 20"/>
          <p:cNvSpPr txBox="1"/>
          <p:nvPr/>
        </p:nvSpPr>
        <p:spPr>
          <a:xfrm>
            <a:off x="7863840" y="3063240"/>
            <a:ext cx="3504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가장 선명 · 대부분의 촬영</a:t>
            </a:r>
            <a:endParaRPr lang="en-US" sz="1200" dirty="0"/>
          </a:p>
        </p:txBody>
      </p:sp>
      <p:sp>
        <p:nvSpPr>
          <p:cNvPr id="26" name="Shape 21"/>
          <p:cNvSpPr/>
          <p:nvPr/>
        </p:nvSpPr>
        <p:spPr>
          <a:xfrm>
            <a:off x="6629400" y="3621024"/>
            <a:ext cx="4876495" cy="868680"/>
          </a:xfrm>
          <a:prstGeom prst="roundRect">
            <a:avLst>
              <a:gd name="adj" fmla="val 8421"/>
            </a:avLst>
          </a:prstGeom>
          <a:solidFill>
            <a:schemeClr val="bg2"/>
          </a:solidFill>
          <a:ln/>
        </p:spPr>
      </p:sp>
      <p:sp>
        <p:nvSpPr>
          <p:cNvPr id="27" name="Text 22"/>
          <p:cNvSpPr txBox="1"/>
          <p:nvPr/>
        </p:nvSpPr>
        <p:spPr>
          <a:xfrm>
            <a:off x="6858000" y="3621024"/>
            <a:ext cx="1005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2"/>
                </a:solidFill>
              </a:rPr>
              <a:t>2~3x</a:t>
            </a:r>
            <a:endParaRPr lang="en-US" sz="2000" dirty="0"/>
          </a:p>
        </p:txBody>
      </p:sp>
      <p:sp>
        <p:nvSpPr>
          <p:cNvPr id="28" name="Text 23"/>
          <p:cNvSpPr txBox="1"/>
          <p:nvPr/>
        </p:nvSpPr>
        <p:spPr>
          <a:xfrm>
            <a:off x="7863840" y="3730752"/>
            <a:ext cx="35048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망원</a:t>
            </a:r>
            <a:endParaRPr lang="en-US" sz="1500" dirty="0"/>
          </a:p>
        </p:txBody>
      </p:sp>
      <p:sp>
        <p:nvSpPr>
          <p:cNvPr id="29" name="Text 24"/>
          <p:cNvSpPr txBox="1"/>
          <p:nvPr/>
        </p:nvSpPr>
        <p:spPr>
          <a:xfrm>
            <a:off x="7863840" y="4050792"/>
            <a:ext cx="3504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얼굴이 자연스러움 · 배경 정리</a:t>
            </a:r>
            <a:endParaRPr lang="en-US" sz="1200" dirty="0"/>
          </a:p>
        </p:txBody>
      </p:sp>
      <p:sp>
        <p:nvSpPr>
          <p:cNvPr id="30" name="Shape 25"/>
          <p:cNvSpPr/>
          <p:nvPr/>
        </p:nvSpPr>
        <p:spPr>
          <a:xfrm>
            <a:off x="685800" y="5166360"/>
            <a:ext cx="10820095" cy="512064"/>
          </a:xfrm>
          <a:prstGeom prst="roundRect">
            <a:avLst>
              <a:gd name="adj" fmla="val 14286"/>
            </a:avLst>
          </a:prstGeom>
          <a:solidFill>
            <a:schemeClr val="accent6"/>
          </a:solidFill>
          <a:ln/>
        </p:spPr>
      </p:sp>
      <p:sp>
        <p:nvSpPr>
          <p:cNvPr id="31" name="Text 26"/>
          <p:cNvSpPr txBox="1"/>
          <p:nvPr/>
        </p:nvSpPr>
        <p:spPr>
          <a:xfrm>
            <a:off x="960120" y="5166360"/>
            <a:ext cx="1027145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줌 말고 발로. 렌즈 배율 사이의 디지털 줌은 화질이 떨어집니다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A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91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3교시 · 카메라의 원리 ① 사진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0125151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4" name="Shape 2"/>
          <p:cNvSpPr/>
          <p:nvPr/>
        </p:nvSpPr>
        <p:spPr>
          <a:xfrm>
            <a:off x="10335463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5" name="Shape 3"/>
          <p:cNvSpPr/>
          <p:nvPr/>
        </p:nvSpPr>
        <p:spPr>
          <a:xfrm>
            <a:off x="10545775" y="502920"/>
            <a:ext cx="118872" cy="1188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6" name="Shape 4"/>
          <p:cNvSpPr/>
          <p:nvPr/>
        </p:nvSpPr>
        <p:spPr>
          <a:xfrm>
            <a:off x="10756087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7" name="Shape 5"/>
          <p:cNvSpPr/>
          <p:nvPr/>
        </p:nvSpPr>
        <p:spPr>
          <a:xfrm>
            <a:off x="10966399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8" name="Shape 6"/>
          <p:cNvSpPr/>
          <p:nvPr/>
        </p:nvSpPr>
        <p:spPr>
          <a:xfrm>
            <a:off x="11176711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9" name="Shape 7"/>
          <p:cNvSpPr/>
          <p:nvPr/>
        </p:nvSpPr>
        <p:spPr>
          <a:xfrm>
            <a:off x="11387023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10" name="Text 1"/>
          <p:cNvSpPr/>
          <p:nvPr>
            <p:ph idx="101" type="title" hasCustomPrompt="1"/>
          </p:nvPr>
        </p:nvSpPr>
        <p:spPr>
          <a:xfrm>
            <a:off x="685800" y="713232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실습 · 프로 모드로 바꿔 찍기 (짝과 25분)</a:t>
            </a:r>
            <a:endParaRPr lang="en-US" sz="2800" dirty="0"/>
          </a:p>
        </p:txBody>
      </p:sp>
      <p:sp>
        <p:nvSpPr>
          <p:cNvPr id="12" name="Shape 9"/>
          <p:cNvSpPr/>
          <p:nvPr/>
        </p:nvSpPr>
        <p:spPr>
          <a:xfrm>
            <a:off x="685800" y="1645920"/>
            <a:ext cx="5272888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960120" y="1783080"/>
            <a:ext cx="47242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갤럭시</a:t>
            </a:r>
            <a:endParaRPr lang="en-US" sz="1700" dirty="0"/>
          </a:p>
        </p:txBody>
      </p:sp>
      <p:sp>
        <p:nvSpPr>
          <p:cNvPr id="14" name="Text 11"/>
          <p:cNvSpPr txBox="1"/>
          <p:nvPr/>
        </p:nvSpPr>
        <p:spPr>
          <a:xfrm>
            <a:off x="960120" y="2194560"/>
            <a:ext cx="472424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카메라 → 더보기 → 프로 / 프로 동영상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ISO · 셔터 · WB를 직접 조절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6233008" y="1645920"/>
            <a:ext cx="5272888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6507328" y="1783080"/>
            <a:ext cx="47242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아이폰</a:t>
            </a:r>
            <a:endParaRPr lang="en-US" sz="1700" dirty="0"/>
          </a:p>
        </p:txBody>
      </p:sp>
      <p:sp>
        <p:nvSpPr>
          <p:cNvPr id="17" name="Text 14"/>
          <p:cNvSpPr txBox="1"/>
          <p:nvPr/>
        </p:nvSpPr>
        <p:spPr>
          <a:xfrm>
            <a:off x="6507328" y="2194560"/>
            <a:ext cx="472424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기본 카메라는 노출 조절 위주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→ 무료 수동 앱 (예: Blackmagic Camera)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685800" y="3383280"/>
            <a:ext cx="65836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9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☐  같은 장면 ISO 100 vs 3200</a:t>
            </a:r>
            <a:endParaRPr lang="en-US" sz="16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☐  손 흔들기 셔터 1/60 vs 1/1000</a:t>
            </a:r>
            <a:endParaRPr lang="en-US" sz="16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☐  흰 종이 WB 전구 vs 맑음</a:t>
            </a:r>
            <a:endParaRPr lang="en-US" sz="16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☐  인물 모드 켜고 / 끄고 (배경 흐림 비교)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7589520" y="3337560"/>
            <a:ext cx="3916375" cy="2103120"/>
          </a:xfrm>
          <a:prstGeom prst="roundRect">
            <a:avLst>
              <a:gd name="adj" fmla="val 3478"/>
            </a:avLst>
          </a:prstGeom>
          <a:solidFill>
            <a:schemeClr val="tx2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7863840" y="352044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다 찍었으면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7863840" y="3931920"/>
            <a:ext cx="336773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가장 마음에 드는 1장 + 이유 한 줄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→ 드라이브 '1회차/3교시'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A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ARUBIT/build/.cache/s1/img05_gra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/home/user/MARUBIT/build/.cache/s1/overla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685800" y="1325880"/>
            <a:ext cx="3657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0" b="1" dirty="0">
                <a:solidFill>
                  <a:schemeClr val="accent1"/>
                </a:solidFill>
              </a:rPr>
              <a:t>04</a:t>
            </a:r>
            <a:endParaRPr lang="en-US" sz="11000" dirty="0"/>
          </a:p>
        </p:txBody>
      </p:sp>
      <p:sp>
        <p:nvSpPr>
          <p:cNvPr id="5" name="Text 1"/>
          <p:cNvSpPr txBox="1"/>
          <p:nvPr/>
        </p:nvSpPr>
        <p:spPr>
          <a:xfrm>
            <a:off x="758952" y="10515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chemeClr val="accent6"/>
                </a:solidFill>
              </a:rPr>
              <a:t>4교시</a:t>
            </a:r>
            <a:endParaRPr lang="en-US" sz="1400" dirty="0"/>
          </a:p>
        </p:txBody>
      </p:sp>
      <p:sp>
        <p:nvSpPr>
          <p:cNvPr id="6" name="Text 0"/>
          <p:cNvSpPr/>
          <p:nvPr>
            <p:ph idx="100" type="title" hasCustomPrompt="1"/>
          </p:nvPr>
        </p:nvSpPr>
        <p:spPr>
          <a:xfrm>
            <a:off x="685800" y="324612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카메라의 원리 ② 영상</a:t>
            </a:r>
            <a:endParaRPr lang="en-US" sz="4000" dirty="0"/>
          </a:p>
        </p:txBody>
      </p:sp>
      <p:sp>
        <p:nvSpPr>
          <p:cNvPr id="7" name="Text 0"/>
          <p:cNvSpPr/>
          <p:nvPr>
            <p:ph idx="101" type="body" hasCustomPrompt="1"/>
          </p:nvPr>
        </p:nvSpPr>
        <p:spPr>
          <a:xfrm>
            <a:off x="685800" y="4480560"/>
            <a:ext cx="7132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13:40–14:30  ·  영상은 1초에 사진 수십 장. 그래서 규칙이 조금 다르다</a:t>
            </a:r>
            <a:endParaRPr lang="en-US" sz="16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91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4교시 · 카메라의 원리 ② 영상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0125151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4" name="Shape 2"/>
          <p:cNvSpPr/>
          <p:nvPr/>
        </p:nvSpPr>
        <p:spPr>
          <a:xfrm>
            <a:off x="10335463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5" name="Shape 3"/>
          <p:cNvSpPr/>
          <p:nvPr/>
        </p:nvSpPr>
        <p:spPr>
          <a:xfrm>
            <a:off x="10545775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6" name="Shape 4"/>
          <p:cNvSpPr/>
          <p:nvPr/>
        </p:nvSpPr>
        <p:spPr>
          <a:xfrm>
            <a:off x="10756087" y="502920"/>
            <a:ext cx="118872" cy="1188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7" name="Shape 5"/>
          <p:cNvSpPr/>
          <p:nvPr/>
        </p:nvSpPr>
        <p:spPr>
          <a:xfrm>
            <a:off x="10966399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8" name="Shape 6"/>
          <p:cNvSpPr/>
          <p:nvPr/>
        </p:nvSpPr>
        <p:spPr>
          <a:xfrm>
            <a:off x="11176711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9" name="Shape 7"/>
          <p:cNvSpPr/>
          <p:nvPr/>
        </p:nvSpPr>
        <p:spPr>
          <a:xfrm>
            <a:off x="11387023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10" name="Text 1"/>
          <p:cNvSpPr/>
          <p:nvPr>
            <p:ph idx="101" type="title" hasCustomPrompt="1"/>
          </p:nvPr>
        </p:nvSpPr>
        <p:spPr>
          <a:xfrm>
            <a:off x="685800" y="713232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프레임레이트: 1초에 몇 장인가</a:t>
            </a:r>
            <a:endParaRPr lang="en-US" sz="2800" dirty="0"/>
          </a:p>
        </p:txBody>
      </p:sp>
      <p:sp>
        <p:nvSpPr>
          <p:cNvPr id="12" name="Text 9"/>
          <p:cNvSpPr txBox="1"/>
          <p:nvPr/>
        </p:nvSpPr>
        <p:spPr>
          <a:xfrm>
            <a:off x="685800" y="1783080"/>
            <a:ext cx="1005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4"/>
                </a:solidFill>
              </a:rPr>
              <a:t>24</a:t>
            </a:r>
            <a:endParaRPr lang="en-US" sz="4000" dirty="0"/>
          </a:p>
        </p:txBody>
      </p:sp>
      <p:sp>
        <p:nvSpPr>
          <p:cNvPr id="13" name="Text 10"/>
          <p:cNvSpPr txBox="1"/>
          <p:nvPr/>
        </p:nvSpPr>
        <p:spPr>
          <a:xfrm>
            <a:off x="1645920" y="207568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fps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2331720" y="1892808"/>
            <a:ext cx="136208" cy="658368"/>
          </a:xfrm>
          <a:prstGeom prst="rect">
            <a:avLst/>
          </a:prstGeom>
          <a:solidFill>
            <a:schemeClr val="accent4"/>
          </a:solidFill>
          <a:ln/>
        </p:spPr>
      </p:sp>
      <p:sp>
        <p:nvSpPr>
          <p:cNvPr id="15" name="Shape 12"/>
          <p:cNvSpPr/>
          <p:nvPr/>
        </p:nvSpPr>
        <p:spPr>
          <a:xfrm>
            <a:off x="2579370" y="1892808"/>
            <a:ext cx="136208" cy="658368"/>
          </a:xfrm>
          <a:prstGeom prst="rect">
            <a:avLst/>
          </a:prstGeom>
          <a:solidFill>
            <a:schemeClr val="accent4"/>
          </a:solidFill>
          <a:ln/>
        </p:spPr>
      </p:sp>
      <p:sp>
        <p:nvSpPr>
          <p:cNvPr id="16" name="Shape 13"/>
          <p:cNvSpPr/>
          <p:nvPr/>
        </p:nvSpPr>
        <p:spPr>
          <a:xfrm>
            <a:off x="2827020" y="1892808"/>
            <a:ext cx="136208" cy="658368"/>
          </a:xfrm>
          <a:prstGeom prst="rect">
            <a:avLst/>
          </a:prstGeom>
          <a:solidFill>
            <a:schemeClr val="accent4"/>
          </a:solidFill>
          <a:ln/>
        </p:spPr>
      </p:sp>
      <p:sp>
        <p:nvSpPr>
          <p:cNvPr id="17" name="Shape 14"/>
          <p:cNvSpPr/>
          <p:nvPr/>
        </p:nvSpPr>
        <p:spPr>
          <a:xfrm>
            <a:off x="3074670" y="1892808"/>
            <a:ext cx="136208" cy="658368"/>
          </a:xfrm>
          <a:prstGeom prst="rect">
            <a:avLst/>
          </a:prstGeom>
          <a:solidFill>
            <a:schemeClr val="accent4"/>
          </a:solidFill>
          <a:ln/>
        </p:spPr>
      </p:sp>
      <p:sp>
        <p:nvSpPr>
          <p:cNvPr id="18" name="Shape 15"/>
          <p:cNvSpPr/>
          <p:nvPr/>
        </p:nvSpPr>
        <p:spPr>
          <a:xfrm>
            <a:off x="3322320" y="1892808"/>
            <a:ext cx="136208" cy="658368"/>
          </a:xfrm>
          <a:prstGeom prst="rect">
            <a:avLst/>
          </a:prstGeom>
          <a:solidFill>
            <a:schemeClr val="accent4"/>
          </a:solidFill>
          <a:ln/>
        </p:spPr>
      </p:sp>
      <p:sp>
        <p:nvSpPr>
          <p:cNvPr id="19" name="Shape 16"/>
          <p:cNvSpPr/>
          <p:nvPr/>
        </p:nvSpPr>
        <p:spPr>
          <a:xfrm>
            <a:off x="3569970" y="1892808"/>
            <a:ext cx="136208" cy="658368"/>
          </a:xfrm>
          <a:prstGeom prst="rect">
            <a:avLst/>
          </a:prstGeom>
          <a:solidFill>
            <a:schemeClr val="accent4"/>
          </a:solidFill>
          <a:ln/>
        </p:spPr>
      </p:sp>
      <p:sp>
        <p:nvSpPr>
          <p:cNvPr id="20" name="Shape 17"/>
          <p:cNvSpPr/>
          <p:nvPr/>
        </p:nvSpPr>
        <p:spPr>
          <a:xfrm>
            <a:off x="3817620" y="1892808"/>
            <a:ext cx="136208" cy="658368"/>
          </a:xfrm>
          <a:prstGeom prst="rect">
            <a:avLst/>
          </a:prstGeom>
          <a:solidFill>
            <a:schemeClr val="accent4"/>
          </a:solidFill>
          <a:ln/>
        </p:spPr>
      </p:sp>
      <p:sp>
        <p:nvSpPr>
          <p:cNvPr id="21" name="Shape 18"/>
          <p:cNvSpPr/>
          <p:nvPr/>
        </p:nvSpPr>
        <p:spPr>
          <a:xfrm>
            <a:off x="4065270" y="1892808"/>
            <a:ext cx="136208" cy="658368"/>
          </a:xfrm>
          <a:prstGeom prst="rect">
            <a:avLst/>
          </a:prstGeom>
          <a:solidFill>
            <a:schemeClr val="accent4"/>
          </a:solidFill>
          <a:ln/>
        </p:spPr>
      </p:sp>
      <p:sp>
        <p:nvSpPr>
          <p:cNvPr id="22" name="Shape 19"/>
          <p:cNvSpPr/>
          <p:nvPr/>
        </p:nvSpPr>
        <p:spPr>
          <a:xfrm>
            <a:off x="4312920" y="1892808"/>
            <a:ext cx="136208" cy="658368"/>
          </a:xfrm>
          <a:prstGeom prst="rect">
            <a:avLst/>
          </a:prstGeom>
          <a:solidFill>
            <a:schemeClr val="accent4"/>
          </a:solidFill>
          <a:ln/>
        </p:spPr>
      </p:sp>
      <p:sp>
        <p:nvSpPr>
          <p:cNvPr id="23" name="Shape 20"/>
          <p:cNvSpPr/>
          <p:nvPr/>
        </p:nvSpPr>
        <p:spPr>
          <a:xfrm>
            <a:off x="4560570" y="1892808"/>
            <a:ext cx="136208" cy="658368"/>
          </a:xfrm>
          <a:prstGeom prst="rect">
            <a:avLst/>
          </a:prstGeom>
          <a:solidFill>
            <a:schemeClr val="accent4"/>
          </a:solidFill>
          <a:ln/>
        </p:spPr>
      </p:sp>
      <p:sp>
        <p:nvSpPr>
          <p:cNvPr id="24" name="Shape 21"/>
          <p:cNvSpPr/>
          <p:nvPr/>
        </p:nvSpPr>
        <p:spPr>
          <a:xfrm>
            <a:off x="4808220" y="1892808"/>
            <a:ext cx="136208" cy="658368"/>
          </a:xfrm>
          <a:prstGeom prst="rect">
            <a:avLst/>
          </a:prstGeom>
          <a:solidFill>
            <a:schemeClr val="accent4"/>
          </a:solidFill>
          <a:ln/>
        </p:spPr>
      </p:sp>
      <p:sp>
        <p:nvSpPr>
          <p:cNvPr id="25" name="Shape 22"/>
          <p:cNvSpPr/>
          <p:nvPr/>
        </p:nvSpPr>
        <p:spPr>
          <a:xfrm>
            <a:off x="5055870" y="1892808"/>
            <a:ext cx="136208" cy="658368"/>
          </a:xfrm>
          <a:prstGeom prst="rect">
            <a:avLst/>
          </a:prstGeom>
          <a:solidFill>
            <a:schemeClr val="accent4"/>
          </a:solidFill>
          <a:ln/>
        </p:spPr>
      </p:sp>
      <p:sp>
        <p:nvSpPr>
          <p:cNvPr id="26" name="Shape 23"/>
          <p:cNvSpPr/>
          <p:nvPr/>
        </p:nvSpPr>
        <p:spPr>
          <a:xfrm>
            <a:off x="5303520" y="1892808"/>
            <a:ext cx="136208" cy="658368"/>
          </a:xfrm>
          <a:prstGeom prst="rect">
            <a:avLst/>
          </a:prstGeom>
          <a:solidFill>
            <a:schemeClr val="accent4"/>
          </a:solidFill>
          <a:ln/>
        </p:spPr>
      </p:sp>
      <p:sp>
        <p:nvSpPr>
          <p:cNvPr id="27" name="Shape 24"/>
          <p:cNvSpPr/>
          <p:nvPr/>
        </p:nvSpPr>
        <p:spPr>
          <a:xfrm>
            <a:off x="5551170" y="1892808"/>
            <a:ext cx="136208" cy="658368"/>
          </a:xfrm>
          <a:prstGeom prst="rect">
            <a:avLst/>
          </a:prstGeom>
          <a:solidFill>
            <a:schemeClr val="accent4"/>
          </a:solidFill>
          <a:ln/>
        </p:spPr>
      </p:sp>
      <p:sp>
        <p:nvSpPr>
          <p:cNvPr id="28" name="Shape 25"/>
          <p:cNvSpPr/>
          <p:nvPr/>
        </p:nvSpPr>
        <p:spPr>
          <a:xfrm>
            <a:off x="5798820" y="1892808"/>
            <a:ext cx="136208" cy="658368"/>
          </a:xfrm>
          <a:prstGeom prst="rect">
            <a:avLst/>
          </a:prstGeom>
          <a:solidFill>
            <a:schemeClr val="accent4"/>
          </a:solidFill>
          <a:ln/>
        </p:spPr>
      </p:sp>
      <p:sp>
        <p:nvSpPr>
          <p:cNvPr id="29" name="Shape 26"/>
          <p:cNvSpPr/>
          <p:nvPr/>
        </p:nvSpPr>
        <p:spPr>
          <a:xfrm>
            <a:off x="6046470" y="1892808"/>
            <a:ext cx="136208" cy="658368"/>
          </a:xfrm>
          <a:prstGeom prst="rect">
            <a:avLst/>
          </a:prstGeom>
          <a:solidFill>
            <a:schemeClr val="accent4"/>
          </a:solidFill>
          <a:ln/>
        </p:spPr>
      </p:sp>
      <p:sp>
        <p:nvSpPr>
          <p:cNvPr id="30" name="Shape 27"/>
          <p:cNvSpPr/>
          <p:nvPr/>
        </p:nvSpPr>
        <p:spPr>
          <a:xfrm>
            <a:off x="6294120" y="1892808"/>
            <a:ext cx="136208" cy="658368"/>
          </a:xfrm>
          <a:prstGeom prst="rect">
            <a:avLst/>
          </a:prstGeom>
          <a:solidFill>
            <a:schemeClr val="accent4"/>
          </a:solidFill>
          <a:ln/>
        </p:spPr>
      </p:sp>
      <p:sp>
        <p:nvSpPr>
          <p:cNvPr id="31" name="Shape 28"/>
          <p:cNvSpPr/>
          <p:nvPr/>
        </p:nvSpPr>
        <p:spPr>
          <a:xfrm>
            <a:off x="6541770" y="1892808"/>
            <a:ext cx="136208" cy="658368"/>
          </a:xfrm>
          <a:prstGeom prst="rect">
            <a:avLst/>
          </a:prstGeom>
          <a:solidFill>
            <a:schemeClr val="accent4"/>
          </a:solidFill>
          <a:ln/>
        </p:spPr>
      </p:sp>
      <p:sp>
        <p:nvSpPr>
          <p:cNvPr id="32" name="Shape 29"/>
          <p:cNvSpPr/>
          <p:nvPr/>
        </p:nvSpPr>
        <p:spPr>
          <a:xfrm>
            <a:off x="6789420" y="1892808"/>
            <a:ext cx="136208" cy="658368"/>
          </a:xfrm>
          <a:prstGeom prst="rect">
            <a:avLst/>
          </a:prstGeom>
          <a:solidFill>
            <a:schemeClr val="accent4"/>
          </a:solidFill>
          <a:ln/>
        </p:spPr>
      </p:sp>
      <p:sp>
        <p:nvSpPr>
          <p:cNvPr id="33" name="Shape 30"/>
          <p:cNvSpPr/>
          <p:nvPr/>
        </p:nvSpPr>
        <p:spPr>
          <a:xfrm>
            <a:off x="7037070" y="1892808"/>
            <a:ext cx="136208" cy="658368"/>
          </a:xfrm>
          <a:prstGeom prst="rect">
            <a:avLst/>
          </a:prstGeom>
          <a:solidFill>
            <a:schemeClr val="accent4"/>
          </a:solidFill>
          <a:ln/>
        </p:spPr>
      </p:sp>
      <p:sp>
        <p:nvSpPr>
          <p:cNvPr id="34" name="Shape 31"/>
          <p:cNvSpPr/>
          <p:nvPr/>
        </p:nvSpPr>
        <p:spPr>
          <a:xfrm>
            <a:off x="7284720" y="1892808"/>
            <a:ext cx="136208" cy="658368"/>
          </a:xfrm>
          <a:prstGeom prst="rect">
            <a:avLst/>
          </a:prstGeom>
          <a:solidFill>
            <a:schemeClr val="accent4"/>
          </a:solidFill>
          <a:ln/>
        </p:spPr>
      </p:sp>
      <p:sp>
        <p:nvSpPr>
          <p:cNvPr id="35" name="Shape 32"/>
          <p:cNvSpPr/>
          <p:nvPr/>
        </p:nvSpPr>
        <p:spPr>
          <a:xfrm>
            <a:off x="7532370" y="1892808"/>
            <a:ext cx="136208" cy="658368"/>
          </a:xfrm>
          <a:prstGeom prst="rect">
            <a:avLst/>
          </a:prstGeom>
          <a:solidFill>
            <a:schemeClr val="accent4"/>
          </a:solidFill>
          <a:ln/>
        </p:spPr>
      </p:sp>
      <p:sp>
        <p:nvSpPr>
          <p:cNvPr id="36" name="Shape 33"/>
          <p:cNvSpPr/>
          <p:nvPr/>
        </p:nvSpPr>
        <p:spPr>
          <a:xfrm>
            <a:off x="7780020" y="1892808"/>
            <a:ext cx="136208" cy="658368"/>
          </a:xfrm>
          <a:prstGeom prst="rect">
            <a:avLst/>
          </a:prstGeom>
          <a:solidFill>
            <a:schemeClr val="accent4"/>
          </a:solidFill>
          <a:ln/>
        </p:spPr>
      </p:sp>
      <p:sp>
        <p:nvSpPr>
          <p:cNvPr id="37" name="Shape 34"/>
          <p:cNvSpPr/>
          <p:nvPr/>
        </p:nvSpPr>
        <p:spPr>
          <a:xfrm>
            <a:off x="8027670" y="1892808"/>
            <a:ext cx="136208" cy="658368"/>
          </a:xfrm>
          <a:prstGeom prst="rect">
            <a:avLst/>
          </a:prstGeom>
          <a:solidFill>
            <a:schemeClr val="accent4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8549640" y="1783080"/>
            <a:ext cx="2956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영화 같은 느낌</a:t>
            </a:r>
            <a:endParaRPr lang="en-US" sz="1600" dirty="0"/>
          </a:p>
        </p:txBody>
      </p:sp>
      <p:sp>
        <p:nvSpPr>
          <p:cNvPr id="39" name="Text 36"/>
          <p:cNvSpPr txBox="1"/>
          <p:nvPr/>
        </p:nvSpPr>
        <p:spPr>
          <a:xfrm>
            <a:off x="685800" y="3063240"/>
            <a:ext cx="1005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2"/>
                </a:solidFill>
              </a:rPr>
              <a:t>30</a:t>
            </a:r>
            <a:endParaRPr lang="en-US" sz="4000" dirty="0"/>
          </a:p>
        </p:txBody>
      </p:sp>
      <p:sp>
        <p:nvSpPr>
          <p:cNvPr id="40" name="Text 37"/>
          <p:cNvSpPr txBox="1"/>
          <p:nvPr/>
        </p:nvSpPr>
        <p:spPr>
          <a:xfrm>
            <a:off x="1645920" y="335584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fps</a:t>
            </a:r>
            <a:endParaRPr lang="en-US" sz="1400" dirty="0"/>
          </a:p>
        </p:txBody>
      </p:sp>
      <p:sp>
        <p:nvSpPr>
          <p:cNvPr id="41" name="Shape 38"/>
          <p:cNvSpPr/>
          <p:nvPr/>
        </p:nvSpPr>
        <p:spPr>
          <a:xfrm>
            <a:off x="2331720" y="3172968"/>
            <a:ext cx="108966" cy="658368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42" name="Shape 39"/>
          <p:cNvSpPr/>
          <p:nvPr/>
        </p:nvSpPr>
        <p:spPr>
          <a:xfrm>
            <a:off x="2529840" y="3172968"/>
            <a:ext cx="108966" cy="658368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43" name="Shape 40"/>
          <p:cNvSpPr/>
          <p:nvPr/>
        </p:nvSpPr>
        <p:spPr>
          <a:xfrm>
            <a:off x="2727960" y="3172968"/>
            <a:ext cx="108966" cy="658368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44" name="Shape 41"/>
          <p:cNvSpPr/>
          <p:nvPr/>
        </p:nvSpPr>
        <p:spPr>
          <a:xfrm>
            <a:off x="2926080" y="3172968"/>
            <a:ext cx="108966" cy="658368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45" name="Shape 42"/>
          <p:cNvSpPr/>
          <p:nvPr/>
        </p:nvSpPr>
        <p:spPr>
          <a:xfrm>
            <a:off x="3124200" y="3172968"/>
            <a:ext cx="108966" cy="658368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46" name="Shape 43"/>
          <p:cNvSpPr/>
          <p:nvPr/>
        </p:nvSpPr>
        <p:spPr>
          <a:xfrm>
            <a:off x="3322320" y="3172968"/>
            <a:ext cx="108966" cy="658368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47" name="Shape 44"/>
          <p:cNvSpPr/>
          <p:nvPr/>
        </p:nvSpPr>
        <p:spPr>
          <a:xfrm>
            <a:off x="3520440" y="3172968"/>
            <a:ext cx="108966" cy="658368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48" name="Shape 45"/>
          <p:cNvSpPr/>
          <p:nvPr/>
        </p:nvSpPr>
        <p:spPr>
          <a:xfrm>
            <a:off x="3718560" y="3172968"/>
            <a:ext cx="108966" cy="658368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49" name="Shape 46"/>
          <p:cNvSpPr/>
          <p:nvPr/>
        </p:nvSpPr>
        <p:spPr>
          <a:xfrm>
            <a:off x="3916680" y="3172968"/>
            <a:ext cx="108966" cy="658368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50" name="Shape 47"/>
          <p:cNvSpPr/>
          <p:nvPr/>
        </p:nvSpPr>
        <p:spPr>
          <a:xfrm>
            <a:off x="4114800" y="3172968"/>
            <a:ext cx="108966" cy="658368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51" name="Shape 48"/>
          <p:cNvSpPr/>
          <p:nvPr/>
        </p:nvSpPr>
        <p:spPr>
          <a:xfrm>
            <a:off x="4312920" y="3172968"/>
            <a:ext cx="108966" cy="658368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52" name="Shape 49"/>
          <p:cNvSpPr/>
          <p:nvPr/>
        </p:nvSpPr>
        <p:spPr>
          <a:xfrm>
            <a:off x="4511040" y="3172968"/>
            <a:ext cx="108966" cy="658368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53" name="Shape 50"/>
          <p:cNvSpPr/>
          <p:nvPr/>
        </p:nvSpPr>
        <p:spPr>
          <a:xfrm>
            <a:off x="4709160" y="3172968"/>
            <a:ext cx="108966" cy="658368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54" name="Shape 51"/>
          <p:cNvSpPr/>
          <p:nvPr/>
        </p:nvSpPr>
        <p:spPr>
          <a:xfrm>
            <a:off x="4907280" y="3172968"/>
            <a:ext cx="108966" cy="658368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55" name="Shape 52"/>
          <p:cNvSpPr/>
          <p:nvPr/>
        </p:nvSpPr>
        <p:spPr>
          <a:xfrm>
            <a:off x="5105400" y="3172968"/>
            <a:ext cx="108966" cy="658368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56" name="Shape 53"/>
          <p:cNvSpPr/>
          <p:nvPr/>
        </p:nvSpPr>
        <p:spPr>
          <a:xfrm>
            <a:off x="5303520" y="3172968"/>
            <a:ext cx="108966" cy="658368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57" name="Shape 54"/>
          <p:cNvSpPr/>
          <p:nvPr/>
        </p:nvSpPr>
        <p:spPr>
          <a:xfrm>
            <a:off x="5501640" y="3172968"/>
            <a:ext cx="108966" cy="658368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58" name="Shape 55"/>
          <p:cNvSpPr/>
          <p:nvPr/>
        </p:nvSpPr>
        <p:spPr>
          <a:xfrm>
            <a:off x="5699760" y="3172968"/>
            <a:ext cx="108966" cy="658368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59" name="Shape 56"/>
          <p:cNvSpPr/>
          <p:nvPr/>
        </p:nvSpPr>
        <p:spPr>
          <a:xfrm>
            <a:off x="5897880" y="3172968"/>
            <a:ext cx="108966" cy="658368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60" name="Shape 57"/>
          <p:cNvSpPr/>
          <p:nvPr/>
        </p:nvSpPr>
        <p:spPr>
          <a:xfrm>
            <a:off x="6096000" y="3172968"/>
            <a:ext cx="108966" cy="658368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61" name="Shape 58"/>
          <p:cNvSpPr/>
          <p:nvPr/>
        </p:nvSpPr>
        <p:spPr>
          <a:xfrm>
            <a:off x="6294120" y="3172968"/>
            <a:ext cx="108966" cy="658368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62" name="Shape 59"/>
          <p:cNvSpPr/>
          <p:nvPr/>
        </p:nvSpPr>
        <p:spPr>
          <a:xfrm>
            <a:off x="6492240" y="3172968"/>
            <a:ext cx="108966" cy="658368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63" name="Shape 60"/>
          <p:cNvSpPr/>
          <p:nvPr/>
        </p:nvSpPr>
        <p:spPr>
          <a:xfrm>
            <a:off x="6690360" y="3172968"/>
            <a:ext cx="108966" cy="658368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64" name="Shape 61"/>
          <p:cNvSpPr/>
          <p:nvPr/>
        </p:nvSpPr>
        <p:spPr>
          <a:xfrm>
            <a:off x="6888480" y="3172968"/>
            <a:ext cx="108966" cy="658368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65" name="Shape 62"/>
          <p:cNvSpPr/>
          <p:nvPr/>
        </p:nvSpPr>
        <p:spPr>
          <a:xfrm>
            <a:off x="7086600" y="3172968"/>
            <a:ext cx="108966" cy="658368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66" name="Shape 63"/>
          <p:cNvSpPr/>
          <p:nvPr/>
        </p:nvSpPr>
        <p:spPr>
          <a:xfrm>
            <a:off x="7284720" y="3172968"/>
            <a:ext cx="108966" cy="658368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67" name="Shape 64"/>
          <p:cNvSpPr/>
          <p:nvPr/>
        </p:nvSpPr>
        <p:spPr>
          <a:xfrm>
            <a:off x="7482840" y="3172968"/>
            <a:ext cx="108966" cy="658368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68" name="Shape 65"/>
          <p:cNvSpPr/>
          <p:nvPr/>
        </p:nvSpPr>
        <p:spPr>
          <a:xfrm>
            <a:off x="7680960" y="3172968"/>
            <a:ext cx="108966" cy="658368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69" name="Shape 66"/>
          <p:cNvSpPr/>
          <p:nvPr/>
        </p:nvSpPr>
        <p:spPr>
          <a:xfrm>
            <a:off x="7879080" y="3172968"/>
            <a:ext cx="108966" cy="658368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70" name="Shape 67"/>
          <p:cNvSpPr/>
          <p:nvPr/>
        </p:nvSpPr>
        <p:spPr>
          <a:xfrm>
            <a:off x="8077200" y="3172968"/>
            <a:ext cx="108966" cy="658368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71" name="Text 68"/>
          <p:cNvSpPr txBox="1"/>
          <p:nvPr/>
        </p:nvSpPr>
        <p:spPr>
          <a:xfrm>
            <a:off x="8549640" y="3063240"/>
            <a:ext cx="2956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SNS 기본 · 우리 수업 기본값</a:t>
            </a:r>
            <a:endParaRPr lang="en-US" sz="1600" dirty="0"/>
          </a:p>
        </p:txBody>
      </p:sp>
      <p:sp>
        <p:nvSpPr>
          <p:cNvPr id="72" name="Text 69"/>
          <p:cNvSpPr txBox="1"/>
          <p:nvPr/>
        </p:nvSpPr>
        <p:spPr>
          <a:xfrm>
            <a:off x="685800" y="4343400"/>
            <a:ext cx="1005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3"/>
                </a:solidFill>
              </a:rPr>
              <a:t>60</a:t>
            </a:r>
            <a:endParaRPr lang="en-US" sz="4000" dirty="0"/>
          </a:p>
        </p:txBody>
      </p:sp>
      <p:sp>
        <p:nvSpPr>
          <p:cNvPr id="73" name="Text 70"/>
          <p:cNvSpPr txBox="1"/>
          <p:nvPr/>
        </p:nvSpPr>
        <p:spPr>
          <a:xfrm>
            <a:off x="1645920" y="463600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fps</a:t>
            </a:r>
            <a:endParaRPr lang="en-US" sz="1400" dirty="0"/>
          </a:p>
        </p:txBody>
      </p:sp>
      <p:sp>
        <p:nvSpPr>
          <p:cNvPr id="74" name="Shape 71"/>
          <p:cNvSpPr/>
          <p:nvPr/>
        </p:nvSpPr>
        <p:spPr>
          <a:xfrm>
            <a:off x="2331720" y="4453128"/>
            <a:ext cx="54483" cy="658368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75" name="Shape 72"/>
          <p:cNvSpPr/>
          <p:nvPr/>
        </p:nvSpPr>
        <p:spPr>
          <a:xfrm>
            <a:off x="2430780" y="4453128"/>
            <a:ext cx="54483" cy="658368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76" name="Shape 73"/>
          <p:cNvSpPr/>
          <p:nvPr/>
        </p:nvSpPr>
        <p:spPr>
          <a:xfrm>
            <a:off x="2529840" y="4453128"/>
            <a:ext cx="54483" cy="658368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77" name="Shape 74"/>
          <p:cNvSpPr/>
          <p:nvPr/>
        </p:nvSpPr>
        <p:spPr>
          <a:xfrm>
            <a:off x="2628900" y="4453128"/>
            <a:ext cx="54483" cy="658368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78" name="Shape 75"/>
          <p:cNvSpPr/>
          <p:nvPr/>
        </p:nvSpPr>
        <p:spPr>
          <a:xfrm>
            <a:off x="2727960" y="4453128"/>
            <a:ext cx="54483" cy="658368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79" name="Shape 76"/>
          <p:cNvSpPr/>
          <p:nvPr/>
        </p:nvSpPr>
        <p:spPr>
          <a:xfrm>
            <a:off x="2827020" y="4453128"/>
            <a:ext cx="54483" cy="658368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80" name="Shape 77"/>
          <p:cNvSpPr/>
          <p:nvPr/>
        </p:nvSpPr>
        <p:spPr>
          <a:xfrm>
            <a:off x="2926080" y="4453128"/>
            <a:ext cx="54483" cy="658368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81" name="Shape 78"/>
          <p:cNvSpPr/>
          <p:nvPr/>
        </p:nvSpPr>
        <p:spPr>
          <a:xfrm>
            <a:off x="3025140" y="4453128"/>
            <a:ext cx="54483" cy="658368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82" name="Shape 79"/>
          <p:cNvSpPr/>
          <p:nvPr/>
        </p:nvSpPr>
        <p:spPr>
          <a:xfrm>
            <a:off x="3124200" y="4453128"/>
            <a:ext cx="54483" cy="658368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83" name="Shape 80"/>
          <p:cNvSpPr/>
          <p:nvPr/>
        </p:nvSpPr>
        <p:spPr>
          <a:xfrm>
            <a:off x="3223260" y="4453128"/>
            <a:ext cx="54483" cy="658368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84" name="Shape 81"/>
          <p:cNvSpPr/>
          <p:nvPr/>
        </p:nvSpPr>
        <p:spPr>
          <a:xfrm>
            <a:off x="3322320" y="4453128"/>
            <a:ext cx="54483" cy="658368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85" name="Shape 82"/>
          <p:cNvSpPr/>
          <p:nvPr/>
        </p:nvSpPr>
        <p:spPr>
          <a:xfrm>
            <a:off x="3421380" y="4453128"/>
            <a:ext cx="54483" cy="658368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86" name="Shape 83"/>
          <p:cNvSpPr/>
          <p:nvPr/>
        </p:nvSpPr>
        <p:spPr>
          <a:xfrm>
            <a:off x="3520440" y="4453128"/>
            <a:ext cx="54483" cy="658368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87" name="Shape 84"/>
          <p:cNvSpPr/>
          <p:nvPr/>
        </p:nvSpPr>
        <p:spPr>
          <a:xfrm>
            <a:off x="3619500" y="4453128"/>
            <a:ext cx="54483" cy="658368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88" name="Shape 85"/>
          <p:cNvSpPr/>
          <p:nvPr/>
        </p:nvSpPr>
        <p:spPr>
          <a:xfrm>
            <a:off x="3718560" y="4453128"/>
            <a:ext cx="54483" cy="658368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89" name="Shape 86"/>
          <p:cNvSpPr/>
          <p:nvPr/>
        </p:nvSpPr>
        <p:spPr>
          <a:xfrm>
            <a:off x="3817620" y="4453128"/>
            <a:ext cx="54483" cy="658368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90" name="Shape 87"/>
          <p:cNvSpPr/>
          <p:nvPr/>
        </p:nvSpPr>
        <p:spPr>
          <a:xfrm>
            <a:off x="3916680" y="4453128"/>
            <a:ext cx="54483" cy="658368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91" name="Shape 88"/>
          <p:cNvSpPr/>
          <p:nvPr/>
        </p:nvSpPr>
        <p:spPr>
          <a:xfrm>
            <a:off x="4015740" y="4453128"/>
            <a:ext cx="54483" cy="658368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92" name="Shape 89"/>
          <p:cNvSpPr/>
          <p:nvPr/>
        </p:nvSpPr>
        <p:spPr>
          <a:xfrm>
            <a:off x="4114800" y="4453128"/>
            <a:ext cx="54483" cy="658368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93" name="Shape 90"/>
          <p:cNvSpPr/>
          <p:nvPr/>
        </p:nvSpPr>
        <p:spPr>
          <a:xfrm>
            <a:off x="4213860" y="4453128"/>
            <a:ext cx="54483" cy="658368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94" name="Shape 91"/>
          <p:cNvSpPr/>
          <p:nvPr/>
        </p:nvSpPr>
        <p:spPr>
          <a:xfrm>
            <a:off x="4312920" y="4453128"/>
            <a:ext cx="54483" cy="658368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95" name="Shape 92"/>
          <p:cNvSpPr/>
          <p:nvPr/>
        </p:nvSpPr>
        <p:spPr>
          <a:xfrm>
            <a:off x="4411980" y="4453128"/>
            <a:ext cx="54483" cy="658368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96" name="Shape 93"/>
          <p:cNvSpPr/>
          <p:nvPr/>
        </p:nvSpPr>
        <p:spPr>
          <a:xfrm>
            <a:off x="4511040" y="4453128"/>
            <a:ext cx="54483" cy="658368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97" name="Shape 94"/>
          <p:cNvSpPr/>
          <p:nvPr/>
        </p:nvSpPr>
        <p:spPr>
          <a:xfrm>
            <a:off x="4610100" y="4453128"/>
            <a:ext cx="54483" cy="658368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98" name="Shape 95"/>
          <p:cNvSpPr/>
          <p:nvPr/>
        </p:nvSpPr>
        <p:spPr>
          <a:xfrm>
            <a:off x="4709160" y="4453128"/>
            <a:ext cx="54483" cy="658368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99" name="Shape 96"/>
          <p:cNvSpPr/>
          <p:nvPr/>
        </p:nvSpPr>
        <p:spPr>
          <a:xfrm>
            <a:off x="4808220" y="4453128"/>
            <a:ext cx="54483" cy="658368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100" name="Shape 97"/>
          <p:cNvSpPr/>
          <p:nvPr/>
        </p:nvSpPr>
        <p:spPr>
          <a:xfrm>
            <a:off x="4907280" y="4453128"/>
            <a:ext cx="54483" cy="658368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101" name="Shape 98"/>
          <p:cNvSpPr/>
          <p:nvPr/>
        </p:nvSpPr>
        <p:spPr>
          <a:xfrm>
            <a:off x="5006340" y="4453128"/>
            <a:ext cx="54483" cy="658368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102" name="Shape 99"/>
          <p:cNvSpPr/>
          <p:nvPr/>
        </p:nvSpPr>
        <p:spPr>
          <a:xfrm>
            <a:off x="5105400" y="4453128"/>
            <a:ext cx="54483" cy="658368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103" name="Shape 100"/>
          <p:cNvSpPr/>
          <p:nvPr/>
        </p:nvSpPr>
        <p:spPr>
          <a:xfrm>
            <a:off x="5204460" y="4453128"/>
            <a:ext cx="54483" cy="658368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104" name="Shape 101"/>
          <p:cNvSpPr/>
          <p:nvPr/>
        </p:nvSpPr>
        <p:spPr>
          <a:xfrm>
            <a:off x="5303520" y="4453128"/>
            <a:ext cx="54483" cy="658368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105" name="Shape 102"/>
          <p:cNvSpPr/>
          <p:nvPr/>
        </p:nvSpPr>
        <p:spPr>
          <a:xfrm>
            <a:off x="5402580" y="4453128"/>
            <a:ext cx="54483" cy="658368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106" name="Shape 103"/>
          <p:cNvSpPr/>
          <p:nvPr/>
        </p:nvSpPr>
        <p:spPr>
          <a:xfrm>
            <a:off x="5501640" y="4453128"/>
            <a:ext cx="54483" cy="658368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107" name="Shape 104"/>
          <p:cNvSpPr/>
          <p:nvPr/>
        </p:nvSpPr>
        <p:spPr>
          <a:xfrm>
            <a:off x="5600700" y="4453128"/>
            <a:ext cx="54483" cy="658368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108" name="Shape 105"/>
          <p:cNvSpPr/>
          <p:nvPr/>
        </p:nvSpPr>
        <p:spPr>
          <a:xfrm>
            <a:off x="5699760" y="4453128"/>
            <a:ext cx="54483" cy="658368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109" name="Shape 106"/>
          <p:cNvSpPr/>
          <p:nvPr/>
        </p:nvSpPr>
        <p:spPr>
          <a:xfrm>
            <a:off x="5798820" y="4453128"/>
            <a:ext cx="54483" cy="658368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110" name="Shape 107"/>
          <p:cNvSpPr/>
          <p:nvPr/>
        </p:nvSpPr>
        <p:spPr>
          <a:xfrm>
            <a:off x="5897880" y="4453128"/>
            <a:ext cx="54483" cy="658368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111" name="Shape 108"/>
          <p:cNvSpPr/>
          <p:nvPr/>
        </p:nvSpPr>
        <p:spPr>
          <a:xfrm>
            <a:off x="5996940" y="4453128"/>
            <a:ext cx="54483" cy="658368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112" name="Shape 109"/>
          <p:cNvSpPr/>
          <p:nvPr/>
        </p:nvSpPr>
        <p:spPr>
          <a:xfrm>
            <a:off x="6096000" y="4453128"/>
            <a:ext cx="54483" cy="658368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113" name="Shape 110"/>
          <p:cNvSpPr/>
          <p:nvPr/>
        </p:nvSpPr>
        <p:spPr>
          <a:xfrm>
            <a:off x="6195060" y="4453128"/>
            <a:ext cx="54483" cy="658368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114" name="Shape 111"/>
          <p:cNvSpPr/>
          <p:nvPr/>
        </p:nvSpPr>
        <p:spPr>
          <a:xfrm>
            <a:off x="6294120" y="4453128"/>
            <a:ext cx="54483" cy="658368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115" name="Shape 112"/>
          <p:cNvSpPr/>
          <p:nvPr/>
        </p:nvSpPr>
        <p:spPr>
          <a:xfrm>
            <a:off x="6393180" y="4453128"/>
            <a:ext cx="54483" cy="658368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116" name="Shape 113"/>
          <p:cNvSpPr/>
          <p:nvPr/>
        </p:nvSpPr>
        <p:spPr>
          <a:xfrm>
            <a:off x="6492240" y="4453128"/>
            <a:ext cx="54483" cy="658368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117" name="Shape 114"/>
          <p:cNvSpPr/>
          <p:nvPr/>
        </p:nvSpPr>
        <p:spPr>
          <a:xfrm>
            <a:off x="6591300" y="4453128"/>
            <a:ext cx="54483" cy="658368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118" name="Shape 115"/>
          <p:cNvSpPr/>
          <p:nvPr/>
        </p:nvSpPr>
        <p:spPr>
          <a:xfrm>
            <a:off x="6690360" y="4453128"/>
            <a:ext cx="54483" cy="658368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119" name="Shape 116"/>
          <p:cNvSpPr/>
          <p:nvPr/>
        </p:nvSpPr>
        <p:spPr>
          <a:xfrm>
            <a:off x="6789420" y="4453128"/>
            <a:ext cx="54483" cy="658368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120" name="Shape 117"/>
          <p:cNvSpPr/>
          <p:nvPr/>
        </p:nvSpPr>
        <p:spPr>
          <a:xfrm>
            <a:off x="6888480" y="4453128"/>
            <a:ext cx="54483" cy="658368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121" name="Shape 118"/>
          <p:cNvSpPr/>
          <p:nvPr/>
        </p:nvSpPr>
        <p:spPr>
          <a:xfrm>
            <a:off x="6987540" y="4453128"/>
            <a:ext cx="54483" cy="658368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122" name="Shape 119"/>
          <p:cNvSpPr/>
          <p:nvPr/>
        </p:nvSpPr>
        <p:spPr>
          <a:xfrm>
            <a:off x="7086600" y="4453128"/>
            <a:ext cx="54483" cy="658368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123" name="Shape 120"/>
          <p:cNvSpPr/>
          <p:nvPr/>
        </p:nvSpPr>
        <p:spPr>
          <a:xfrm>
            <a:off x="7185660" y="4453128"/>
            <a:ext cx="54483" cy="658368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124" name="Shape 121"/>
          <p:cNvSpPr/>
          <p:nvPr/>
        </p:nvSpPr>
        <p:spPr>
          <a:xfrm>
            <a:off x="7284720" y="4453128"/>
            <a:ext cx="54483" cy="658368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125" name="Shape 122"/>
          <p:cNvSpPr/>
          <p:nvPr/>
        </p:nvSpPr>
        <p:spPr>
          <a:xfrm>
            <a:off x="7383780" y="4453128"/>
            <a:ext cx="54483" cy="658368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126" name="Shape 123"/>
          <p:cNvSpPr/>
          <p:nvPr/>
        </p:nvSpPr>
        <p:spPr>
          <a:xfrm>
            <a:off x="7482840" y="4453128"/>
            <a:ext cx="54483" cy="658368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127" name="Shape 124"/>
          <p:cNvSpPr/>
          <p:nvPr/>
        </p:nvSpPr>
        <p:spPr>
          <a:xfrm>
            <a:off x="7581900" y="4453128"/>
            <a:ext cx="54483" cy="658368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128" name="Shape 125"/>
          <p:cNvSpPr/>
          <p:nvPr/>
        </p:nvSpPr>
        <p:spPr>
          <a:xfrm>
            <a:off x="7680960" y="4453128"/>
            <a:ext cx="54483" cy="658368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129" name="Shape 126"/>
          <p:cNvSpPr/>
          <p:nvPr/>
        </p:nvSpPr>
        <p:spPr>
          <a:xfrm>
            <a:off x="7780020" y="4453128"/>
            <a:ext cx="54483" cy="658368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130" name="Shape 127"/>
          <p:cNvSpPr/>
          <p:nvPr/>
        </p:nvSpPr>
        <p:spPr>
          <a:xfrm>
            <a:off x="7879080" y="4453128"/>
            <a:ext cx="54483" cy="658368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131" name="Shape 128"/>
          <p:cNvSpPr/>
          <p:nvPr/>
        </p:nvSpPr>
        <p:spPr>
          <a:xfrm>
            <a:off x="7978140" y="4453128"/>
            <a:ext cx="54483" cy="658368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132" name="Shape 129"/>
          <p:cNvSpPr/>
          <p:nvPr/>
        </p:nvSpPr>
        <p:spPr>
          <a:xfrm>
            <a:off x="8077200" y="4453128"/>
            <a:ext cx="54483" cy="658368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133" name="Shape 130"/>
          <p:cNvSpPr/>
          <p:nvPr/>
        </p:nvSpPr>
        <p:spPr>
          <a:xfrm>
            <a:off x="8176260" y="4453128"/>
            <a:ext cx="54483" cy="658368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134" name="Text 131"/>
          <p:cNvSpPr txBox="1"/>
          <p:nvPr/>
        </p:nvSpPr>
        <p:spPr>
          <a:xfrm>
            <a:off x="8549640" y="4343400"/>
            <a:ext cx="2956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매끄러운 움직임 · 슬로모션 재료</a:t>
            </a:r>
            <a:endParaRPr lang="en-US" sz="1600" dirty="0"/>
          </a:p>
        </p:txBody>
      </p:sp>
      <p:sp>
        <p:nvSpPr>
          <p:cNvPr id="135" name="Text 132"/>
          <p:cNvSpPr txBox="1"/>
          <p:nvPr/>
        </p:nvSpPr>
        <p:spPr>
          <a:xfrm>
            <a:off x="2331720" y="548640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← 1초 →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A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91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4교시 · 카메라의 원리 ② 영상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0125151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4" name="Shape 2"/>
          <p:cNvSpPr/>
          <p:nvPr/>
        </p:nvSpPr>
        <p:spPr>
          <a:xfrm>
            <a:off x="10335463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5" name="Shape 3"/>
          <p:cNvSpPr/>
          <p:nvPr/>
        </p:nvSpPr>
        <p:spPr>
          <a:xfrm>
            <a:off x="10545775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6" name="Shape 4"/>
          <p:cNvSpPr/>
          <p:nvPr/>
        </p:nvSpPr>
        <p:spPr>
          <a:xfrm>
            <a:off x="10756087" y="502920"/>
            <a:ext cx="118872" cy="1188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7" name="Shape 5"/>
          <p:cNvSpPr/>
          <p:nvPr/>
        </p:nvSpPr>
        <p:spPr>
          <a:xfrm>
            <a:off x="10966399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8" name="Shape 6"/>
          <p:cNvSpPr/>
          <p:nvPr/>
        </p:nvSpPr>
        <p:spPr>
          <a:xfrm>
            <a:off x="11176711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9" name="Shape 7"/>
          <p:cNvSpPr/>
          <p:nvPr/>
        </p:nvSpPr>
        <p:spPr>
          <a:xfrm>
            <a:off x="11387023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10" name="Text 1"/>
          <p:cNvSpPr/>
          <p:nvPr>
            <p:ph idx="101" type="title" hasCustomPrompt="1"/>
          </p:nvPr>
        </p:nvSpPr>
        <p:spPr>
          <a:xfrm>
            <a:off x="685800" y="713232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셔터 2배 규칙과 깜빡이는 조명</a:t>
            </a:r>
            <a:endParaRPr lang="en-US" sz="2800" dirty="0"/>
          </a:p>
        </p:txBody>
      </p:sp>
      <p:sp>
        <p:nvSpPr>
          <p:cNvPr id="12" name="Shape 9"/>
          <p:cNvSpPr/>
          <p:nvPr/>
        </p:nvSpPr>
        <p:spPr>
          <a:xfrm>
            <a:off x="685800" y="1645920"/>
            <a:ext cx="5669280" cy="896112"/>
          </a:xfrm>
          <a:prstGeom prst="roundRect">
            <a:avLst>
              <a:gd name="adj" fmla="val 8163"/>
            </a:avLst>
          </a:prstGeom>
          <a:solidFill>
            <a:schemeClr val="bg2"/>
          </a:solidFill>
          <a:ln/>
        </p:spPr>
      </p:sp>
      <p:sp>
        <p:nvSpPr>
          <p:cNvPr id="13" name="Shape 10"/>
          <p:cNvSpPr/>
          <p:nvPr/>
        </p:nvSpPr>
        <p:spPr>
          <a:xfrm>
            <a:off x="886968" y="1865376"/>
            <a:ext cx="457200" cy="45720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886968" y="18653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30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1554480" y="1645920"/>
            <a:ext cx="25603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30fps → 셔터 1/60</a:t>
            </a:r>
            <a:endParaRPr lang="en-US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4114800" y="1645920"/>
            <a:ext cx="20574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가장 자연스러운 움직임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685800" y="2670048"/>
            <a:ext cx="5669280" cy="896112"/>
          </a:xfrm>
          <a:prstGeom prst="roundRect">
            <a:avLst>
              <a:gd name="adj" fmla="val 8163"/>
            </a:avLst>
          </a:prstGeom>
          <a:solidFill>
            <a:schemeClr val="bg2"/>
          </a:solidFill>
          <a:ln/>
        </p:spPr>
      </p:sp>
      <p:sp>
        <p:nvSpPr>
          <p:cNvPr id="18" name="Shape 15"/>
          <p:cNvSpPr/>
          <p:nvPr/>
        </p:nvSpPr>
        <p:spPr>
          <a:xfrm>
            <a:off x="886968" y="2889504"/>
            <a:ext cx="457200" cy="45720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886968" y="288950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60</a:t>
            </a:r>
            <a:endParaRPr lang="en-US" sz="1300" dirty="0"/>
          </a:p>
        </p:txBody>
      </p:sp>
      <p:sp>
        <p:nvSpPr>
          <p:cNvPr id="20" name="Text 17"/>
          <p:cNvSpPr txBox="1"/>
          <p:nvPr/>
        </p:nvSpPr>
        <p:spPr>
          <a:xfrm>
            <a:off x="1554480" y="2670048"/>
            <a:ext cx="25603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60fps → 셔터 1/120</a:t>
            </a:r>
            <a:endParaRPr lang="en-US" sz="1600" dirty="0"/>
          </a:p>
        </p:txBody>
      </p:sp>
      <p:sp>
        <p:nvSpPr>
          <p:cNvPr id="21" name="Text 18"/>
          <p:cNvSpPr txBox="1"/>
          <p:nvPr/>
        </p:nvSpPr>
        <p:spPr>
          <a:xfrm>
            <a:off x="4114800" y="2670048"/>
            <a:ext cx="20574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슬로모션 재료로 찍을 때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685800" y="3694176"/>
            <a:ext cx="5669280" cy="896112"/>
          </a:xfrm>
          <a:prstGeom prst="roundRect">
            <a:avLst>
              <a:gd name="adj" fmla="val 8163"/>
            </a:avLst>
          </a:prstGeom>
          <a:solidFill>
            <a:schemeClr val="bg2"/>
          </a:solidFill>
          <a:ln/>
        </p:spPr>
      </p:sp>
      <p:sp>
        <p:nvSpPr>
          <p:cNvPr id="23" name="Shape 20"/>
          <p:cNvSpPr/>
          <p:nvPr/>
        </p:nvSpPr>
        <p:spPr>
          <a:xfrm>
            <a:off x="886968" y="3913632"/>
            <a:ext cx="457200" cy="45720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886968" y="39136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!</a:t>
            </a:r>
            <a:endParaRPr lang="en-US" sz="1300" dirty="0"/>
          </a:p>
        </p:txBody>
      </p:sp>
      <p:sp>
        <p:nvSpPr>
          <p:cNvPr id="25" name="Text 22"/>
          <p:cNvSpPr txBox="1"/>
          <p:nvPr/>
        </p:nvSpPr>
        <p:spPr>
          <a:xfrm>
            <a:off x="1554480" y="3694176"/>
            <a:ext cx="25603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너무 빠른 셔터 (1/1000)</a:t>
            </a:r>
            <a:endParaRPr lang="en-US" sz="1600" dirty="0"/>
          </a:p>
        </p:txBody>
      </p:sp>
      <p:sp>
        <p:nvSpPr>
          <p:cNvPr id="26" name="Text 23"/>
          <p:cNvSpPr txBox="1"/>
          <p:nvPr/>
        </p:nvSpPr>
        <p:spPr>
          <a:xfrm>
            <a:off x="4114800" y="3694176"/>
            <a:ext cx="20574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움직임이 뚝뚝 끊겨 보여요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6629400" y="1645920"/>
            <a:ext cx="4876495" cy="2926080"/>
          </a:xfrm>
          <a:prstGeom prst="roundRect">
            <a:avLst>
              <a:gd name="adj" fmla="val 2500"/>
            </a:avLst>
          </a:prstGeom>
          <a:solidFill>
            <a:schemeClr val="tx2"/>
          </a:solidFill>
          <a:ln/>
        </p:spPr>
      </p:sp>
      <p:sp>
        <p:nvSpPr>
          <p:cNvPr id="28" name="Shape 25"/>
          <p:cNvSpPr/>
          <p:nvPr/>
        </p:nvSpPr>
        <p:spPr>
          <a:xfrm>
            <a:off x="6949440" y="1920240"/>
            <a:ext cx="640080" cy="640080"/>
          </a:xfrm>
          <a:prstGeom prst="ellipse">
            <a:avLst/>
          </a:prstGeom>
          <a:solidFill>
            <a:srgbClr val="26302C"/>
          </a:solidFill>
          <a:ln/>
        </p:spPr>
      </p:sp>
      <p:pic>
        <p:nvPicPr>
          <p:cNvPr id="29" name="Image 0" descr="FaLightbul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15861" y="2086661"/>
            <a:ext cx="307238" cy="307238"/>
          </a:xfrm>
          <a:prstGeom prst="rect">
            <a:avLst/>
          </a:prstGeom>
        </p:spPr>
      </p:pic>
      <p:sp>
        <p:nvSpPr>
          <p:cNvPr id="30" name="Text 26"/>
          <p:cNvSpPr txBox="1"/>
          <p:nvPr/>
        </p:nvSpPr>
        <p:spPr>
          <a:xfrm>
            <a:off x="6949440" y="2697480"/>
            <a:ext cx="4236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화면에 줄이 흐르면</a:t>
            </a:r>
            <a:endParaRPr lang="en-US" sz="1900" dirty="0"/>
          </a:p>
        </p:txBody>
      </p:sp>
      <p:sp>
        <p:nvSpPr>
          <p:cNvPr id="31" name="Text 27"/>
          <p:cNvSpPr txBox="1"/>
          <p:nvPr/>
        </p:nvSpPr>
        <p:spPr>
          <a:xfrm>
            <a:off x="6949440" y="3154680"/>
            <a:ext cx="423641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C9D3CE"/>
                </a:solidFill>
              </a:rPr>
              <a:t>실내 형광등 · LED가 깜빡이는 것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C9D3CE"/>
                </a:solidFill>
              </a:rPr>
              <a:t>→ 셔터를 1/60 또는 1/120으로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C9D3CE"/>
                </a:solidFill>
              </a:rPr>
              <a:t>→ 그래도 안 되면 창가 자연광으로</a:t>
            </a:r>
            <a:endParaRPr lang="en-US" sz="14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A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91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4교시 · 카메라의 원리 ② 영상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0125151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4" name="Shape 2"/>
          <p:cNvSpPr/>
          <p:nvPr/>
        </p:nvSpPr>
        <p:spPr>
          <a:xfrm>
            <a:off x="10335463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5" name="Shape 3"/>
          <p:cNvSpPr/>
          <p:nvPr/>
        </p:nvSpPr>
        <p:spPr>
          <a:xfrm>
            <a:off x="10545775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6" name="Shape 4"/>
          <p:cNvSpPr/>
          <p:nvPr/>
        </p:nvSpPr>
        <p:spPr>
          <a:xfrm>
            <a:off x="10756087" y="502920"/>
            <a:ext cx="118872" cy="1188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7" name="Shape 5"/>
          <p:cNvSpPr/>
          <p:nvPr/>
        </p:nvSpPr>
        <p:spPr>
          <a:xfrm>
            <a:off x="10966399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8" name="Shape 6"/>
          <p:cNvSpPr/>
          <p:nvPr/>
        </p:nvSpPr>
        <p:spPr>
          <a:xfrm>
            <a:off x="11176711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9" name="Shape 7"/>
          <p:cNvSpPr/>
          <p:nvPr/>
        </p:nvSpPr>
        <p:spPr>
          <a:xfrm>
            <a:off x="11387023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10" name="Text 1"/>
          <p:cNvSpPr/>
          <p:nvPr>
            <p:ph idx="101" type="title" hasCustomPrompt="1"/>
          </p:nvPr>
        </p:nvSpPr>
        <p:spPr>
          <a:xfrm>
            <a:off x="685800" y="713232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편집에서 문제가 되는 설정</a:t>
            </a:r>
            <a:endParaRPr lang="en-US" sz="2800" dirty="0"/>
          </a:p>
        </p:txBody>
      </p:sp>
      <p:sp>
        <p:nvSpPr>
          <p:cNvPr id="12" name="Shape 9"/>
          <p:cNvSpPr/>
          <p:nvPr/>
        </p:nvSpPr>
        <p:spPr>
          <a:xfrm>
            <a:off x="685800" y="1645920"/>
            <a:ext cx="3423818" cy="3063240"/>
          </a:xfrm>
          <a:prstGeom prst="roundRect">
            <a:avLst>
              <a:gd name="adj" fmla="val 2388"/>
            </a:avLst>
          </a:prstGeom>
          <a:solidFill>
            <a:schemeClr val="bg2"/>
          </a:solidFill>
          <a:ln/>
        </p:spPr>
      </p:sp>
      <p:sp>
        <p:nvSpPr>
          <p:cNvPr id="13" name="Shape 10"/>
          <p:cNvSpPr/>
          <p:nvPr/>
        </p:nvSpPr>
        <p:spPr>
          <a:xfrm>
            <a:off x="960120" y="1920240"/>
            <a:ext cx="566928" cy="566928"/>
          </a:xfrm>
          <a:prstGeom prst="ellipse">
            <a:avLst/>
          </a:prstGeom>
          <a:solidFill>
            <a:srgbClr val="E6EEE9"/>
          </a:solidFill>
          <a:ln/>
        </p:spPr>
      </p:sp>
      <p:pic>
        <p:nvPicPr>
          <p:cNvPr id="14" name="Image 0" descr="FaSu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7521" y="2067641"/>
            <a:ext cx="272125" cy="272125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960120" y="2633472"/>
            <a:ext cx="287517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HDR 동영상 → 끄기</a:t>
            </a:r>
            <a:endParaRPr lang="en-US" sz="1700" dirty="0"/>
          </a:p>
        </p:txBody>
      </p:sp>
      <p:sp>
        <p:nvSpPr>
          <p:cNvPr id="16" name="Text 12"/>
          <p:cNvSpPr txBox="1"/>
          <p:nvPr/>
        </p:nvSpPr>
        <p:spPr>
          <a:xfrm>
            <a:off x="960120" y="3063240"/>
            <a:ext cx="287517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accent5"/>
                </a:solidFill>
              </a:rPr>
              <a:t>폰에선 화려해도 편집 · 다른 화면에서 색이 틀어져 보일 수 있어요</a:t>
            </a:r>
            <a:endParaRPr lang="en-US" sz="1350" dirty="0"/>
          </a:p>
        </p:txBody>
      </p:sp>
      <p:sp>
        <p:nvSpPr>
          <p:cNvPr id="17" name="Shape 13"/>
          <p:cNvSpPr/>
          <p:nvPr/>
        </p:nvSpPr>
        <p:spPr>
          <a:xfrm>
            <a:off x="4383938" y="1645920"/>
            <a:ext cx="3423818" cy="3063240"/>
          </a:xfrm>
          <a:prstGeom prst="roundRect">
            <a:avLst>
              <a:gd name="adj" fmla="val 2388"/>
            </a:avLst>
          </a:prstGeom>
          <a:solidFill>
            <a:schemeClr val="bg2"/>
          </a:solidFill>
          <a:ln/>
        </p:spPr>
      </p:sp>
      <p:sp>
        <p:nvSpPr>
          <p:cNvPr id="18" name="Shape 14"/>
          <p:cNvSpPr/>
          <p:nvPr/>
        </p:nvSpPr>
        <p:spPr>
          <a:xfrm>
            <a:off x="4658258" y="1920240"/>
            <a:ext cx="566928" cy="566928"/>
          </a:xfrm>
          <a:prstGeom prst="ellipse">
            <a:avLst/>
          </a:prstGeom>
          <a:solidFill>
            <a:srgbClr val="E6EEE9"/>
          </a:solidFill>
          <a:ln/>
        </p:spPr>
      </p:sp>
      <p:pic>
        <p:nvPicPr>
          <p:cNvPr id="19" name="Image 1" descr="FaFileVide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5660" y="2067641"/>
            <a:ext cx="272125" cy="272125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4658258" y="2633472"/>
            <a:ext cx="287517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HEVC(고효율) → 끄기</a:t>
            </a:r>
            <a:endParaRPr lang="en-US" sz="1700" dirty="0"/>
          </a:p>
        </p:txBody>
      </p:sp>
      <p:sp>
        <p:nvSpPr>
          <p:cNvPr id="21" name="Text 16"/>
          <p:cNvSpPr txBox="1"/>
          <p:nvPr/>
        </p:nvSpPr>
        <p:spPr>
          <a:xfrm>
            <a:off x="4658258" y="3063240"/>
            <a:ext cx="287517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accent5"/>
                </a:solidFill>
              </a:rPr>
              <a:t>파일은 작지만 일부 PC에서 편집이 끊겨요. 호환성 우선(H.264)</a:t>
            </a:r>
            <a:endParaRPr lang="en-US" sz="1350" dirty="0"/>
          </a:p>
        </p:txBody>
      </p:sp>
      <p:sp>
        <p:nvSpPr>
          <p:cNvPr id="22" name="Shape 17"/>
          <p:cNvSpPr/>
          <p:nvPr/>
        </p:nvSpPr>
        <p:spPr>
          <a:xfrm>
            <a:off x="8082077" y="1645920"/>
            <a:ext cx="3423818" cy="3063240"/>
          </a:xfrm>
          <a:prstGeom prst="roundRect">
            <a:avLst>
              <a:gd name="adj" fmla="val 2388"/>
            </a:avLst>
          </a:prstGeom>
          <a:solidFill>
            <a:schemeClr val="bg2"/>
          </a:solidFill>
          <a:ln/>
        </p:spPr>
      </p:sp>
      <p:sp>
        <p:nvSpPr>
          <p:cNvPr id="23" name="Shape 18"/>
          <p:cNvSpPr/>
          <p:nvPr/>
        </p:nvSpPr>
        <p:spPr>
          <a:xfrm>
            <a:off x="8356397" y="1920240"/>
            <a:ext cx="566928" cy="566928"/>
          </a:xfrm>
          <a:prstGeom prst="ellipse">
            <a:avLst/>
          </a:prstGeom>
          <a:solidFill>
            <a:srgbClr val="E6EEE9"/>
          </a:solidFill>
          <a:ln/>
        </p:spPr>
      </p:sp>
      <p:pic>
        <p:nvPicPr>
          <p:cNvPr id="24" name="Image 2" descr="FaHd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3798" y="2067641"/>
            <a:ext cx="272125" cy="272125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8356397" y="2633472"/>
            <a:ext cx="287517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4K → 1080p</a:t>
            </a:r>
            <a:endParaRPr lang="en-US" sz="1700" dirty="0"/>
          </a:p>
        </p:txBody>
      </p:sp>
      <p:sp>
        <p:nvSpPr>
          <p:cNvPr id="26" name="Text 20"/>
          <p:cNvSpPr txBox="1"/>
          <p:nvPr/>
        </p:nvSpPr>
        <p:spPr>
          <a:xfrm>
            <a:off x="8356397" y="3063240"/>
            <a:ext cx="287517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accent5"/>
                </a:solidFill>
              </a:rPr>
              <a:t>4K는 파일이 약 4배. 수업 기본은 1080p 30fps</a:t>
            </a:r>
            <a:endParaRPr lang="en-US" sz="1350" dirty="0"/>
          </a:p>
        </p:txBody>
      </p:sp>
      <p:sp>
        <p:nvSpPr>
          <p:cNvPr id="27" name="Shape 21"/>
          <p:cNvSpPr/>
          <p:nvPr/>
        </p:nvSpPr>
        <p:spPr>
          <a:xfrm>
            <a:off x="685800" y="5029200"/>
            <a:ext cx="10820095" cy="512064"/>
          </a:xfrm>
          <a:prstGeom prst="roundRect">
            <a:avLst>
              <a:gd name="adj" fmla="val 14286"/>
            </a:avLst>
          </a:prstGeom>
          <a:solidFill>
            <a:schemeClr val="accent6"/>
          </a:solidFill>
          <a:ln/>
        </p:spPr>
      </p:sp>
      <p:sp>
        <p:nvSpPr>
          <p:cNvPr id="28" name="Text 22"/>
          <p:cNvSpPr txBox="1"/>
          <p:nvPr/>
        </p:nvSpPr>
        <p:spPr>
          <a:xfrm>
            <a:off x="960120" y="5029200"/>
            <a:ext cx="1027145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편집에서 생길 문제를 촬영 전에 막는 것. 메뉴 이름은 기종마다 조금씩 달라요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A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91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4교시 · 카메라의 원리 ② 영상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0125151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4" name="Shape 2"/>
          <p:cNvSpPr/>
          <p:nvPr/>
        </p:nvSpPr>
        <p:spPr>
          <a:xfrm>
            <a:off x="10335463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5" name="Shape 3"/>
          <p:cNvSpPr/>
          <p:nvPr/>
        </p:nvSpPr>
        <p:spPr>
          <a:xfrm>
            <a:off x="10545775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6" name="Shape 4"/>
          <p:cNvSpPr/>
          <p:nvPr/>
        </p:nvSpPr>
        <p:spPr>
          <a:xfrm>
            <a:off x="10756087" y="502920"/>
            <a:ext cx="118872" cy="1188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7" name="Shape 5"/>
          <p:cNvSpPr/>
          <p:nvPr/>
        </p:nvSpPr>
        <p:spPr>
          <a:xfrm>
            <a:off x="10966399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8" name="Shape 6"/>
          <p:cNvSpPr/>
          <p:nvPr/>
        </p:nvSpPr>
        <p:spPr>
          <a:xfrm>
            <a:off x="11176711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9" name="Shape 7"/>
          <p:cNvSpPr/>
          <p:nvPr/>
        </p:nvSpPr>
        <p:spPr>
          <a:xfrm>
            <a:off x="11387023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10" name="Text 1"/>
          <p:cNvSpPr/>
          <p:nvPr>
            <p:ph idx="101" type="title" hasCustomPrompt="1"/>
          </p:nvPr>
        </p:nvSpPr>
        <p:spPr>
          <a:xfrm>
            <a:off x="685800" y="713232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함께 세팅해요 · 15분</a:t>
            </a:r>
            <a:endParaRPr lang="en-US" sz="2800" dirty="0"/>
          </a:p>
        </p:txBody>
      </p:sp>
      <p:sp>
        <p:nvSpPr>
          <p:cNvPr id="12" name="Shape 9"/>
          <p:cNvSpPr/>
          <p:nvPr/>
        </p:nvSpPr>
        <p:spPr>
          <a:xfrm>
            <a:off x="685800" y="1645920"/>
            <a:ext cx="5272888" cy="2971800"/>
          </a:xfrm>
          <a:prstGeom prst="roundRect">
            <a:avLst>
              <a:gd name="adj" fmla="val 2462"/>
            </a:avLst>
          </a:prstGeom>
          <a:solidFill>
            <a:schemeClr val="bg2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960120" y="1810512"/>
            <a:ext cx="47242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아이폰</a:t>
            </a:r>
            <a:endParaRPr lang="en-US" sz="1800" dirty="0"/>
          </a:p>
        </p:txBody>
      </p:sp>
      <p:sp>
        <p:nvSpPr>
          <p:cNvPr id="14" name="Text 11"/>
          <p:cNvSpPr txBox="1"/>
          <p:nvPr/>
        </p:nvSpPr>
        <p:spPr>
          <a:xfrm>
            <a:off x="960120" y="2286000"/>
            <a:ext cx="4724248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9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☐  설정 → 카메라 → 비디오 녹화 → 1080p 30fps</a:t>
            </a:r>
            <a:endParaRPr lang="en-US" sz="14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☐  같은 화면에서 'HDR 비디오' 끄기</a:t>
            </a:r>
            <a:endParaRPr lang="en-US" sz="14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☐  카메라 → 포맷 → '가장 호환성 높은 포맷'</a:t>
            </a:r>
            <a:endParaRPr lang="en-US" sz="14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☐  카메라 → 격자 켜기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6233008" y="1645920"/>
            <a:ext cx="5272888" cy="2971800"/>
          </a:xfrm>
          <a:prstGeom prst="roundRect">
            <a:avLst>
              <a:gd name="adj" fmla="val 2462"/>
            </a:avLst>
          </a:prstGeom>
          <a:solidFill>
            <a:schemeClr val="bg2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6507328" y="1810512"/>
            <a:ext cx="47242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갤럭시</a:t>
            </a:r>
            <a:endParaRPr lang="en-US" sz="1800" dirty="0"/>
          </a:p>
        </p:txBody>
      </p:sp>
      <p:sp>
        <p:nvSpPr>
          <p:cNvPr id="17" name="Text 14"/>
          <p:cNvSpPr txBox="1"/>
          <p:nvPr/>
        </p:nvSpPr>
        <p:spPr>
          <a:xfrm>
            <a:off x="6507328" y="2286000"/>
            <a:ext cx="4724248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9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☐  동영상 → 상단 해상도에서 FHD 30</a:t>
            </a:r>
            <a:endParaRPr lang="en-US" sz="14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☐  설정 → 고급 동영상 옵션 → 고효율 동영상 끄기</a:t>
            </a:r>
            <a:endParaRPr lang="en-US" sz="14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☐  같은 곳에서 HDR10+ 동영상 끄기</a:t>
            </a:r>
            <a:endParaRPr lang="en-US" sz="14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☐  설정 → 수직 · 수평 안내선 켜기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685800" y="4846320"/>
            <a:ext cx="2533574" cy="777240"/>
          </a:xfrm>
          <a:prstGeom prst="roundRect">
            <a:avLst>
              <a:gd name="adj" fmla="val 9412"/>
            </a:avLst>
          </a:prstGeom>
          <a:solidFill>
            <a:schemeClr val="accent6"/>
          </a:solidFill>
          <a:ln/>
        </p:spPr>
      </p:sp>
      <p:sp>
        <p:nvSpPr>
          <p:cNvPr id="19" name="Shape 16"/>
          <p:cNvSpPr/>
          <p:nvPr/>
        </p:nvSpPr>
        <p:spPr>
          <a:xfrm>
            <a:off x="822960" y="4937760"/>
            <a:ext cx="594360" cy="59436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20" name="Image 0" descr="FaBroom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7494" y="5092294"/>
            <a:ext cx="285293" cy="285293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1554480" y="4846320"/>
            <a:ext cx="157345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chemeClr val="tx1"/>
                </a:solidFill>
              </a:rPr>
              <a:t>렌즈 닦기</a:t>
            </a:r>
            <a:endParaRPr lang="en-US" sz="1450" dirty="0"/>
          </a:p>
        </p:txBody>
      </p:sp>
      <p:sp>
        <p:nvSpPr>
          <p:cNvPr id="22" name="Shape 18"/>
          <p:cNvSpPr/>
          <p:nvPr/>
        </p:nvSpPr>
        <p:spPr>
          <a:xfrm>
            <a:off x="3447974" y="4846320"/>
            <a:ext cx="2533574" cy="777240"/>
          </a:xfrm>
          <a:prstGeom prst="roundRect">
            <a:avLst>
              <a:gd name="adj" fmla="val 9412"/>
            </a:avLst>
          </a:prstGeom>
          <a:solidFill>
            <a:schemeClr val="accent6"/>
          </a:solidFill>
          <a:ln/>
        </p:spPr>
      </p:sp>
      <p:sp>
        <p:nvSpPr>
          <p:cNvPr id="23" name="Shape 19"/>
          <p:cNvSpPr/>
          <p:nvPr/>
        </p:nvSpPr>
        <p:spPr>
          <a:xfrm>
            <a:off x="3585134" y="4937760"/>
            <a:ext cx="594360" cy="59436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24" name="Image 1" descr="FaSdCa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39667" y="5092294"/>
            <a:ext cx="285293" cy="285293"/>
          </a:xfrm>
          <a:prstGeom prst="rect">
            <a:avLst/>
          </a:prstGeom>
        </p:spPr>
      </p:pic>
      <p:sp>
        <p:nvSpPr>
          <p:cNvPr id="25" name="Text 20"/>
          <p:cNvSpPr txBox="1"/>
          <p:nvPr/>
        </p:nvSpPr>
        <p:spPr>
          <a:xfrm>
            <a:off x="4316654" y="4846320"/>
            <a:ext cx="157345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chemeClr val="tx1"/>
                </a:solidFill>
              </a:rPr>
              <a:t>저장공간 10GB+</a:t>
            </a:r>
            <a:endParaRPr lang="en-US" sz="1450" dirty="0"/>
          </a:p>
        </p:txBody>
      </p:sp>
      <p:sp>
        <p:nvSpPr>
          <p:cNvPr id="26" name="Shape 21"/>
          <p:cNvSpPr/>
          <p:nvPr/>
        </p:nvSpPr>
        <p:spPr>
          <a:xfrm>
            <a:off x="6210148" y="4846320"/>
            <a:ext cx="2533574" cy="777240"/>
          </a:xfrm>
          <a:prstGeom prst="roundRect">
            <a:avLst>
              <a:gd name="adj" fmla="val 9412"/>
            </a:avLst>
          </a:prstGeom>
          <a:solidFill>
            <a:schemeClr val="accent6"/>
          </a:solidFill>
          <a:ln/>
        </p:spPr>
      </p:sp>
      <p:sp>
        <p:nvSpPr>
          <p:cNvPr id="27" name="Shape 22"/>
          <p:cNvSpPr/>
          <p:nvPr/>
        </p:nvSpPr>
        <p:spPr>
          <a:xfrm>
            <a:off x="6347308" y="4937760"/>
            <a:ext cx="594360" cy="59436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28" name="Image 2" descr="FaBellSlash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01841" y="5092294"/>
            <a:ext cx="285293" cy="285293"/>
          </a:xfrm>
          <a:prstGeom prst="rect">
            <a:avLst/>
          </a:prstGeom>
        </p:spPr>
      </p:pic>
      <p:sp>
        <p:nvSpPr>
          <p:cNvPr id="29" name="Text 23"/>
          <p:cNvSpPr txBox="1"/>
          <p:nvPr/>
        </p:nvSpPr>
        <p:spPr>
          <a:xfrm>
            <a:off x="7078828" y="4846320"/>
            <a:ext cx="157345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chemeClr val="tx1"/>
                </a:solidFill>
              </a:rPr>
              <a:t>방해 금지</a:t>
            </a:r>
            <a:endParaRPr lang="en-US" sz="1450" dirty="0"/>
          </a:p>
        </p:txBody>
      </p:sp>
      <p:sp>
        <p:nvSpPr>
          <p:cNvPr id="30" name="Shape 24"/>
          <p:cNvSpPr/>
          <p:nvPr/>
        </p:nvSpPr>
        <p:spPr>
          <a:xfrm>
            <a:off x="8972321" y="4846320"/>
            <a:ext cx="2533574" cy="777240"/>
          </a:xfrm>
          <a:prstGeom prst="roundRect">
            <a:avLst>
              <a:gd name="adj" fmla="val 9412"/>
            </a:avLst>
          </a:prstGeom>
          <a:solidFill>
            <a:schemeClr val="accent6"/>
          </a:solidFill>
          <a:ln/>
        </p:spPr>
      </p:sp>
      <p:sp>
        <p:nvSpPr>
          <p:cNvPr id="31" name="Shape 25"/>
          <p:cNvSpPr/>
          <p:nvPr/>
        </p:nvSpPr>
        <p:spPr>
          <a:xfrm>
            <a:off x="9109481" y="4937760"/>
            <a:ext cx="594360" cy="59436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32" name="Image 3" descr="FaMobileAl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64015" y="5092294"/>
            <a:ext cx="285293" cy="285293"/>
          </a:xfrm>
          <a:prstGeom prst="rect">
            <a:avLst/>
          </a:prstGeom>
        </p:spPr>
      </p:pic>
      <p:sp>
        <p:nvSpPr>
          <p:cNvPr id="33" name="Text 26"/>
          <p:cNvSpPr txBox="1"/>
          <p:nvPr/>
        </p:nvSpPr>
        <p:spPr>
          <a:xfrm>
            <a:off x="9841001" y="4846320"/>
            <a:ext cx="157345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chemeClr val="tx1"/>
                </a:solidFill>
              </a:rPr>
              <a:t>기본은 세로</a:t>
            </a:r>
            <a:endParaRPr lang="en-US" sz="14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A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91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4교시 · 카메라의 원리 ② 영상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0125151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4" name="Shape 2"/>
          <p:cNvSpPr/>
          <p:nvPr/>
        </p:nvSpPr>
        <p:spPr>
          <a:xfrm>
            <a:off x="10335463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5" name="Shape 3"/>
          <p:cNvSpPr/>
          <p:nvPr/>
        </p:nvSpPr>
        <p:spPr>
          <a:xfrm>
            <a:off x="10545775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6" name="Shape 4"/>
          <p:cNvSpPr/>
          <p:nvPr/>
        </p:nvSpPr>
        <p:spPr>
          <a:xfrm>
            <a:off x="10756087" y="502920"/>
            <a:ext cx="118872" cy="1188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7" name="Shape 5"/>
          <p:cNvSpPr/>
          <p:nvPr/>
        </p:nvSpPr>
        <p:spPr>
          <a:xfrm>
            <a:off x="10966399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8" name="Shape 6"/>
          <p:cNvSpPr/>
          <p:nvPr/>
        </p:nvSpPr>
        <p:spPr>
          <a:xfrm>
            <a:off x="11176711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9" name="Shape 7"/>
          <p:cNvSpPr/>
          <p:nvPr/>
        </p:nvSpPr>
        <p:spPr>
          <a:xfrm>
            <a:off x="11387023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10" name="Text 1"/>
          <p:cNvSpPr/>
          <p:nvPr>
            <p:ph idx="101" type="title" hasCustomPrompt="1"/>
          </p:nvPr>
        </p:nvSpPr>
        <p:spPr>
          <a:xfrm>
            <a:off x="685800" y="713232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초점 · 노출 잠그기 (AE/AF 잠금)</a:t>
            </a:r>
            <a:endParaRPr lang="en-US" sz="2800" dirty="0"/>
          </a:p>
        </p:txBody>
      </p:sp>
      <p:sp>
        <p:nvSpPr>
          <p:cNvPr id="12" name="Shape 9"/>
          <p:cNvSpPr/>
          <p:nvPr/>
        </p:nvSpPr>
        <p:spPr>
          <a:xfrm>
            <a:off x="685800" y="1645920"/>
            <a:ext cx="6035040" cy="896112"/>
          </a:xfrm>
          <a:prstGeom prst="roundRect">
            <a:avLst>
              <a:gd name="adj" fmla="val 8163"/>
            </a:avLst>
          </a:prstGeom>
          <a:solidFill>
            <a:schemeClr val="bg2"/>
          </a:solidFill>
          <a:ln/>
        </p:spPr>
      </p:sp>
      <p:sp>
        <p:nvSpPr>
          <p:cNvPr id="13" name="Shape 10"/>
          <p:cNvSpPr/>
          <p:nvPr/>
        </p:nvSpPr>
        <p:spPr>
          <a:xfrm>
            <a:off x="886968" y="1865376"/>
            <a:ext cx="457200" cy="45720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886968" y="18653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1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1554480" y="1645920"/>
            <a:ext cx="23774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대상을 길게 누르기</a:t>
            </a:r>
            <a:endParaRPr lang="en-US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3931920" y="1645920"/>
            <a:ext cx="26060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화면에서 찍을 대상을 꾹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685800" y="2670048"/>
            <a:ext cx="6035040" cy="896112"/>
          </a:xfrm>
          <a:prstGeom prst="roundRect">
            <a:avLst>
              <a:gd name="adj" fmla="val 8163"/>
            </a:avLst>
          </a:prstGeom>
          <a:solidFill>
            <a:schemeClr val="bg2"/>
          </a:solidFill>
          <a:ln/>
        </p:spPr>
      </p:sp>
      <p:sp>
        <p:nvSpPr>
          <p:cNvPr id="18" name="Shape 15"/>
          <p:cNvSpPr/>
          <p:nvPr/>
        </p:nvSpPr>
        <p:spPr>
          <a:xfrm>
            <a:off x="886968" y="2889504"/>
            <a:ext cx="457200" cy="45720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886968" y="288950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2</a:t>
            </a:r>
            <a:endParaRPr lang="en-US" sz="1300" dirty="0"/>
          </a:p>
        </p:txBody>
      </p:sp>
      <p:sp>
        <p:nvSpPr>
          <p:cNvPr id="20" name="Text 17"/>
          <p:cNvSpPr txBox="1"/>
          <p:nvPr/>
        </p:nvSpPr>
        <p:spPr>
          <a:xfrm>
            <a:off x="1554480" y="2670048"/>
            <a:ext cx="23774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잠금 표시 확인</a:t>
            </a:r>
            <a:endParaRPr lang="en-US" sz="1600" dirty="0"/>
          </a:p>
        </p:txBody>
      </p:sp>
      <p:sp>
        <p:nvSpPr>
          <p:cNvPr id="21" name="Text 18"/>
          <p:cNvSpPr txBox="1"/>
          <p:nvPr/>
        </p:nvSpPr>
        <p:spPr>
          <a:xfrm>
            <a:off x="3931920" y="2670048"/>
            <a:ext cx="26060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아이폰 AE/AF 잠금 · 갤럭시 자물쇠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685800" y="3694176"/>
            <a:ext cx="6035040" cy="896112"/>
          </a:xfrm>
          <a:prstGeom prst="roundRect">
            <a:avLst>
              <a:gd name="adj" fmla="val 8163"/>
            </a:avLst>
          </a:prstGeom>
          <a:solidFill>
            <a:schemeClr val="bg2"/>
          </a:solidFill>
          <a:ln/>
        </p:spPr>
      </p:sp>
      <p:sp>
        <p:nvSpPr>
          <p:cNvPr id="23" name="Shape 20"/>
          <p:cNvSpPr/>
          <p:nvPr/>
        </p:nvSpPr>
        <p:spPr>
          <a:xfrm>
            <a:off x="886968" y="3913632"/>
            <a:ext cx="457200" cy="45720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886968" y="39136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3</a:t>
            </a:r>
            <a:endParaRPr lang="en-US" sz="1300" dirty="0"/>
          </a:p>
        </p:txBody>
      </p:sp>
      <p:sp>
        <p:nvSpPr>
          <p:cNvPr id="25" name="Text 22"/>
          <p:cNvSpPr txBox="1"/>
          <p:nvPr/>
        </p:nvSpPr>
        <p:spPr>
          <a:xfrm>
            <a:off x="1554480" y="3694176"/>
            <a:ext cx="23774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밝기 막대 조절</a:t>
            </a:r>
            <a:endParaRPr lang="en-US" sz="1600" dirty="0"/>
          </a:p>
        </p:txBody>
      </p:sp>
      <p:sp>
        <p:nvSpPr>
          <p:cNvPr id="26" name="Text 23"/>
          <p:cNvSpPr txBox="1"/>
          <p:nvPr/>
        </p:nvSpPr>
        <p:spPr>
          <a:xfrm>
            <a:off x="3931920" y="3694176"/>
            <a:ext cx="26060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위아래로 밀어 원하는 밝기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6995160" y="1645920"/>
            <a:ext cx="4510735" cy="2926080"/>
          </a:xfrm>
          <a:prstGeom prst="roundRect">
            <a:avLst>
              <a:gd name="adj" fmla="val 2500"/>
            </a:avLst>
          </a:prstGeom>
          <a:solidFill>
            <a:schemeClr val="tx2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7315200" y="1874520"/>
            <a:ext cx="387065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잠그지 않으면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7315200" y="2286000"/>
            <a:ext cx="387065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사람이 지나갈 때마다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밝기와 초점이 출렁입니다</a:t>
            </a:r>
            <a:endParaRPr lang="en-US" sz="2000" dirty="0"/>
          </a:p>
        </p:txBody>
      </p:sp>
      <p:sp>
        <p:nvSpPr>
          <p:cNvPr id="30" name="Text 27"/>
          <p:cNvSpPr txBox="1"/>
          <p:nvPr/>
        </p:nvSpPr>
        <p:spPr>
          <a:xfrm>
            <a:off x="7315200" y="3840480"/>
            <a:ext cx="38706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→ 가장 쉬운 프로와 아마추어의 차이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685800" y="5029200"/>
            <a:ext cx="10820095" cy="512064"/>
          </a:xfrm>
          <a:prstGeom prst="roundRect">
            <a:avLst>
              <a:gd name="adj" fmla="val 14286"/>
            </a:avLst>
          </a:prstGeom>
          <a:solidFill>
            <a:schemeClr val="accent6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960120" y="5029200"/>
            <a:ext cx="1027145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다음 실습부터 모든 촬영은 '잠그고' 찍습니다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A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91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4교시 · 카메라의 원리 ② 영상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0125151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4" name="Shape 2"/>
          <p:cNvSpPr/>
          <p:nvPr/>
        </p:nvSpPr>
        <p:spPr>
          <a:xfrm>
            <a:off x="10335463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5" name="Shape 3"/>
          <p:cNvSpPr/>
          <p:nvPr/>
        </p:nvSpPr>
        <p:spPr>
          <a:xfrm>
            <a:off x="10545775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6" name="Shape 4"/>
          <p:cNvSpPr/>
          <p:nvPr/>
        </p:nvSpPr>
        <p:spPr>
          <a:xfrm>
            <a:off x="10756087" y="502920"/>
            <a:ext cx="118872" cy="1188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7" name="Shape 5"/>
          <p:cNvSpPr/>
          <p:nvPr/>
        </p:nvSpPr>
        <p:spPr>
          <a:xfrm>
            <a:off x="10966399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8" name="Shape 6"/>
          <p:cNvSpPr/>
          <p:nvPr/>
        </p:nvSpPr>
        <p:spPr>
          <a:xfrm>
            <a:off x="11176711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9" name="Shape 7"/>
          <p:cNvSpPr/>
          <p:nvPr/>
        </p:nvSpPr>
        <p:spPr>
          <a:xfrm>
            <a:off x="11387023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10" name="Text 1"/>
          <p:cNvSpPr/>
          <p:nvPr>
            <p:ph idx="101" type="title" hasCustomPrompt="1"/>
          </p:nvPr>
        </p:nvSpPr>
        <p:spPr>
          <a:xfrm>
            <a:off x="685800" y="713232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실습 · 비교 클립 두 쌍 (15분)</a:t>
            </a:r>
            <a:endParaRPr lang="en-US" sz="2800" dirty="0"/>
          </a:p>
        </p:txBody>
      </p:sp>
      <p:sp>
        <p:nvSpPr>
          <p:cNvPr id="12" name="Shape 9"/>
          <p:cNvSpPr/>
          <p:nvPr/>
        </p:nvSpPr>
        <p:spPr>
          <a:xfrm>
            <a:off x="685800" y="1645920"/>
            <a:ext cx="3423818" cy="3063240"/>
          </a:xfrm>
          <a:prstGeom prst="roundRect">
            <a:avLst>
              <a:gd name="adj" fmla="val 2388"/>
            </a:avLst>
          </a:prstGeom>
          <a:solidFill>
            <a:schemeClr val="bg2"/>
          </a:solidFill>
          <a:ln/>
        </p:spPr>
      </p:sp>
      <p:sp>
        <p:nvSpPr>
          <p:cNvPr id="13" name="Shape 10"/>
          <p:cNvSpPr/>
          <p:nvPr/>
        </p:nvSpPr>
        <p:spPr>
          <a:xfrm>
            <a:off x="960120" y="1920240"/>
            <a:ext cx="566928" cy="566928"/>
          </a:xfrm>
          <a:prstGeom prst="ellipse">
            <a:avLst/>
          </a:prstGeom>
          <a:solidFill>
            <a:srgbClr val="E6EEE9"/>
          </a:solidFill>
          <a:ln/>
        </p:spPr>
      </p:sp>
      <p:pic>
        <p:nvPicPr>
          <p:cNvPr id="14" name="Image 0" descr="FaTachometerAl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7521" y="2067641"/>
            <a:ext cx="272125" cy="272125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960120" y="2633472"/>
            <a:ext cx="287517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30fps vs 60fps</a:t>
            </a:r>
            <a:endParaRPr lang="en-US" sz="1700" dirty="0"/>
          </a:p>
        </p:txBody>
      </p:sp>
      <p:sp>
        <p:nvSpPr>
          <p:cNvPr id="16" name="Text 12"/>
          <p:cNvSpPr txBox="1"/>
          <p:nvPr/>
        </p:nvSpPr>
        <p:spPr>
          <a:xfrm>
            <a:off x="960120" y="3063240"/>
            <a:ext cx="287517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머리 넘기기, 물 따르기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같은 동작을 두 번</a:t>
            </a:r>
            <a:endParaRPr lang="en-US" sz="1400" dirty="0"/>
          </a:p>
        </p:txBody>
      </p:sp>
      <p:sp>
        <p:nvSpPr>
          <p:cNvPr id="17" name="Shape 13"/>
          <p:cNvSpPr/>
          <p:nvPr/>
        </p:nvSpPr>
        <p:spPr>
          <a:xfrm>
            <a:off x="4383938" y="1645920"/>
            <a:ext cx="3423818" cy="3063240"/>
          </a:xfrm>
          <a:prstGeom prst="roundRect">
            <a:avLst>
              <a:gd name="adj" fmla="val 2388"/>
            </a:avLst>
          </a:prstGeom>
          <a:solidFill>
            <a:schemeClr val="bg2"/>
          </a:solidFill>
          <a:ln/>
        </p:spPr>
      </p:sp>
      <p:sp>
        <p:nvSpPr>
          <p:cNvPr id="18" name="Shape 14"/>
          <p:cNvSpPr/>
          <p:nvPr/>
        </p:nvSpPr>
        <p:spPr>
          <a:xfrm>
            <a:off x="4658258" y="1920240"/>
            <a:ext cx="566928" cy="566928"/>
          </a:xfrm>
          <a:prstGeom prst="ellipse">
            <a:avLst/>
          </a:prstGeom>
          <a:solidFill>
            <a:srgbClr val="E6EEE9"/>
          </a:solidFill>
          <a:ln/>
        </p:spPr>
      </p:sp>
      <p:pic>
        <p:nvPicPr>
          <p:cNvPr id="19" name="Image 1" descr="FaLo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5660" y="2067641"/>
            <a:ext cx="272125" cy="272125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4658258" y="2633472"/>
            <a:ext cx="287517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잠금 없이 vs 잠금</a:t>
            </a:r>
            <a:endParaRPr lang="en-US" sz="1700" dirty="0"/>
          </a:p>
        </p:txBody>
      </p:sp>
      <p:sp>
        <p:nvSpPr>
          <p:cNvPr id="21" name="Text 16"/>
          <p:cNvSpPr txBox="1"/>
          <p:nvPr/>
        </p:nvSpPr>
        <p:spPr>
          <a:xfrm>
            <a:off x="4658258" y="3063240"/>
            <a:ext cx="287517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창가를 지나가며 찍기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밝기 출렁임 비교</a:t>
            </a:r>
            <a:endParaRPr lang="en-US" sz="1400" dirty="0"/>
          </a:p>
        </p:txBody>
      </p:sp>
      <p:sp>
        <p:nvSpPr>
          <p:cNvPr id="22" name="Shape 17"/>
          <p:cNvSpPr/>
          <p:nvPr/>
        </p:nvSpPr>
        <p:spPr>
          <a:xfrm>
            <a:off x="8082077" y="1645920"/>
            <a:ext cx="3423818" cy="3063240"/>
          </a:xfrm>
          <a:prstGeom prst="roundRect">
            <a:avLst>
              <a:gd name="adj" fmla="val 2388"/>
            </a:avLst>
          </a:prstGeom>
          <a:solidFill>
            <a:schemeClr val="tx2"/>
          </a:solidFill>
          <a:ln/>
        </p:spPr>
      </p:sp>
      <p:sp>
        <p:nvSpPr>
          <p:cNvPr id="23" name="Shape 18"/>
          <p:cNvSpPr/>
          <p:nvPr/>
        </p:nvSpPr>
        <p:spPr>
          <a:xfrm>
            <a:off x="8356397" y="1920240"/>
            <a:ext cx="566928" cy="566928"/>
          </a:xfrm>
          <a:prstGeom prst="ellipse">
            <a:avLst/>
          </a:prstGeom>
          <a:solidFill>
            <a:srgbClr val="26302C"/>
          </a:solidFill>
          <a:ln/>
        </p:spPr>
      </p:sp>
      <p:pic>
        <p:nvPicPr>
          <p:cNvPr id="24" name="Image 2" descr="FaSta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3798" y="2067641"/>
            <a:ext cx="272125" cy="272125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8356397" y="2633472"/>
            <a:ext cx="287517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도전 미션</a:t>
            </a:r>
            <a:endParaRPr lang="en-US" sz="1700" dirty="0"/>
          </a:p>
        </p:txBody>
      </p:sp>
      <p:sp>
        <p:nvSpPr>
          <p:cNvPr id="26" name="Text 20"/>
          <p:cNvSpPr txBox="1"/>
          <p:nvPr/>
        </p:nvSpPr>
        <p:spPr>
          <a:xfrm>
            <a:off x="8356397" y="3063240"/>
            <a:ext cx="287517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9D3CE"/>
                </a:solidFill>
              </a:rPr>
              <a:t>갤럭시 프로 동영상으로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C9D3CE"/>
                </a:solidFill>
              </a:rPr>
              <a:t>셔터 1/60 vs 1/1000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C9D3CE"/>
                </a:solidFill>
              </a:rPr>
              <a:t>아이폰은 수동 앱으로</a:t>
            </a:r>
            <a:endParaRPr lang="en-US" sz="1400" dirty="0"/>
          </a:p>
        </p:txBody>
      </p:sp>
      <p:sp>
        <p:nvSpPr>
          <p:cNvPr id="27" name="Shape 21"/>
          <p:cNvSpPr/>
          <p:nvPr/>
        </p:nvSpPr>
        <p:spPr>
          <a:xfrm>
            <a:off x="685800" y="5029200"/>
            <a:ext cx="10820095" cy="512064"/>
          </a:xfrm>
          <a:prstGeom prst="roundRect">
            <a:avLst>
              <a:gd name="adj" fmla="val 14286"/>
            </a:avLst>
          </a:prstGeom>
          <a:solidFill>
            <a:schemeClr val="accent6"/>
          </a:solidFill>
          <a:ln/>
        </p:spPr>
      </p:sp>
      <p:sp>
        <p:nvSpPr>
          <p:cNvPr id="28" name="Text 22"/>
          <p:cNvSpPr txBox="1"/>
          <p:nvPr/>
        </p:nvSpPr>
        <p:spPr>
          <a:xfrm>
            <a:off x="960120" y="5029200"/>
            <a:ext cx="1027145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찍은 클립은 드라이브 '1회차/4교시'로. 60fps 클립은 3회차 편집에서 슬로모션으로 씁니다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A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ARUBIT/build/.cache/s1/img06_gra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/home/user/MARUBIT/build/.cache/s1/overla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685800" y="1325880"/>
            <a:ext cx="3657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0" b="1" dirty="0">
                <a:solidFill>
                  <a:schemeClr val="accent1"/>
                </a:solidFill>
              </a:rPr>
              <a:t>05</a:t>
            </a:r>
            <a:endParaRPr lang="en-US" sz="11000" dirty="0"/>
          </a:p>
        </p:txBody>
      </p:sp>
      <p:sp>
        <p:nvSpPr>
          <p:cNvPr id="5" name="Text 1"/>
          <p:cNvSpPr txBox="1"/>
          <p:nvPr/>
        </p:nvSpPr>
        <p:spPr>
          <a:xfrm>
            <a:off x="758952" y="10515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chemeClr val="accent6"/>
                </a:solidFill>
              </a:rPr>
              <a:t>5교시</a:t>
            </a:r>
            <a:endParaRPr lang="en-US" sz="1400" dirty="0"/>
          </a:p>
        </p:txBody>
      </p:sp>
      <p:sp>
        <p:nvSpPr>
          <p:cNvPr id="6" name="Text 0"/>
          <p:cNvSpPr/>
          <p:nvPr>
            <p:ph idx="100" type="title" hasCustomPrompt="1"/>
          </p:nvPr>
        </p:nvSpPr>
        <p:spPr>
          <a:xfrm>
            <a:off x="685800" y="324612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화면의 언어와 빛</a:t>
            </a:r>
            <a:endParaRPr lang="en-US" sz="4000" dirty="0"/>
          </a:p>
        </p:txBody>
      </p:sp>
      <p:sp>
        <p:nvSpPr>
          <p:cNvPr id="7" name="Text 0"/>
          <p:cNvSpPr/>
          <p:nvPr>
            <p:ph idx="101" type="body" hasCustomPrompt="1"/>
          </p:nvPr>
        </p:nvSpPr>
        <p:spPr>
          <a:xfrm>
            <a:off x="685800" y="4480560"/>
            <a:ext cx="7132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14:40–15:30  ·  얼마나 가까이, 어디서, 화면 어디에, 어떤 빛으로</a:t>
            </a:r>
            <a:endParaRPr lang="en-US" sz="16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91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5교시 · 화면의 언어와 빛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0125151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4" name="Shape 2"/>
          <p:cNvSpPr/>
          <p:nvPr/>
        </p:nvSpPr>
        <p:spPr>
          <a:xfrm>
            <a:off x="10335463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5" name="Shape 3"/>
          <p:cNvSpPr/>
          <p:nvPr/>
        </p:nvSpPr>
        <p:spPr>
          <a:xfrm>
            <a:off x="10545775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6" name="Shape 4"/>
          <p:cNvSpPr/>
          <p:nvPr/>
        </p:nvSpPr>
        <p:spPr>
          <a:xfrm>
            <a:off x="10756087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7" name="Shape 5"/>
          <p:cNvSpPr/>
          <p:nvPr/>
        </p:nvSpPr>
        <p:spPr>
          <a:xfrm>
            <a:off x="10966399" y="502920"/>
            <a:ext cx="118872" cy="1188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8" name="Shape 6"/>
          <p:cNvSpPr/>
          <p:nvPr/>
        </p:nvSpPr>
        <p:spPr>
          <a:xfrm>
            <a:off x="11176711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9" name="Shape 7"/>
          <p:cNvSpPr/>
          <p:nvPr/>
        </p:nvSpPr>
        <p:spPr>
          <a:xfrm>
            <a:off x="11387023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10" name="Text 1"/>
          <p:cNvSpPr/>
          <p:nvPr>
            <p:ph idx="101" type="title" hasCustomPrompt="1"/>
          </p:nvPr>
        </p:nvSpPr>
        <p:spPr>
          <a:xfrm>
            <a:off x="685800" y="713232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샷 크기: 얼마나 가까이 찍느냐가 말을 정한다</a:t>
            </a:r>
            <a:endParaRPr lang="en-US" sz="2800" dirty="0"/>
          </a:p>
        </p:txBody>
      </p:sp>
      <p:pic>
        <p:nvPicPr>
          <p:cNvPr id="12" name="Image 0" descr="익스트림 와이드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85800" y="1600200"/>
            <a:ext cx="2017715" cy="269748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85800" y="4407408"/>
            <a:ext cx="20177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익스트림 와이드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685800" y="4709160"/>
            <a:ext cx="20177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2"/>
                </a:solidFill>
              </a:rPr>
              <a:t>Extreme Wide</a:t>
            </a:r>
            <a:endParaRPr lang="en-US" sz="1100" dirty="0"/>
          </a:p>
        </p:txBody>
      </p:sp>
      <p:sp>
        <p:nvSpPr>
          <p:cNvPr id="15" name="Text 11"/>
          <p:cNvSpPr txBox="1"/>
          <p:nvPr/>
        </p:nvSpPr>
        <p:spPr>
          <a:xfrm>
            <a:off x="685800" y="4956048"/>
            <a:ext cx="20177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어디인지</a:t>
            </a:r>
            <a:endParaRPr lang="en-US" sz="1200" dirty="0"/>
          </a:p>
        </p:txBody>
      </p:sp>
      <p:pic>
        <p:nvPicPr>
          <p:cNvPr id="16" name="Image 1" descr="와이드 · 풀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886395" y="1600200"/>
            <a:ext cx="2017715" cy="269748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2886395" y="4407408"/>
            <a:ext cx="20177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와이드 · 풀</a:t>
            </a:r>
            <a:endParaRPr lang="en-US" sz="1400" dirty="0"/>
          </a:p>
        </p:txBody>
      </p:sp>
      <p:sp>
        <p:nvSpPr>
          <p:cNvPr id="18" name="Text 13"/>
          <p:cNvSpPr txBox="1"/>
          <p:nvPr/>
        </p:nvSpPr>
        <p:spPr>
          <a:xfrm>
            <a:off x="2886395" y="4709160"/>
            <a:ext cx="20177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2"/>
                </a:solidFill>
              </a:rPr>
              <a:t>Wide / Full</a:t>
            </a:r>
            <a:endParaRPr lang="en-US" sz="1100" dirty="0"/>
          </a:p>
        </p:txBody>
      </p:sp>
      <p:sp>
        <p:nvSpPr>
          <p:cNvPr id="19" name="Text 14"/>
          <p:cNvSpPr txBox="1"/>
          <p:nvPr/>
        </p:nvSpPr>
        <p:spPr>
          <a:xfrm>
            <a:off x="2886395" y="4956048"/>
            <a:ext cx="20177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누가, 어디서</a:t>
            </a:r>
            <a:endParaRPr lang="en-US" sz="1200" dirty="0"/>
          </a:p>
        </p:txBody>
      </p:sp>
      <p:pic>
        <p:nvPicPr>
          <p:cNvPr id="20" name="Image 2" descr="미디엄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5086990" y="1600200"/>
            <a:ext cx="2017715" cy="269748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5086990" y="4407408"/>
            <a:ext cx="20177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미디엄</a:t>
            </a:r>
            <a:endParaRPr lang="en-US" sz="1400" dirty="0"/>
          </a:p>
        </p:txBody>
      </p:sp>
      <p:sp>
        <p:nvSpPr>
          <p:cNvPr id="22" name="Text 16"/>
          <p:cNvSpPr txBox="1"/>
          <p:nvPr/>
        </p:nvSpPr>
        <p:spPr>
          <a:xfrm>
            <a:off x="5086990" y="4709160"/>
            <a:ext cx="20177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2"/>
                </a:solidFill>
              </a:rPr>
              <a:t>Medium</a:t>
            </a:r>
            <a:endParaRPr lang="en-US" sz="1100" dirty="0"/>
          </a:p>
        </p:txBody>
      </p:sp>
      <p:sp>
        <p:nvSpPr>
          <p:cNvPr id="23" name="Text 17"/>
          <p:cNvSpPr txBox="1"/>
          <p:nvPr/>
        </p:nvSpPr>
        <p:spPr>
          <a:xfrm>
            <a:off x="5086990" y="4956048"/>
            <a:ext cx="20177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무엇을 하는지</a:t>
            </a:r>
            <a:endParaRPr lang="en-US" sz="1200" dirty="0"/>
          </a:p>
        </p:txBody>
      </p:sp>
      <p:pic>
        <p:nvPicPr>
          <p:cNvPr id="24" name="Image 3" descr="클로즈업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7287585" y="1600200"/>
            <a:ext cx="2017715" cy="2697480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7287585" y="4407408"/>
            <a:ext cx="20177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클로즈업</a:t>
            </a:r>
            <a:endParaRPr lang="en-US" sz="1400" dirty="0"/>
          </a:p>
        </p:txBody>
      </p:sp>
      <p:sp>
        <p:nvSpPr>
          <p:cNvPr id="26" name="Text 19"/>
          <p:cNvSpPr txBox="1"/>
          <p:nvPr/>
        </p:nvSpPr>
        <p:spPr>
          <a:xfrm>
            <a:off x="7287585" y="4709160"/>
            <a:ext cx="20177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2"/>
                </a:solidFill>
              </a:rPr>
              <a:t>Close-up</a:t>
            </a:r>
            <a:endParaRPr lang="en-US" sz="1100" dirty="0"/>
          </a:p>
        </p:txBody>
      </p:sp>
      <p:sp>
        <p:nvSpPr>
          <p:cNvPr id="27" name="Text 20"/>
          <p:cNvSpPr txBox="1"/>
          <p:nvPr/>
        </p:nvSpPr>
        <p:spPr>
          <a:xfrm>
            <a:off x="7287585" y="4956048"/>
            <a:ext cx="20177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감정, 동작</a:t>
            </a:r>
            <a:endParaRPr lang="en-US" sz="1200" dirty="0"/>
          </a:p>
        </p:txBody>
      </p:sp>
      <p:pic>
        <p:nvPicPr>
          <p:cNvPr id="28" name="Image 4" descr="익스트림 클로즈업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9488180" y="1600200"/>
            <a:ext cx="2017715" cy="2697480"/>
          </a:xfrm>
          <a:prstGeom prst="rect">
            <a:avLst/>
          </a:prstGeom>
        </p:spPr>
      </p:pic>
      <p:sp>
        <p:nvSpPr>
          <p:cNvPr id="29" name="Text 21"/>
          <p:cNvSpPr txBox="1"/>
          <p:nvPr/>
        </p:nvSpPr>
        <p:spPr>
          <a:xfrm>
            <a:off x="9488180" y="4407408"/>
            <a:ext cx="20177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익스트림 클로즈업</a:t>
            </a:r>
            <a:endParaRPr lang="en-US" sz="1400" dirty="0"/>
          </a:p>
        </p:txBody>
      </p:sp>
      <p:sp>
        <p:nvSpPr>
          <p:cNvPr id="30" name="Text 22"/>
          <p:cNvSpPr txBox="1"/>
          <p:nvPr/>
        </p:nvSpPr>
        <p:spPr>
          <a:xfrm>
            <a:off x="9488180" y="4709160"/>
            <a:ext cx="20177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2"/>
                </a:solidFill>
              </a:rPr>
              <a:t>Extreme Close-up</a:t>
            </a:r>
            <a:endParaRPr lang="en-US" sz="1100" dirty="0"/>
          </a:p>
        </p:txBody>
      </p:sp>
      <p:sp>
        <p:nvSpPr>
          <p:cNvPr id="31" name="Text 23"/>
          <p:cNvSpPr txBox="1"/>
          <p:nvPr/>
        </p:nvSpPr>
        <p:spPr>
          <a:xfrm>
            <a:off x="9488180" y="4956048"/>
            <a:ext cx="20177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강조, 질감</a:t>
            </a:r>
            <a:endParaRPr lang="en-US" sz="1200" dirty="0"/>
          </a:p>
        </p:txBody>
      </p:sp>
      <p:sp>
        <p:nvSpPr>
          <p:cNvPr id="32" name="Shape 24"/>
          <p:cNvSpPr/>
          <p:nvPr/>
        </p:nvSpPr>
        <p:spPr>
          <a:xfrm>
            <a:off x="685800" y="5486400"/>
            <a:ext cx="10820095" cy="512064"/>
          </a:xfrm>
          <a:prstGeom prst="roundRect">
            <a:avLst>
              <a:gd name="adj" fmla="val 14286"/>
            </a:avLst>
          </a:prstGeom>
          <a:solidFill>
            <a:schemeClr val="accent6"/>
          </a:solidFill>
          <a:ln/>
        </p:spPr>
      </p:sp>
      <p:sp>
        <p:nvSpPr>
          <p:cNvPr id="33" name="Text 25"/>
          <p:cNvSpPr txBox="1"/>
          <p:nvPr/>
        </p:nvSpPr>
        <p:spPr>
          <a:xfrm>
            <a:off x="960120" y="5486400"/>
            <a:ext cx="1027145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어디서(와이드) → 누가 무엇을(미디엄) → 어떤 감정으로(클로즈업)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A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38</a:t>
            </a:fld>
            <a:endParaRPr 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91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5교시 · 화면의 언어와 빛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0125151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4" name="Shape 2"/>
          <p:cNvSpPr/>
          <p:nvPr/>
        </p:nvSpPr>
        <p:spPr>
          <a:xfrm>
            <a:off x="10335463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5" name="Shape 3"/>
          <p:cNvSpPr/>
          <p:nvPr/>
        </p:nvSpPr>
        <p:spPr>
          <a:xfrm>
            <a:off x="10545775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6" name="Shape 4"/>
          <p:cNvSpPr/>
          <p:nvPr/>
        </p:nvSpPr>
        <p:spPr>
          <a:xfrm>
            <a:off x="10756087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7" name="Shape 5"/>
          <p:cNvSpPr/>
          <p:nvPr/>
        </p:nvSpPr>
        <p:spPr>
          <a:xfrm>
            <a:off x="10966399" y="502920"/>
            <a:ext cx="118872" cy="1188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8" name="Shape 6"/>
          <p:cNvSpPr/>
          <p:nvPr/>
        </p:nvSpPr>
        <p:spPr>
          <a:xfrm>
            <a:off x="11176711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9" name="Shape 7"/>
          <p:cNvSpPr/>
          <p:nvPr/>
        </p:nvSpPr>
        <p:spPr>
          <a:xfrm>
            <a:off x="11387023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10" name="Text 1"/>
          <p:cNvSpPr/>
          <p:nvPr>
            <p:ph idx="101" type="title" hasCustomPrompt="1"/>
          </p:nvPr>
        </p:nvSpPr>
        <p:spPr>
          <a:xfrm>
            <a:off x="685800" y="713232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앵글: 어디서 보느냐가 느낌을 바꾼다</a:t>
            </a:r>
            <a:endParaRPr lang="en-US" sz="2800" dirty="0"/>
          </a:p>
        </p:txBody>
      </p:sp>
      <p:pic>
        <p:nvPicPr>
          <p:cNvPr id="12" name="Image 0" descr="하이앵글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85800" y="1600200"/>
            <a:ext cx="2533574" cy="2229545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85800" y="3921185"/>
            <a:ext cx="253357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하이앵글</a:t>
            </a:r>
            <a:endParaRPr lang="en-US" sz="1500" dirty="0"/>
          </a:p>
        </p:txBody>
      </p:sp>
      <p:sp>
        <p:nvSpPr>
          <p:cNvPr id="14" name="Text 10"/>
          <p:cNvSpPr txBox="1"/>
          <p:nvPr/>
        </p:nvSpPr>
        <p:spPr>
          <a:xfrm>
            <a:off x="685800" y="4241225"/>
            <a:ext cx="25335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accent5"/>
                </a:solidFill>
              </a:rPr>
              <a:t>High angle  ·  내려다보기 · 작고 귀엽게</a:t>
            </a:r>
            <a:endParaRPr lang="en-US" sz="1150" dirty="0"/>
          </a:p>
        </p:txBody>
      </p:sp>
      <p:pic>
        <p:nvPicPr>
          <p:cNvPr id="15" name="Image 1" descr="아이레벨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3447974" y="1600200"/>
            <a:ext cx="2533574" cy="2229545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447974" y="3921185"/>
            <a:ext cx="253357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아이레벨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3447974" y="4241225"/>
            <a:ext cx="25335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accent5"/>
                </a:solidFill>
              </a:rPr>
              <a:t>Eye level  ·  눈높이 · 자연스럽게</a:t>
            </a:r>
            <a:endParaRPr lang="en-US" sz="1150" dirty="0"/>
          </a:p>
        </p:txBody>
      </p:sp>
      <p:pic>
        <p:nvPicPr>
          <p:cNvPr id="18" name="Image 2" descr="로우앵글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210148" y="1600200"/>
            <a:ext cx="2533574" cy="2229545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6210148" y="3921185"/>
            <a:ext cx="253357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로우앵글</a:t>
            </a:r>
            <a:endParaRPr lang="en-US" sz="1500" dirty="0"/>
          </a:p>
        </p:txBody>
      </p:sp>
      <p:sp>
        <p:nvSpPr>
          <p:cNvPr id="20" name="Text 14"/>
          <p:cNvSpPr txBox="1"/>
          <p:nvPr/>
        </p:nvSpPr>
        <p:spPr>
          <a:xfrm>
            <a:off x="6210148" y="4241225"/>
            <a:ext cx="25335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accent5"/>
                </a:solidFill>
              </a:rPr>
              <a:t>Low angle  ·  올려다보기 · 크고 당당하게</a:t>
            </a:r>
            <a:endParaRPr lang="en-US" sz="1150" dirty="0"/>
          </a:p>
        </p:txBody>
      </p:sp>
      <p:pic>
        <p:nvPicPr>
          <p:cNvPr id="21" name="Image 3" descr="탑뷰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8972321" y="1600200"/>
            <a:ext cx="2533574" cy="2229545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8972321" y="3921185"/>
            <a:ext cx="253357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탑뷰</a:t>
            </a:r>
            <a:endParaRPr lang="en-US" sz="1500" dirty="0"/>
          </a:p>
        </p:txBody>
      </p:sp>
      <p:sp>
        <p:nvSpPr>
          <p:cNvPr id="23" name="Text 16"/>
          <p:cNvSpPr txBox="1"/>
          <p:nvPr/>
        </p:nvSpPr>
        <p:spPr>
          <a:xfrm>
            <a:off x="8972321" y="4241225"/>
            <a:ext cx="25335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accent5"/>
                </a:solidFill>
              </a:rPr>
              <a:t>Top-down  ·  바로 위 · 음식 · 손 작업</a:t>
            </a:r>
            <a:endParaRPr lang="en-US" sz="1150" dirty="0"/>
          </a:p>
        </p:txBody>
      </p:sp>
      <p:sp>
        <p:nvSpPr>
          <p:cNvPr id="24" name="Shape 17"/>
          <p:cNvSpPr/>
          <p:nvPr/>
        </p:nvSpPr>
        <p:spPr>
          <a:xfrm>
            <a:off x="685800" y="5486400"/>
            <a:ext cx="10820095" cy="512064"/>
          </a:xfrm>
          <a:prstGeom prst="roundRect">
            <a:avLst>
              <a:gd name="adj" fmla="val 14286"/>
            </a:avLst>
          </a:prstGeom>
          <a:solidFill>
            <a:schemeClr val="accent6"/>
          </a:solidFill>
          <a:ln/>
        </p:spPr>
      </p:sp>
      <p:sp>
        <p:nvSpPr>
          <p:cNvPr id="25" name="Text 18"/>
          <p:cNvSpPr txBox="1"/>
          <p:nvPr/>
        </p:nvSpPr>
        <p:spPr>
          <a:xfrm>
            <a:off x="960120" y="5486400"/>
            <a:ext cx="1027145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+ 더치 앵글(기울이기): 불안하고 역동적인 느낌. 가끔만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A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39</a:t>
            </a:fld>
            <a:endParaRPr 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91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5교시 · 화면의 언어와 빛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0125151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4" name="Shape 2"/>
          <p:cNvSpPr/>
          <p:nvPr/>
        </p:nvSpPr>
        <p:spPr>
          <a:xfrm>
            <a:off x="10335463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5" name="Shape 3"/>
          <p:cNvSpPr/>
          <p:nvPr/>
        </p:nvSpPr>
        <p:spPr>
          <a:xfrm>
            <a:off x="10545775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6" name="Shape 4"/>
          <p:cNvSpPr/>
          <p:nvPr/>
        </p:nvSpPr>
        <p:spPr>
          <a:xfrm>
            <a:off x="10756087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7" name="Shape 5"/>
          <p:cNvSpPr/>
          <p:nvPr/>
        </p:nvSpPr>
        <p:spPr>
          <a:xfrm>
            <a:off x="10966399" y="502920"/>
            <a:ext cx="118872" cy="1188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8" name="Shape 6"/>
          <p:cNvSpPr/>
          <p:nvPr/>
        </p:nvSpPr>
        <p:spPr>
          <a:xfrm>
            <a:off x="11176711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9" name="Shape 7"/>
          <p:cNvSpPr/>
          <p:nvPr/>
        </p:nvSpPr>
        <p:spPr>
          <a:xfrm>
            <a:off x="11387023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10" name="Text 1"/>
          <p:cNvSpPr/>
          <p:nvPr>
            <p:ph idx="101" type="title" hasCustomPrompt="1"/>
          </p:nvPr>
        </p:nvSpPr>
        <p:spPr>
          <a:xfrm>
            <a:off x="685800" y="713232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구도 ① 주인공을 어디에 둘까</a:t>
            </a:r>
            <a:endParaRPr lang="en-US" sz="2800" dirty="0"/>
          </a:p>
        </p:txBody>
      </p:sp>
      <p:pic>
        <p:nvPicPr>
          <p:cNvPr id="12" name="Image 0" descr="삼분할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85800" y="1600200"/>
            <a:ext cx="3423818" cy="292608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85800" y="4617720"/>
            <a:ext cx="34238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삼분할</a:t>
            </a:r>
            <a:endParaRPr lang="en-US" sz="1300" dirty="0"/>
          </a:p>
        </p:txBody>
      </p:sp>
      <p:sp>
        <p:nvSpPr>
          <p:cNvPr id="14" name="Text 10"/>
          <p:cNvSpPr txBox="1"/>
          <p:nvPr/>
        </p:nvSpPr>
        <p:spPr>
          <a:xfrm>
            <a:off x="685800" y="4892040"/>
            <a:ext cx="34238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accent5"/>
                </a:solidFill>
              </a:rPr>
              <a:t>선이 만나는 점에 주인공, 눈은 위쪽 선에</a:t>
            </a:r>
            <a:endParaRPr lang="en-US" sz="1150" dirty="0"/>
          </a:p>
        </p:txBody>
      </p:sp>
      <p:sp>
        <p:nvSpPr>
          <p:cNvPr id="15" name="Shape 11"/>
          <p:cNvSpPr/>
          <p:nvPr/>
        </p:nvSpPr>
        <p:spPr>
          <a:xfrm>
            <a:off x="1827073" y="1600200"/>
            <a:ext cx="0" cy="2926080"/>
          </a:xfrm>
          <a:prstGeom prst="line">
            <a:avLst/>
          </a:prstGeom>
          <a:noFill/>
          <a:ln w="12700">
            <a:solidFill>
              <a:srgbClr val="FFFFFF">
                <a:alpha val="70000"/>
              </a:srgbClr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685800" y="2575560"/>
            <a:ext cx="3423818" cy="0"/>
          </a:xfrm>
          <a:prstGeom prst="line">
            <a:avLst/>
          </a:prstGeom>
          <a:noFill/>
          <a:ln w="12700">
            <a:solidFill>
              <a:srgbClr val="FFFFFF">
                <a:alpha val="70000"/>
              </a:srgbClr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2968346" y="1600200"/>
            <a:ext cx="0" cy="2926080"/>
          </a:xfrm>
          <a:prstGeom prst="line">
            <a:avLst/>
          </a:prstGeom>
          <a:noFill/>
          <a:ln w="12700">
            <a:solidFill>
              <a:srgbClr val="FFFFFF">
                <a:alpha val="70000"/>
              </a:srgbClr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685800" y="3550920"/>
            <a:ext cx="3423818" cy="0"/>
          </a:xfrm>
          <a:prstGeom prst="line">
            <a:avLst/>
          </a:prstGeom>
          <a:noFill/>
          <a:ln w="12700">
            <a:solidFill>
              <a:srgbClr val="FFFFFF">
                <a:alpha val="70000"/>
              </a:srgbClr>
            </a:solidFill>
            <a:prstDash val="solid"/>
          </a:ln>
        </p:spPr>
      </p:sp>
      <p:pic>
        <p:nvPicPr>
          <p:cNvPr id="19" name="Image 1" descr="리딩 라인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383938" y="1600200"/>
            <a:ext cx="3423818" cy="2926080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4383938" y="4617720"/>
            <a:ext cx="34238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리딩 라인</a:t>
            </a:r>
            <a:endParaRPr lang="en-US" sz="1300" dirty="0"/>
          </a:p>
        </p:txBody>
      </p:sp>
      <p:sp>
        <p:nvSpPr>
          <p:cNvPr id="21" name="Text 16"/>
          <p:cNvSpPr txBox="1"/>
          <p:nvPr/>
        </p:nvSpPr>
        <p:spPr>
          <a:xfrm>
            <a:off x="4383938" y="4892040"/>
            <a:ext cx="34238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accent5"/>
                </a:solidFill>
              </a:rPr>
              <a:t>길 · 난간 · 복도의 선이 주인공을 가리키게</a:t>
            </a:r>
            <a:endParaRPr lang="en-US" sz="1150" dirty="0"/>
          </a:p>
        </p:txBody>
      </p:sp>
      <p:pic>
        <p:nvPicPr>
          <p:cNvPr id="22" name="Image 2" descr="프레임 속 프레임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082077" y="1600200"/>
            <a:ext cx="3423818" cy="292608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8082077" y="4617720"/>
            <a:ext cx="34238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프레임 속 프레임</a:t>
            </a:r>
            <a:endParaRPr lang="en-US" sz="1300" dirty="0"/>
          </a:p>
        </p:txBody>
      </p:sp>
      <p:sp>
        <p:nvSpPr>
          <p:cNvPr id="24" name="Text 18"/>
          <p:cNvSpPr txBox="1"/>
          <p:nvPr/>
        </p:nvSpPr>
        <p:spPr>
          <a:xfrm>
            <a:off x="8082077" y="4892040"/>
            <a:ext cx="34238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accent5"/>
                </a:solidFill>
              </a:rPr>
              <a:t>문 · 창문으로 주인공을 한 번 더 감싸기</a:t>
            </a:r>
            <a:endParaRPr lang="en-US" sz="1150" dirty="0"/>
          </a:p>
        </p:txBody>
      </p:sp>
      <p:sp>
        <p:nvSpPr>
          <p:cNvPr id="25" name="Shape 19"/>
          <p:cNvSpPr/>
          <p:nvPr/>
        </p:nvSpPr>
        <p:spPr>
          <a:xfrm>
            <a:off x="685800" y="5623560"/>
            <a:ext cx="10820095" cy="512064"/>
          </a:xfrm>
          <a:prstGeom prst="roundRect">
            <a:avLst>
              <a:gd name="adj" fmla="val 14286"/>
            </a:avLst>
          </a:prstGeom>
          <a:solidFill>
            <a:schemeClr val="accent6"/>
          </a:solidFill>
          <a:ln/>
        </p:spPr>
      </p:sp>
      <p:sp>
        <p:nvSpPr>
          <p:cNvPr id="26" name="Text 20"/>
          <p:cNvSpPr txBox="1"/>
          <p:nvPr/>
        </p:nvSpPr>
        <p:spPr>
          <a:xfrm>
            <a:off x="960120" y="5623560"/>
            <a:ext cx="1027145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+ 대칭: 양쪽이 같은 곳(복도 · 건물 정면)은 가운데가 정답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A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40</a:t>
            </a:fld>
            <a:endParaRPr 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91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5교시 · 화면의 언어와 빛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0125151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4" name="Shape 2"/>
          <p:cNvSpPr/>
          <p:nvPr/>
        </p:nvSpPr>
        <p:spPr>
          <a:xfrm>
            <a:off x="10335463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5" name="Shape 3"/>
          <p:cNvSpPr/>
          <p:nvPr/>
        </p:nvSpPr>
        <p:spPr>
          <a:xfrm>
            <a:off x="10545775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6" name="Shape 4"/>
          <p:cNvSpPr/>
          <p:nvPr/>
        </p:nvSpPr>
        <p:spPr>
          <a:xfrm>
            <a:off x="10756087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7" name="Shape 5"/>
          <p:cNvSpPr/>
          <p:nvPr/>
        </p:nvSpPr>
        <p:spPr>
          <a:xfrm>
            <a:off x="10966399" y="502920"/>
            <a:ext cx="118872" cy="1188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8" name="Shape 6"/>
          <p:cNvSpPr/>
          <p:nvPr/>
        </p:nvSpPr>
        <p:spPr>
          <a:xfrm>
            <a:off x="11176711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9" name="Shape 7"/>
          <p:cNvSpPr/>
          <p:nvPr/>
        </p:nvSpPr>
        <p:spPr>
          <a:xfrm>
            <a:off x="11387023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10" name="Text 1"/>
          <p:cNvSpPr/>
          <p:nvPr>
            <p:ph idx="101" type="title" hasCustomPrompt="1"/>
          </p:nvPr>
        </p:nvSpPr>
        <p:spPr>
          <a:xfrm>
            <a:off x="685800" y="713232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구도 ② 무엇을 비울까</a:t>
            </a:r>
            <a:endParaRPr lang="en-US" sz="2800" dirty="0"/>
          </a:p>
        </p:txBody>
      </p:sp>
      <p:sp>
        <p:nvSpPr>
          <p:cNvPr id="12" name="Shape 9"/>
          <p:cNvSpPr/>
          <p:nvPr/>
        </p:nvSpPr>
        <p:spPr>
          <a:xfrm>
            <a:off x="960120" y="1600200"/>
            <a:ext cx="2514600" cy="4434840"/>
          </a:xfrm>
          <a:prstGeom prst="roundRect">
            <a:avLst>
              <a:gd name="adj" fmla="val 8000"/>
            </a:avLst>
          </a:prstGeom>
          <a:solidFill>
            <a:srgbClr val="0E1110"/>
          </a:solidFill>
          <a:ln/>
        </p:spPr>
      </p:sp>
      <p:pic>
        <p:nvPicPr>
          <p:cNvPr id="13" name="Image 0" descr="세로 화면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051560" y="1691640"/>
            <a:ext cx="2331720" cy="4251960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1051560" y="1691640"/>
            <a:ext cx="2331720" cy="595274"/>
          </a:xfrm>
          <a:prstGeom prst="rect">
            <a:avLst/>
          </a:prstGeom>
          <a:solidFill>
            <a:schemeClr val="accent3">
              <a:alpha val="55000"/>
            </a:schemeClr>
          </a:solidFill>
          <a:ln/>
        </p:spPr>
      </p:sp>
      <p:sp>
        <p:nvSpPr>
          <p:cNvPr id="15" name="Shape 11"/>
          <p:cNvSpPr/>
          <p:nvPr/>
        </p:nvSpPr>
        <p:spPr>
          <a:xfrm>
            <a:off x="1051560" y="4923130"/>
            <a:ext cx="2331720" cy="1020470"/>
          </a:xfrm>
          <a:prstGeom prst="rect">
            <a:avLst/>
          </a:prstGeom>
          <a:solidFill>
            <a:schemeClr val="accent3">
              <a:alpha val="55000"/>
            </a:schemeClr>
          </a:solidFill>
          <a:ln/>
        </p:spPr>
      </p:sp>
      <p:sp>
        <p:nvSpPr>
          <p:cNvPr id="16" name="Shape 12"/>
          <p:cNvSpPr/>
          <p:nvPr/>
        </p:nvSpPr>
        <p:spPr>
          <a:xfrm>
            <a:off x="3010205" y="3477463"/>
            <a:ext cx="373075" cy="1445666"/>
          </a:xfrm>
          <a:prstGeom prst="rect">
            <a:avLst/>
          </a:prstGeom>
          <a:solidFill>
            <a:schemeClr val="accent3">
              <a:alpha val="55000"/>
            </a:schemeClr>
          </a:solidFill>
          <a:ln/>
        </p:spPr>
      </p:sp>
      <p:sp>
        <p:nvSpPr>
          <p:cNvPr id="17" name="Text 13"/>
          <p:cNvSpPr txBox="1"/>
          <p:nvPr/>
        </p:nvSpPr>
        <p:spPr>
          <a:xfrm>
            <a:off x="777240" y="6080760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b="1" dirty="0">
                <a:solidFill>
                  <a:schemeClr val="accent3"/>
                </a:solidFill>
              </a:rPr>
              <a:t>빨간 곳 = 버튼 · 캡션 자리</a:t>
            </a:r>
            <a:endParaRPr lang="en-US" sz="1150" dirty="0"/>
          </a:p>
        </p:txBody>
      </p:sp>
      <p:sp>
        <p:nvSpPr>
          <p:cNvPr id="18" name="Shape 14"/>
          <p:cNvSpPr/>
          <p:nvPr/>
        </p:nvSpPr>
        <p:spPr>
          <a:xfrm>
            <a:off x="4023360" y="1600200"/>
            <a:ext cx="7482535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/>
        </p:spPr>
      </p:sp>
      <p:sp>
        <p:nvSpPr>
          <p:cNvPr id="19" name="Shape 15"/>
          <p:cNvSpPr/>
          <p:nvPr/>
        </p:nvSpPr>
        <p:spPr>
          <a:xfrm>
            <a:off x="4224528" y="1851660"/>
            <a:ext cx="457200" cy="45720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20" name="Text 16"/>
          <p:cNvSpPr txBox="1"/>
          <p:nvPr/>
        </p:nvSpPr>
        <p:spPr>
          <a:xfrm>
            <a:off x="4224528" y="18516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1</a:t>
            </a:r>
            <a:endParaRPr lang="en-US" sz="1300" dirty="0"/>
          </a:p>
        </p:txBody>
      </p:sp>
      <p:sp>
        <p:nvSpPr>
          <p:cNvPr id="21" name="Text 17"/>
          <p:cNvSpPr txBox="1"/>
          <p:nvPr/>
        </p:nvSpPr>
        <p:spPr>
          <a:xfrm>
            <a:off x="4892040" y="1600200"/>
            <a:ext cx="23774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헤드룸</a:t>
            </a:r>
            <a:endParaRPr lang="en-US" sz="1600" dirty="0"/>
          </a:p>
        </p:txBody>
      </p:sp>
      <p:sp>
        <p:nvSpPr>
          <p:cNvPr id="22" name="Text 18"/>
          <p:cNvSpPr txBox="1"/>
          <p:nvPr/>
        </p:nvSpPr>
        <p:spPr>
          <a:xfrm>
            <a:off x="7269480" y="1600200"/>
            <a:ext cx="405353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머리 위는 손가락 한두 개만큼</a:t>
            </a:r>
            <a:endParaRPr lang="en-US" sz="1400" dirty="0"/>
          </a:p>
        </p:txBody>
      </p:sp>
      <p:sp>
        <p:nvSpPr>
          <p:cNvPr id="23" name="Shape 19"/>
          <p:cNvSpPr/>
          <p:nvPr/>
        </p:nvSpPr>
        <p:spPr>
          <a:xfrm>
            <a:off x="4023360" y="2697480"/>
            <a:ext cx="7482535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/>
        </p:spPr>
      </p:sp>
      <p:sp>
        <p:nvSpPr>
          <p:cNvPr id="24" name="Shape 20"/>
          <p:cNvSpPr/>
          <p:nvPr/>
        </p:nvSpPr>
        <p:spPr>
          <a:xfrm>
            <a:off x="4224528" y="2948940"/>
            <a:ext cx="457200" cy="45720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4224528" y="29489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2</a:t>
            </a:r>
            <a:endParaRPr lang="en-US" sz="1300" dirty="0"/>
          </a:p>
        </p:txBody>
      </p:sp>
      <p:sp>
        <p:nvSpPr>
          <p:cNvPr id="26" name="Text 22"/>
          <p:cNvSpPr txBox="1"/>
          <p:nvPr/>
        </p:nvSpPr>
        <p:spPr>
          <a:xfrm>
            <a:off x="4892040" y="2697480"/>
            <a:ext cx="23774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시선 여백</a:t>
            </a:r>
            <a:endParaRPr lang="en-US" sz="1600" dirty="0"/>
          </a:p>
        </p:txBody>
      </p:sp>
      <p:sp>
        <p:nvSpPr>
          <p:cNvPr id="27" name="Text 23"/>
          <p:cNvSpPr txBox="1"/>
          <p:nvPr/>
        </p:nvSpPr>
        <p:spPr>
          <a:xfrm>
            <a:off x="7269480" y="2697480"/>
            <a:ext cx="405353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보는 쪽, 가는 쪽에 공간을</a:t>
            </a:r>
            <a:endParaRPr lang="en-US" sz="1400" dirty="0"/>
          </a:p>
        </p:txBody>
      </p:sp>
      <p:sp>
        <p:nvSpPr>
          <p:cNvPr id="28" name="Shape 24"/>
          <p:cNvSpPr/>
          <p:nvPr/>
        </p:nvSpPr>
        <p:spPr>
          <a:xfrm>
            <a:off x="4023360" y="3794760"/>
            <a:ext cx="7482535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/>
        </p:spPr>
      </p:sp>
      <p:sp>
        <p:nvSpPr>
          <p:cNvPr id="29" name="Shape 25"/>
          <p:cNvSpPr/>
          <p:nvPr/>
        </p:nvSpPr>
        <p:spPr>
          <a:xfrm>
            <a:off x="4224528" y="4046220"/>
            <a:ext cx="457200" cy="45720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30" name="Text 26"/>
          <p:cNvSpPr txBox="1"/>
          <p:nvPr/>
        </p:nvSpPr>
        <p:spPr>
          <a:xfrm>
            <a:off x="4224528" y="40462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3</a:t>
            </a:r>
            <a:endParaRPr lang="en-US" sz="1300" dirty="0"/>
          </a:p>
        </p:txBody>
      </p:sp>
      <p:sp>
        <p:nvSpPr>
          <p:cNvPr id="31" name="Text 27"/>
          <p:cNvSpPr txBox="1"/>
          <p:nvPr/>
        </p:nvSpPr>
        <p:spPr>
          <a:xfrm>
            <a:off x="4892040" y="3794760"/>
            <a:ext cx="23774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세로 안전 영역</a:t>
            </a:r>
            <a:endParaRPr lang="en-US" sz="1600" dirty="0"/>
          </a:p>
        </p:txBody>
      </p:sp>
      <p:sp>
        <p:nvSpPr>
          <p:cNvPr id="32" name="Text 28"/>
          <p:cNvSpPr txBox="1"/>
          <p:nvPr/>
        </p:nvSpPr>
        <p:spPr>
          <a:xfrm>
            <a:off x="7269480" y="3794760"/>
            <a:ext cx="405353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위 · 아래 · 오른쪽은 버튼과 캡션 자리</a:t>
            </a:r>
            <a:endParaRPr lang="en-US" sz="1400" dirty="0"/>
          </a:p>
        </p:txBody>
      </p:sp>
      <p:sp>
        <p:nvSpPr>
          <p:cNvPr id="33" name="Shape 29"/>
          <p:cNvSpPr/>
          <p:nvPr/>
        </p:nvSpPr>
        <p:spPr>
          <a:xfrm>
            <a:off x="4023360" y="4892040"/>
            <a:ext cx="7482535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/>
        </p:spPr>
      </p:sp>
      <p:sp>
        <p:nvSpPr>
          <p:cNvPr id="34" name="Shape 30"/>
          <p:cNvSpPr/>
          <p:nvPr/>
        </p:nvSpPr>
        <p:spPr>
          <a:xfrm>
            <a:off x="4224528" y="5143500"/>
            <a:ext cx="457200" cy="45720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35" name="Text 31"/>
          <p:cNvSpPr txBox="1"/>
          <p:nvPr/>
        </p:nvSpPr>
        <p:spPr>
          <a:xfrm>
            <a:off x="4224528" y="51435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4</a:t>
            </a:r>
            <a:endParaRPr lang="en-US" sz="1300" dirty="0"/>
          </a:p>
        </p:txBody>
      </p:sp>
      <p:sp>
        <p:nvSpPr>
          <p:cNvPr id="36" name="Text 32"/>
          <p:cNvSpPr txBox="1"/>
          <p:nvPr/>
        </p:nvSpPr>
        <p:spPr>
          <a:xfrm>
            <a:off x="4892040" y="4892040"/>
            <a:ext cx="23774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수직선</a:t>
            </a:r>
            <a:endParaRPr lang="en-US" sz="1600" dirty="0"/>
          </a:p>
        </p:txBody>
      </p:sp>
      <p:sp>
        <p:nvSpPr>
          <p:cNvPr id="37" name="Text 33"/>
          <p:cNvSpPr txBox="1"/>
          <p:nvPr/>
        </p:nvSpPr>
        <p:spPr>
          <a:xfrm>
            <a:off x="7269480" y="4892040"/>
            <a:ext cx="405353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문틀 · 건물 세로선을 화면과 나란히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A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41</a:t>
            </a:fld>
            <a:endParaRPr lang="en-US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91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5교시 · 화면의 언어와 빛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0125151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4" name="Shape 2"/>
          <p:cNvSpPr/>
          <p:nvPr/>
        </p:nvSpPr>
        <p:spPr>
          <a:xfrm>
            <a:off x="10335463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5" name="Shape 3"/>
          <p:cNvSpPr/>
          <p:nvPr/>
        </p:nvSpPr>
        <p:spPr>
          <a:xfrm>
            <a:off x="10545775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6" name="Shape 4"/>
          <p:cNvSpPr/>
          <p:nvPr/>
        </p:nvSpPr>
        <p:spPr>
          <a:xfrm>
            <a:off x="10756087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7" name="Shape 5"/>
          <p:cNvSpPr/>
          <p:nvPr/>
        </p:nvSpPr>
        <p:spPr>
          <a:xfrm>
            <a:off x="10966399" y="502920"/>
            <a:ext cx="118872" cy="1188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8" name="Shape 6"/>
          <p:cNvSpPr/>
          <p:nvPr/>
        </p:nvSpPr>
        <p:spPr>
          <a:xfrm>
            <a:off x="11176711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9" name="Shape 7"/>
          <p:cNvSpPr/>
          <p:nvPr/>
        </p:nvSpPr>
        <p:spPr>
          <a:xfrm>
            <a:off x="11387023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10" name="Text 1"/>
          <p:cNvSpPr/>
          <p:nvPr>
            <p:ph idx="101" type="title" hasCustomPrompt="1"/>
          </p:nvPr>
        </p:nvSpPr>
        <p:spPr>
          <a:xfrm>
            <a:off x="685800" y="713232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빛의 방향</a:t>
            </a:r>
            <a:endParaRPr lang="en-US" sz="2800" dirty="0"/>
          </a:p>
        </p:txBody>
      </p:sp>
      <p:pic>
        <p:nvPicPr>
          <p:cNvPr id="12" name="Image 0" descr="순광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85800" y="1600200"/>
            <a:ext cx="2533574" cy="2330888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85800" y="4022528"/>
            <a:ext cx="25335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순광</a:t>
            </a:r>
            <a:endParaRPr lang="en-US" sz="1300" dirty="0"/>
          </a:p>
        </p:txBody>
      </p:sp>
      <p:sp>
        <p:nvSpPr>
          <p:cNvPr id="14" name="Text 10"/>
          <p:cNvSpPr txBox="1"/>
          <p:nvPr/>
        </p:nvSpPr>
        <p:spPr>
          <a:xfrm>
            <a:off x="685800" y="4296848"/>
            <a:ext cx="253357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accent5"/>
                </a:solidFill>
              </a:rPr>
              <a:t>정면 · 밝고 선명</a:t>
            </a:r>
            <a:endParaRPr lang="en-US" sz="1150" dirty="0"/>
          </a:p>
        </p:txBody>
      </p:sp>
      <p:pic>
        <p:nvPicPr>
          <p:cNvPr id="15" name="Image 1" descr="측광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3447974" y="1600200"/>
            <a:ext cx="2533574" cy="233088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447974" y="4022528"/>
            <a:ext cx="25335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측광</a:t>
            </a:r>
            <a:endParaRPr lang="en-US" sz="1300" dirty="0"/>
          </a:p>
        </p:txBody>
      </p:sp>
      <p:sp>
        <p:nvSpPr>
          <p:cNvPr id="17" name="Text 12"/>
          <p:cNvSpPr txBox="1"/>
          <p:nvPr/>
        </p:nvSpPr>
        <p:spPr>
          <a:xfrm>
            <a:off x="3447974" y="4296848"/>
            <a:ext cx="253357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accent5"/>
                </a:solidFill>
              </a:rPr>
              <a:t>옆 · 입체감과 분위기</a:t>
            </a:r>
            <a:endParaRPr lang="en-US" sz="1150" dirty="0"/>
          </a:p>
        </p:txBody>
      </p:sp>
      <p:pic>
        <p:nvPicPr>
          <p:cNvPr id="18" name="Image 2" descr="역광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210148" y="1600200"/>
            <a:ext cx="2533574" cy="2330888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6210148" y="4022528"/>
            <a:ext cx="25335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역광</a:t>
            </a:r>
            <a:endParaRPr lang="en-US" sz="1300" dirty="0"/>
          </a:p>
        </p:txBody>
      </p:sp>
      <p:sp>
        <p:nvSpPr>
          <p:cNvPr id="20" name="Text 14"/>
          <p:cNvSpPr txBox="1"/>
          <p:nvPr/>
        </p:nvSpPr>
        <p:spPr>
          <a:xfrm>
            <a:off x="6210148" y="4296848"/>
            <a:ext cx="253357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accent5"/>
                </a:solidFill>
              </a:rPr>
              <a:t>뒤 · 윤곽은 예쁘지만 얼굴이 어두움</a:t>
            </a:r>
            <a:endParaRPr lang="en-US" sz="1150" dirty="0"/>
          </a:p>
        </p:txBody>
      </p:sp>
      <p:pic>
        <p:nvPicPr>
          <p:cNvPr id="21" name="Image 3" descr="그늘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8972321" y="1600200"/>
            <a:ext cx="2533574" cy="2330888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8972321" y="4022528"/>
            <a:ext cx="25335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그늘</a:t>
            </a:r>
            <a:endParaRPr lang="en-US" sz="1300" dirty="0"/>
          </a:p>
        </p:txBody>
      </p:sp>
      <p:sp>
        <p:nvSpPr>
          <p:cNvPr id="23" name="Text 16"/>
          <p:cNvSpPr txBox="1"/>
          <p:nvPr/>
        </p:nvSpPr>
        <p:spPr>
          <a:xfrm>
            <a:off x="8972321" y="4296848"/>
            <a:ext cx="253357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accent5"/>
                </a:solidFill>
              </a:rPr>
              <a:t>부드럽고 고르게</a:t>
            </a:r>
            <a:endParaRPr lang="en-US" sz="1150" dirty="0"/>
          </a:p>
        </p:txBody>
      </p:sp>
      <p:sp>
        <p:nvSpPr>
          <p:cNvPr id="24" name="Shape 17"/>
          <p:cNvSpPr/>
          <p:nvPr/>
        </p:nvSpPr>
        <p:spPr>
          <a:xfrm>
            <a:off x="685800" y="5577840"/>
            <a:ext cx="10820095" cy="512064"/>
          </a:xfrm>
          <a:prstGeom prst="roundRect">
            <a:avLst>
              <a:gd name="adj" fmla="val 14286"/>
            </a:avLst>
          </a:prstGeom>
          <a:solidFill>
            <a:schemeClr val="accent6"/>
          </a:solidFill>
          <a:ln/>
        </p:spPr>
      </p:sp>
      <p:sp>
        <p:nvSpPr>
          <p:cNvPr id="25" name="Text 18"/>
          <p:cNvSpPr txBox="1"/>
          <p:nvPr/>
        </p:nvSpPr>
        <p:spPr>
          <a:xfrm>
            <a:off x="960120" y="5577840"/>
            <a:ext cx="1027145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역광은 흰 종이 한 장으로 살린다: 얼굴 앞 아래쪽에서 빛을 튕겨 주기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A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42</a:t>
            </a:fld>
            <a:endParaRPr lang="en-US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91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5교시 · 화면의 언어와 빛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0125151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4" name="Shape 2"/>
          <p:cNvSpPr/>
          <p:nvPr/>
        </p:nvSpPr>
        <p:spPr>
          <a:xfrm>
            <a:off x="10335463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5" name="Shape 3"/>
          <p:cNvSpPr/>
          <p:nvPr/>
        </p:nvSpPr>
        <p:spPr>
          <a:xfrm>
            <a:off x="10545775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6" name="Shape 4"/>
          <p:cNvSpPr/>
          <p:nvPr/>
        </p:nvSpPr>
        <p:spPr>
          <a:xfrm>
            <a:off x="10756087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7" name="Shape 5"/>
          <p:cNvSpPr/>
          <p:nvPr/>
        </p:nvSpPr>
        <p:spPr>
          <a:xfrm>
            <a:off x="10966399" y="502920"/>
            <a:ext cx="118872" cy="1188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8" name="Shape 6"/>
          <p:cNvSpPr/>
          <p:nvPr/>
        </p:nvSpPr>
        <p:spPr>
          <a:xfrm>
            <a:off x="11176711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9" name="Shape 7"/>
          <p:cNvSpPr/>
          <p:nvPr/>
        </p:nvSpPr>
        <p:spPr>
          <a:xfrm>
            <a:off x="11387023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10" name="Text 1"/>
          <p:cNvSpPr/>
          <p:nvPr>
            <p:ph idx="101" type="title" hasCustomPrompt="1"/>
          </p:nvPr>
        </p:nvSpPr>
        <p:spPr>
          <a:xfrm>
            <a:off x="685800" y="713232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3점 조명, 폰으로 하면</a:t>
            </a:r>
            <a:endParaRPr lang="en-US" sz="2800" dirty="0"/>
          </a:p>
        </p:txBody>
      </p:sp>
      <p:sp>
        <p:nvSpPr>
          <p:cNvPr id="12" name="Shape 9"/>
          <p:cNvSpPr/>
          <p:nvPr/>
        </p:nvSpPr>
        <p:spPr>
          <a:xfrm>
            <a:off x="685800" y="1600200"/>
            <a:ext cx="5486400" cy="4434840"/>
          </a:xfrm>
          <a:prstGeom prst="roundRect">
            <a:avLst>
              <a:gd name="adj" fmla="val 1649"/>
            </a:avLst>
          </a:prstGeom>
          <a:solidFill>
            <a:schemeClr val="tx2"/>
          </a:solidFill>
          <a:ln/>
        </p:spPr>
      </p:sp>
      <p:sp>
        <p:nvSpPr>
          <p:cNvPr id="13" name="Shape 10"/>
          <p:cNvSpPr/>
          <p:nvPr/>
        </p:nvSpPr>
        <p:spPr>
          <a:xfrm flipV="1">
            <a:off x="1828800" y="3703320"/>
            <a:ext cx="1234440" cy="411480"/>
          </a:xfrm>
          <a:prstGeom prst="line">
            <a:avLst/>
          </a:prstGeom>
          <a:noFill/>
          <a:ln w="25400">
            <a:solidFill>
              <a:schemeClr val="accent1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3794760" y="3703320"/>
            <a:ext cx="1143000" cy="411480"/>
          </a:xfrm>
          <a:prstGeom prst="line">
            <a:avLst/>
          </a:prstGeom>
          <a:noFill/>
          <a:ln w="19050">
            <a:solidFill>
              <a:srgbClr val="C9B26A"/>
            </a:solidFill>
            <a:prstDash val="dash"/>
          </a:ln>
        </p:spPr>
      </p:sp>
      <p:sp>
        <p:nvSpPr>
          <p:cNvPr id="15" name="Shape 12"/>
          <p:cNvSpPr/>
          <p:nvPr/>
        </p:nvSpPr>
        <p:spPr>
          <a:xfrm>
            <a:off x="3063240" y="3246120"/>
            <a:ext cx="731520" cy="731520"/>
          </a:xfrm>
          <a:prstGeom prst="ellipse">
            <a:avLst/>
          </a:prstGeom>
          <a:solidFill>
            <a:srgbClr val="E6EEE9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2880360" y="402336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사람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3127248" y="4937760"/>
            <a:ext cx="603504" cy="603504"/>
          </a:xfrm>
          <a:prstGeom prst="ellipse">
            <a:avLst/>
          </a:prstGeom>
          <a:solidFill>
            <a:srgbClr val="26302C"/>
          </a:solidFill>
          <a:ln/>
        </p:spPr>
      </p:sp>
      <p:pic>
        <p:nvPicPr>
          <p:cNvPr id="18" name="Image 0" descr="FaVide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84159" y="5094671"/>
            <a:ext cx="289682" cy="289682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2880360" y="555040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9D3CE"/>
                </a:solidFill>
              </a:rPr>
              <a:t>카메라</a:t>
            </a:r>
            <a:endParaRPr lang="en-US" sz="1100" dirty="0"/>
          </a:p>
        </p:txBody>
      </p:sp>
      <p:sp>
        <p:nvSpPr>
          <p:cNvPr id="20" name="Shape 16"/>
          <p:cNvSpPr/>
          <p:nvPr/>
        </p:nvSpPr>
        <p:spPr>
          <a:xfrm>
            <a:off x="1097280" y="393192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1" name="Image 1" descr="FaSu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7475" y="4122115"/>
            <a:ext cx="351130" cy="351130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731520" y="470916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키 = 창문</a:t>
            </a:r>
            <a:endParaRPr lang="en-US" sz="1200" dirty="0"/>
          </a:p>
        </p:txBody>
      </p:sp>
      <p:sp>
        <p:nvSpPr>
          <p:cNvPr id="23" name="Shape 18"/>
          <p:cNvSpPr/>
          <p:nvPr/>
        </p:nvSpPr>
        <p:spPr>
          <a:xfrm>
            <a:off x="4892040" y="3959352"/>
            <a:ext cx="658368" cy="658368"/>
          </a:xfrm>
          <a:prstGeom prst="ellipse">
            <a:avLst/>
          </a:prstGeom>
          <a:solidFill>
            <a:schemeClr val="accent6"/>
          </a:solidFill>
          <a:ln/>
        </p:spPr>
      </p:sp>
      <p:pic>
        <p:nvPicPr>
          <p:cNvPr id="24" name="Image 2" descr="FaSquar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63216" y="4130528"/>
            <a:ext cx="316017" cy="316017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4526280" y="470916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6"/>
                </a:solidFill>
              </a:rPr>
              <a:t>필 = 흰 종이</a:t>
            </a:r>
            <a:endParaRPr lang="en-US" sz="1200" dirty="0"/>
          </a:p>
        </p:txBody>
      </p:sp>
      <p:sp>
        <p:nvSpPr>
          <p:cNvPr id="26" name="Shape 20"/>
          <p:cNvSpPr/>
          <p:nvPr/>
        </p:nvSpPr>
        <p:spPr>
          <a:xfrm>
            <a:off x="3127248" y="2011680"/>
            <a:ext cx="603504" cy="603504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27" name="Image 3" descr="FaLightbulb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84159" y="2168591"/>
            <a:ext cx="289682" cy="289682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2331720" y="265176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9CC2E0"/>
                </a:solidFill>
              </a:rPr>
              <a:t>백 = 뒤쪽 스탠드</a:t>
            </a:r>
            <a:endParaRPr lang="en-US" sz="1200" dirty="0"/>
          </a:p>
        </p:txBody>
      </p:sp>
      <p:sp>
        <p:nvSpPr>
          <p:cNvPr id="29" name="Shape 22"/>
          <p:cNvSpPr/>
          <p:nvPr/>
        </p:nvSpPr>
        <p:spPr>
          <a:xfrm>
            <a:off x="6446520" y="1600200"/>
            <a:ext cx="5059375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/>
        </p:spPr>
      </p:sp>
      <p:sp>
        <p:nvSpPr>
          <p:cNvPr id="30" name="Text 23"/>
          <p:cNvSpPr txBox="1"/>
          <p:nvPr/>
        </p:nvSpPr>
        <p:spPr>
          <a:xfrm>
            <a:off x="6720840" y="1737360"/>
            <a:ext cx="451073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키 라이트</a:t>
            </a:r>
            <a:endParaRPr lang="en-US" sz="1700" dirty="0"/>
          </a:p>
        </p:txBody>
      </p:sp>
      <p:sp>
        <p:nvSpPr>
          <p:cNvPr id="31" name="Text 24"/>
          <p:cNvSpPr txBox="1"/>
          <p:nvPr/>
        </p:nvSpPr>
        <p:spPr>
          <a:xfrm>
            <a:off x="6720840" y="2103120"/>
            <a:ext cx="4510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가장 강한 주 조명. 얼굴 정면에서 45도 옆, 살짝 위</a:t>
            </a:r>
            <a:endParaRPr lang="en-US" sz="1300" dirty="0"/>
          </a:p>
        </p:txBody>
      </p:sp>
      <p:sp>
        <p:nvSpPr>
          <p:cNvPr id="32" name="Text 25"/>
          <p:cNvSpPr txBox="1"/>
          <p:nvPr/>
        </p:nvSpPr>
        <p:spPr>
          <a:xfrm>
            <a:off x="6720840" y="2560320"/>
            <a:ext cx="45107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폰으로는 → 창문</a:t>
            </a:r>
            <a:endParaRPr lang="en-US" sz="1300" dirty="0"/>
          </a:p>
        </p:txBody>
      </p:sp>
      <p:sp>
        <p:nvSpPr>
          <p:cNvPr id="33" name="Shape 26"/>
          <p:cNvSpPr/>
          <p:nvPr/>
        </p:nvSpPr>
        <p:spPr>
          <a:xfrm>
            <a:off x="6446520" y="3108960"/>
            <a:ext cx="5059375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/>
        </p:spPr>
      </p:sp>
      <p:sp>
        <p:nvSpPr>
          <p:cNvPr id="34" name="Text 27"/>
          <p:cNvSpPr txBox="1"/>
          <p:nvPr/>
        </p:nvSpPr>
        <p:spPr>
          <a:xfrm>
            <a:off x="6720840" y="3246120"/>
            <a:ext cx="451073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필 라이트</a:t>
            </a:r>
            <a:endParaRPr lang="en-US" sz="1700" dirty="0"/>
          </a:p>
        </p:txBody>
      </p:sp>
      <p:sp>
        <p:nvSpPr>
          <p:cNvPr id="35" name="Text 28"/>
          <p:cNvSpPr txBox="1"/>
          <p:nvPr/>
        </p:nvSpPr>
        <p:spPr>
          <a:xfrm>
            <a:off x="6720840" y="3611880"/>
            <a:ext cx="4510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반대쪽에서 그림자를 부드럽게 채움</a:t>
            </a:r>
            <a:endParaRPr lang="en-US" sz="1300" dirty="0"/>
          </a:p>
        </p:txBody>
      </p:sp>
      <p:sp>
        <p:nvSpPr>
          <p:cNvPr id="36" name="Text 29"/>
          <p:cNvSpPr txBox="1"/>
          <p:nvPr/>
        </p:nvSpPr>
        <p:spPr>
          <a:xfrm>
            <a:off x="6720840" y="4069080"/>
            <a:ext cx="45107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폰으로는 → 흰 종이 · 흰 벽</a:t>
            </a:r>
            <a:endParaRPr lang="en-US" sz="1300" dirty="0"/>
          </a:p>
        </p:txBody>
      </p:sp>
      <p:sp>
        <p:nvSpPr>
          <p:cNvPr id="37" name="Shape 30"/>
          <p:cNvSpPr/>
          <p:nvPr/>
        </p:nvSpPr>
        <p:spPr>
          <a:xfrm>
            <a:off x="6446520" y="4617720"/>
            <a:ext cx="5059375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/>
        </p:spPr>
      </p:sp>
      <p:sp>
        <p:nvSpPr>
          <p:cNvPr id="38" name="Text 31"/>
          <p:cNvSpPr txBox="1"/>
          <p:nvPr/>
        </p:nvSpPr>
        <p:spPr>
          <a:xfrm>
            <a:off x="6720840" y="4754880"/>
            <a:ext cx="451073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백 라이트</a:t>
            </a:r>
            <a:endParaRPr lang="en-US" sz="1700" dirty="0"/>
          </a:p>
        </p:txBody>
      </p:sp>
      <p:sp>
        <p:nvSpPr>
          <p:cNvPr id="39" name="Text 32"/>
          <p:cNvSpPr txBox="1"/>
          <p:nvPr/>
        </p:nvSpPr>
        <p:spPr>
          <a:xfrm>
            <a:off x="6720840" y="5120640"/>
            <a:ext cx="4510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뒤에서 머리 · 어깨 윤곽을 살려 배경과 분리</a:t>
            </a:r>
            <a:endParaRPr lang="en-US" sz="1300" dirty="0"/>
          </a:p>
        </p:txBody>
      </p:sp>
      <p:sp>
        <p:nvSpPr>
          <p:cNvPr id="40" name="Text 33"/>
          <p:cNvSpPr txBox="1"/>
          <p:nvPr/>
        </p:nvSpPr>
        <p:spPr>
          <a:xfrm>
            <a:off x="6720840" y="5577840"/>
            <a:ext cx="45107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폰으로는 → 뒤쪽 스탠드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A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43</a:t>
            </a:fld>
            <a:endParaRPr lang="en-US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91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5교시 · 화면의 언어와 빛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0125151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4" name="Shape 2"/>
          <p:cNvSpPr/>
          <p:nvPr/>
        </p:nvSpPr>
        <p:spPr>
          <a:xfrm>
            <a:off x="10335463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5" name="Shape 3"/>
          <p:cNvSpPr/>
          <p:nvPr/>
        </p:nvSpPr>
        <p:spPr>
          <a:xfrm>
            <a:off x="10545775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6" name="Shape 4"/>
          <p:cNvSpPr/>
          <p:nvPr/>
        </p:nvSpPr>
        <p:spPr>
          <a:xfrm>
            <a:off x="10756087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7" name="Shape 5"/>
          <p:cNvSpPr/>
          <p:nvPr/>
        </p:nvSpPr>
        <p:spPr>
          <a:xfrm>
            <a:off x="10966399" y="502920"/>
            <a:ext cx="118872" cy="1188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8" name="Shape 6"/>
          <p:cNvSpPr/>
          <p:nvPr/>
        </p:nvSpPr>
        <p:spPr>
          <a:xfrm>
            <a:off x="11176711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9" name="Shape 7"/>
          <p:cNvSpPr/>
          <p:nvPr/>
        </p:nvSpPr>
        <p:spPr>
          <a:xfrm>
            <a:off x="11387023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10" name="Text 1"/>
          <p:cNvSpPr/>
          <p:nvPr>
            <p:ph idx="101" type="title" hasCustomPrompt="1"/>
          </p:nvPr>
        </p:nvSpPr>
        <p:spPr>
          <a:xfrm>
            <a:off x="685800" y="713232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실습 · 구도 사진 미션 + AI 피드백 (25분)</a:t>
            </a:r>
            <a:endParaRPr lang="en-US" sz="2800" dirty="0"/>
          </a:p>
        </p:txBody>
      </p:sp>
      <p:sp>
        <p:nvSpPr>
          <p:cNvPr id="12" name="Text 9"/>
          <p:cNvSpPr txBox="1"/>
          <p:nvPr/>
        </p:nvSpPr>
        <p:spPr>
          <a:xfrm>
            <a:off x="685800" y="160020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학교 공간에서 15분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685800" y="2103120"/>
            <a:ext cx="512064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☐  삼분할 × 2</a:t>
            </a:r>
            <a:endParaRPr lang="en-US" sz="15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☐  헤드룸 좋은 예 · 나쁜 예</a:t>
            </a:r>
            <a:endParaRPr lang="en-US" sz="15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☐  대칭 × 1</a:t>
            </a:r>
            <a:endParaRPr lang="en-US" sz="15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☐  시선 여백 좋은 예 · 나쁜 예</a:t>
            </a:r>
            <a:endParaRPr lang="en-US" sz="15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☐  리딩 라인 × 1</a:t>
            </a:r>
            <a:endParaRPr lang="en-US" sz="15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☐  탑뷰 × 1</a:t>
            </a:r>
            <a:endParaRPr lang="en-US" sz="15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☐  프레임 속 프레임 × 1</a:t>
            </a:r>
            <a:endParaRPr lang="en-US" sz="15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☐  역광 + 흰 종이 반사판 × 1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6172200" y="1600200"/>
            <a:ext cx="5333695" cy="2240280"/>
          </a:xfrm>
          <a:prstGeom prst="roundRect">
            <a:avLst>
              <a:gd name="adj" fmla="val 3265"/>
            </a:avLst>
          </a:prstGeom>
          <a:solidFill>
            <a:srgbClr val="FFFFFF"/>
          </a:solidFill>
          <a:ln w="12700">
            <a:solidFill>
              <a:schemeClr val="accent4"/>
            </a:solidFill>
            <a:prstDash val="dash"/>
          </a:ln>
        </p:spPr>
      </p:sp>
      <p:sp>
        <p:nvSpPr>
          <p:cNvPr id="15" name="Text 12"/>
          <p:cNvSpPr txBox="1"/>
          <p:nvPr/>
        </p:nvSpPr>
        <p:spPr>
          <a:xfrm>
            <a:off x="6400800" y="1764792"/>
            <a:ext cx="48764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4"/>
                </a:solidFill>
              </a:rPr>
              <a:t>ChatGPT에 사진을 올리고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6400800" y="2075688"/>
            <a:ext cx="4876495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이 사진의 구도에서 좋은 점 1개, 고칠 점 2개를 알려줘. 초보자가 다음 촬영에서 바로 고칠 수 있게, 샷 크기 · 앵글 · 구도 용어를 써서.</a:t>
            </a:r>
            <a:endParaRPr lang="en-US" sz="1350" dirty="0"/>
          </a:p>
        </p:txBody>
      </p:sp>
      <p:sp>
        <p:nvSpPr>
          <p:cNvPr id="17" name="Shape 14"/>
          <p:cNvSpPr/>
          <p:nvPr/>
        </p:nvSpPr>
        <p:spPr>
          <a:xfrm>
            <a:off x="6172200" y="4023360"/>
            <a:ext cx="5333695" cy="1600200"/>
          </a:xfrm>
          <a:prstGeom prst="roundRect">
            <a:avLst>
              <a:gd name="adj" fmla="val 4571"/>
            </a:avLst>
          </a:prstGeom>
          <a:solidFill>
            <a:schemeClr val="tx2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6446520" y="41605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워크북에 한 줄씩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6446520" y="4572000"/>
            <a:ext cx="478505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AI가 맞게 본 것 하나: ________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AI가 놓친 것 하나: ________</a:t>
            </a:r>
            <a:endParaRPr lang="en-US" sz="1500" dirty="0"/>
          </a:p>
        </p:txBody>
      </p:sp>
      <p:sp>
        <p:nvSpPr>
          <p:cNvPr id="20" name="Text 17"/>
          <p:cNvSpPr txBox="1"/>
          <p:nvPr/>
        </p:nvSpPr>
        <p:spPr>
          <a:xfrm>
            <a:off x="6172200" y="5760720"/>
            <a:ext cx="53336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3"/>
                </a:solidFill>
              </a:rPr>
              <a:t>AI는 규칙을 보고, 사람은 의도를 봅니다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A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44</a:t>
            </a:fld>
            <a:endParaRPr lang="en-US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ARUBIT/build/.cache/s1/img07_gra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/home/user/MARUBIT/build/.cache/s1/overla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685800" y="1325880"/>
            <a:ext cx="3657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0" b="1" dirty="0">
                <a:solidFill>
                  <a:schemeClr val="accent1"/>
                </a:solidFill>
              </a:rPr>
              <a:t>06</a:t>
            </a:r>
            <a:endParaRPr lang="en-US" sz="11000" dirty="0"/>
          </a:p>
        </p:txBody>
      </p:sp>
      <p:sp>
        <p:nvSpPr>
          <p:cNvPr id="5" name="Text 1"/>
          <p:cNvSpPr txBox="1"/>
          <p:nvPr/>
        </p:nvSpPr>
        <p:spPr>
          <a:xfrm>
            <a:off x="758952" y="10515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chemeClr val="accent6"/>
                </a:solidFill>
              </a:rPr>
              <a:t>6교시</a:t>
            </a:r>
            <a:endParaRPr lang="en-US" sz="1400" dirty="0"/>
          </a:p>
        </p:txBody>
      </p:sp>
      <p:sp>
        <p:nvSpPr>
          <p:cNvPr id="6" name="Text 0"/>
          <p:cNvSpPr/>
          <p:nvPr>
            <p:ph idx="100" type="title" hasCustomPrompt="1"/>
          </p:nvPr>
        </p:nvSpPr>
        <p:spPr>
          <a:xfrm>
            <a:off x="685800" y="324612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움직임 · 컷 · 소리, 그리고 장비</a:t>
            </a:r>
            <a:endParaRPr lang="en-US" sz="4000" dirty="0"/>
          </a:p>
        </p:txBody>
      </p:sp>
      <p:sp>
        <p:nvSpPr>
          <p:cNvPr id="7" name="Text 0"/>
          <p:cNvSpPr/>
          <p:nvPr>
            <p:ph idx="101" type="body" hasCustomPrompt="1"/>
          </p:nvPr>
        </p:nvSpPr>
        <p:spPr>
          <a:xfrm>
            <a:off x="685800" y="4480560"/>
            <a:ext cx="7132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15:40–16:30  ·  흔들림 없이, 한 장면을 여러 컷으로, 소리까지</a:t>
            </a:r>
            <a:endParaRPr lang="en-US" sz="16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91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6교시 · 움직임 · 컷 · 소리, 그리고 장비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0125151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4" name="Shape 2"/>
          <p:cNvSpPr/>
          <p:nvPr/>
        </p:nvSpPr>
        <p:spPr>
          <a:xfrm>
            <a:off x="10335463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5" name="Shape 3"/>
          <p:cNvSpPr/>
          <p:nvPr/>
        </p:nvSpPr>
        <p:spPr>
          <a:xfrm>
            <a:off x="10545775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6" name="Shape 4"/>
          <p:cNvSpPr/>
          <p:nvPr/>
        </p:nvSpPr>
        <p:spPr>
          <a:xfrm>
            <a:off x="10756087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7" name="Shape 5"/>
          <p:cNvSpPr/>
          <p:nvPr/>
        </p:nvSpPr>
        <p:spPr>
          <a:xfrm>
            <a:off x="10966399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8" name="Shape 6"/>
          <p:cNvSpPr/>
          <p:nvPr/>
        </p:nvSpPr>
        <p:spPr>
          <a:xfrm>
            <a:off x="11176711" y="502920"/>
            <a:ext cx="118872" cy="1188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9" name="Shape 7"/>
          <p:cNvSpPr/>
          <p:nvPr/>
        </p:nvSpPr>
        <p:spPr>
          <a:xfrm>
            <a:off x="11387023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10" name="Text 1"/>
          <p:cNvSpPr/>
          <p:nvPr>
            <p:ph idx="101" type="title" hasCustomPrompt="1"/>
          </p:nvPr>
        </p:nvSpPr>
        <p:spPr>
          <a:xfrm>
            <a:off x="685800" y="713232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흔들림 잡기와 카메라 움직임</a:t>
            </a:r>
            <a:endParaRPr lang="en-US" sz="2800" dirty="0"/>
          </a:p>
        </p:txBody>
      </p:sp>
      <p:sp>
        <p:nvSpPr>
          <p:cNvPr id="12" name="Shape 9"/>
          <p:cNvSpPr/>
          <p:nvPr/>
        </p:nvSpPr>
        <p:spPr>
          <a:xfrm>
            <a:off x="685800" y="1600200"/>
            <a:ext cx="1981139" cy="2057400"/>
          </a:xfrm>
          <a:prstGeom prst="roundRect">
            <a:avLst>
              <a:gd name="adj" fmla="val 3692"/>
            </a:avLst>
          </a:prstGeom>
          <a:solidFill>
            <a:schemeClr val="bg2"/>
          </a:solidFill>
          <a:ln/>
        </p:spPr>
      </p:sp>
      <p:sp>
        <p:nvSpPr>
          <p:cNvPr id="13" name="Shape 10"/>
          <p:cNvSpPr/>
          <p:nvPr/>
        </p:nvSpPr>
        <p:spPr>
          <a:xfrm>
            <a:off x="1310610" y="1810512"/>
            <a:ext cx="731520" cy="731520"/>
          </a:xfrm>
          <a:prstGeom prst="ellipse">
            <a:avLst/>
          </a:prstGeom>
          <a:solidFill>
            <a:srgbClr val="E6EEE9"/>
          </a:solidFill>
          <a:ln/>
        </p:spPr>
      </p:sp>
      <p:pic>
        <p:nvPicPr>
          <p:cNvPr id="14" name="Image 0" descr="FaPaus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00805" y="2000707"/>
            <a:ext cx="351130" cy="351130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685800" y="2697480"/>
            <a:ext cx="19811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고정</a:t>
            </a:r>
            <a:endParaRPr lang="en-US" sz="1700" dirty="0"/>
          </a:p>
        </p:txBody>
      </p:sp>
      <p:sp>
        <p:nvSpPr>
          <p:cNvPr id="16" name="Text 12"/>
          <p:cNvSpPr txBox="1"/>
          <p:nvPr/>
        </p:nvSpPr>
        <p:spPr>
          <a:xfrm>
            <a:off x="685800" y="3063240"/>
            <a:ext cx="19811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Static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2895539" y="1600200"/>
            <a:ext cx="1981139" cy="2057400"/>
          </a:xfrm>
          <a:prstGeom prst="roundRect">
            <a:avLst>
              <a:gd name="adj" fmla="val 3692"/>
            </a:avLst>
          </a:prstGeom>
          <a:solidFill>
            <a:schemeClr val="bg2"/>
          </a:solidFill>
          <a:ln/>
        </p:spPr>
      </p:sp>
      <p:sp>
        <p:nvSpPr>
          <p:cNvPr id="18" name="Shape 14"/>
          <p:cNvSpPr/>
          <p:nvPr/>
        </p:nvSpPr>
        <p:spPr>
          <a:xfrm>
            <a:off x="3520349" y="1810512"/>
            <a:ext cx="731520" cy="731520"/>
          </a:xfrm>
          <a:prstGeom prst="ellipse">
            <a:avLst/>
          </a:prstGeom>
          <a:solidFill>
            <a:srgbClr val="E6EEE9"/>
          </a:solidFill>
          <a:ln/>
        </p:spPr>
      </p:sp>
      <p:pic>
        <p:nvPicPr>
          <p:cNvPr id="19" name="Image 1" descr="FaArrowsAlt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10544" y="2000707"/>
            <a:ext cx="351130" cy="351130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2895539" y="2697480"/>
            <a:ext cx="19811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팬</a:t>
            </a:r>
            <a:endParaRPr lang="en-US" sz="1700" dirty="0"/>
          </a:p>
        </p:txBody>
      </p:sp>
      <p:sp>
        <p:nvSpPr>
          <p:cNvPr id="21" name="Text 16"/>
          <p:cNvSpPr txBox="1"/>
          <p:nvPr/>
        </p:nvSpPr>
        <p:spPr>
          <a:xfrm>
            <a:off x="2895539" y="3063240"/>
            <a:ext cx="19811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Pan</a:t>
            </a:r>
            <a:endParaRPr lang="en-US" sz="1200" dirty="0"/>
          </a:p>
        </p:txBody>
      </p:sp>
      <p:sp>
        <p:nvSpPr>
          <p:cNvPr id="22" name="Shape 17"/>
          <p:cNvSpPr/>
          <p:nvPr/>
        </p:nvSpPr>
        <p:spPr>
          <a:xfrm>
            <a:off x="5105278" y="1600200"/>
            <a:ext cx="1981139" cy="2057400"/>
          </a:xfrm>
          <a:prstGeom prst="roundRect">
            <a:avLst>
              <a:gd name="adj" fmla="val 3692"/>
            </a:avLst>
          </a:prstGeom>
          <a:solidFill>
            <a:schemeClr val="bg2"/>
          </a:solidFill>
          <a:ln/>
        </p:spPr>
      </p:sp>
      <p:sp>
        <p:nvSpPr>
          <p:cNvPr id="23" name="Shape 18"/>
          <p:cNvSpPr/>
          <p:nvPr/>
        </p:nvSpPr>
        <p:spPr>
          <a:xfrm>
            <a:off x="5730088" y="1810512"/>
            <a:ext cx="731520" cy="731520"/>
          </a:xfrm>
          <a:prstGeom prst="ellipse">
            <a:avLst/>
          </a:prstGeom>
          <a:solidFill>
            <a:srgbClr val="E6EEE9"/>
          </a:solidFill>
          <a:ln/>
        </p:spPr>
      </p:sp>
      <p:pic>
        <p:nvPicPr>
          <p:cNvPr id="24" name="Image 2" descr="FaArrowsAltV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20283" y="2000707"/>
            <a:ext cx="351130" cy="351130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5105278" y="2697480"/>
            <a:ext cx="19811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틸트</a:t>
            </a:r>
            <a:endParaRPr lang="en-US" sz="1700" dirty="0"/>
          </a:p>
        </p:txBody>
      </p:sp>
      <p:sp>
        <p:nvSpPr>
          <p:cNvPr id="26" name="Text 20"/>
          <p:cNvSpPr txBox="1"/>
          <p:nvPr/>
        </p:nvSpPr>
        <p:spPr>
          <a:xfrm>
            <a:off x="5105278" y="3063240"/>
            <a:ext cx="19811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Tilt</a:t>
            </a:r>
            <a:endParaRPr lang="en-US" sz="1200" dirty="0"/>
          </a:p>
        </p:txBody>
      </p:sp>
      <p:sp>
        <p:nvSpPr>
          <p:cNvPr id="27" name="Shape 21"/>
          <p:cNvSpPr/>
          <p:nvPr/>
        </p:nvSpPr>
        <p:spPr>
          <a:xfrm>
            <a:off x="7315017" y="1600200"/>
            <a:ext cx="1981139" cy="2057400"/>
          </a:xfrm>
          <a:prstGeom prst="roundRect">
            <a:avLst>
              <a:gd name="adj" fmla="val 3692"/>
            </a:avLst>
          </a:prstGeom>
          <a:solidFill>
            <a:schemeClr val="bg2"/>
          </a:solidFill>
          <a:ln/>
        </p:spPr>
      </p:sp>
      <p:sp>
        <p:nvSpPr>
          <p:cNvPr id="28" name="Shape 22"/>
          <p:cNvSpPr/>
          <p:nvPr/>
        </p:nvSpPr>
        <p:spPr>
          <a:xfrm>
            <a:off x="7939827" y="1810512"/>
            <a:ext cx="731520" cy="731520"/>
          </a:xfrm>
          <a:prstGeom prst="ellipse">
            <a:avLst/>
          </a:prstGeom>
          <a:solidFill>
            <a:srgbClr val="E6EEE9"/>
          </a:solidFill>
          <a:ln/>
        </p:spPr>
      </p:sp>
      <p:pic>
        <p:nvPicPr>
          <p:cNvPr id="29" name="Image 3" descr="FaCompressArrowsAl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30022" y="2000707"/>
            <a:ext cx="351130" cy="351130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7315017" y="2697480"/>
            <a:ext cx="19811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다가가기</a:t>
            </a:r>
            <a:endParaRPr lang="en-US" sz="1700" dirty="0"/>
          </a:p>
        </p:txBody>
      </p:sp>
      <p:sp>
        <p:nvSpPr>
          <p:cNvPr id="31" name="Text 24"/>
          <p:cNvSpPr txBox="1"/>
          <p:nvPr/>
        </p:nvSpPr>
        <p:spPr>
          <a:xfrm>
            <a:off x="7315017" y="3063240"/>
            <a:ext cx="19811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Push-in</a:t>
            </a:r>
            <a:endParaRPr lang="en-US" sz="1200" dirty="0"/>
          </a:p>
        </p:txBody>
      </p:sp>
      <p:sp>
        <p:nvSpPr>
          <p:cNvPr id="32" name="Shape 25"/>
          <p:cNvSpPr/>
          <p:nvPr/>
        </p:nvSpPr>
        <p:spPr>
          <a:xfrm>
            <a:off x="9524756" y="1600200"/>
            <a:ext cx="1981139" cy="2057400"/>
          </a:xfrm>
          <a:prstGeom prst="roundRect">
            <a:avLst>
              <a:gd name="adj" fmla="val 3692"/>
            </a:avLst>
          </a:prstGeom>
          <a:solidFill>
            <a:schemeClr val="bg2"/>
          </a:solidFill>
          <a:ln/>
        </p:spPr>
      </p:sp>
      <p:sp>
        <p:nvSpPr>
          <p:cNvPr id="33" name="Shape 26"/>
          <p:cNvSpPr/>
          <p:nvPr/>
        </p:nvSpPr>
        <p:spPr>
          <a:xfrm>
            <a:off x="10149566" y="1810512"/>
            <a:ext cx="731520" cy="731520"/>
          </a:xfrm>
          <a:prstGeom prst="ellipse">
            <a:avLst/>
          </a:prstGeom>
          <a:solidFill>
            <a:srgbClr val="E6EEE9"/>
          </a:solidFill>
          <a:ln/>
        </p:spPr>
      </p:sp>
      <p:pic>
        <p:nvPicPr>
          <p:cNvPr id="34" name="Image 4" descr="FaWalki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39761" y="2000707"/>
            <a:ext cx="351130" cy="351130"/>
          </a:xfrm>
          <a:prstGeom prst="rect">
            <a:avLst/>
          </a:prstGeom>
        </p:spPr>
      </p:pic>
      <p:sp>
        <p:nvSpPr>
          <p:cNvPr id="35" name="Text 27"/>
          <p:cNvSpPr txBox="1"/>
          <p:nvPr/>
        </p:nvSpPr>
        <p:spPr>
          <a:xfrm>
            <a:off x="9524756" y="2697480"/>
            <a:ext cx="19811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따라가기</a:t>
            </a:r>
            <a:endParaRPr lang="en-US" sz="1700" dirty="0"/>
          </a:p>
        </p:txBody>
      </p:sp>
      <p:sp>
        <p:nvSpPr>
          <p:cNvPr id="36" name="Text 28"/>
          <p:cNvSpPr txBox="1"/>
          <p:nvPr/>
        </p:nvSpPr>
        <p:spPr>
          <a:xfrm>
            <a:off x="9524756" y="3063240"/>
            <a:ext cx="19811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Tracking</a:t>
            </a:r>
            <a:endParaRPr lang="en-US" sz="1200" dirty="0"/>
          </a:p>
        </p:txBody>
      </p:sp>
      <p:sp>
        <p:nvSpPr>
          <p:cNvPr id="37" name="Shape 29"/>
          <p:cNvSpPr/>
          <p:nvPr/>
        </p:nvSpPr>
        <p:spPr>
          <a:xfrm>
            <a:off x="685800" y="3931920"/>
            <a:ext cx="3423818" cy="868680"/>
          </a:xfrm>
          <a:prstGeom prst="roundRect">
            <a:avLst>
              <a:gd name="adj" fmla="val 8421"/>
            </a:avLst>
          </a:prstGeom>
          <a:solidFill>
            <a:schemeClr val="tx2"/>
          </a:solidFill>
          <a:ln/>
        </p:spPr>
      </p:sp>
      <p:sp>
        <p:nvSpPr>
          <p:cNvPr id="38" name="Text 30"/>
          <p:cNvSpPr txBox="1"/>
          <p:nvPr/>
        </p:nvSpPr>
        <p:spPr>
          <a:xfrm>
            <a:off x="914400" y="3931920"/>
            <a:ext cx="731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01</a:t>
            </a:r>
            <a:endParaRPr lang="en-US" sz="2200" dirty="0"/>
          </a:p>
        </p:txBody>
      </p:sp>
      <p:sp>
        <p:nvSpPr>
          <p:cNvPr id="39" name="Text 31"/>
          <p:cNvSpPr txBox="1"/>
          <p:nvPr/>
        </p:nvSpPr>
        <p:spPr>
          <a:xfrm>
            <a:off x="1600200" y="3931920"/>
            <a:ext cx="237225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한 클립에 한 움직임</a:t>
            </a:r>
            <a:endParaRPr lang="en-US" sz="1600" dirty="0"/>
          </a:p>
        </p:txBody>
      </p:sp>
      <p:sp>
        <p:nvSpPr>
          <p:cNvPr id="40" name="Shape 32"/>
          <p:cNvSpPr/>
          <p:nvPr/>
        </p:nvSpPr>
        <p:spPr>
          <a:xfrm>
            <a:off x="4383938" y="3931920"/>
            <a:ext cx="3423818" cy="868680"/>
          </a:xfrm>
          <a:prstGeom prst="roundRect">
            <a:avLst>
              <a:gd name="adj" fmla="val 8421"/>
            </a:avLst>
          </a:prstGeom>
          <a:solidFill>
            <a:schemeClr val="tx2"/>
          </a:solidFill>
          <a:ln/>
        </p:spPr>
      </p:sp>
      <p:sp>
        <p:nvSpPr>
          <p:cNvPr id="41" name="Text 33"/>
          <p:cNvSpPr txBox="1"/>
          <p:nvPr/>
        </p:nvSpPr>
        <p:spPr>
          <a:xfrm>
            <a:off x="4612538" y="3931920"/>
            <a:ext cx="731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02</a:t>
            </a:r>
            <a:endParaRPr lang="en-US" sz="2200" dirty="0"/>
          </a:p>
        </p:txBody>
      </p:sp>
      <p:sp>
        <p:nvSpPr>
          <p:cNvPr id="42" name="Text 34"/>
          <p:cNvSpPr txBox="1"/>
          <p:nvPr/>
        </p:nvSpPr>
        <p:spPr>
          <a:xfrm>
            <a:off x="5298338" y="3931920"/>
            <a:ext cx="237225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생각보다 두 배 천천히</a:t>
            </a:r>
            <a:endParaRPr lang="en-US" sz="1600" dirty="0"/>
          </a:p>
        </p:txBody>
      </p:sp>
      <p:sp>
        <p:nvSpPr>
          <p:cNvPr id="43" name="Shape 35"/>
          <p:cNvSpPr/>
          <p:nvPr/>
        </p:nvSpPr>
        <p:spPr>
          <a:xfrm>
            <a:off x="8082077" y="3931920"/>
            <a:ext cx="3423818" cy="868680"/>
          </a:xfrm>
          <a:prstGeom prst="roundRect">
            <a:avLst>
              <a:gd name="adj" fmla="val 8421"/>
            </a:avLst>
          </a:prstGeom>
          <a:solidFill>
            <a:schemeClr val="tx2"/>
          </a:solidFill>
          <a:ln/>
        </p:spPr>
      </p:sp>
      <p:sp>
        <p:nvSpPr>
          <p:cNvPr id="44" name="Text 36"/>
          <p:cNvSpPr txBox="1"/>
          <p:nvPr/>
        </p:nvSpPr>
        <p:spPr>
          <a:xfrm>
            <a:off x="8310677" y="3931920"/>
            <a:ext cx="731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03</a:t>
            </a:r>
            <a:endParaRPr lang="en-US" sz="2200" dirty="0"/>
          </a:p>
        </p:txBody>
      </p:sp>
      <p:sp>
        <p:nvSpPr>
          <p:cNvPr id="45" name="Text 37"/>
          <p:cNvSpPr txBox="1"/>
          <p:nvPr/>
        </p:nvSpPr>
        <p:spPr>
          <a:xfrm>
            <a:off x="8996477" y="3931920"/>
            <a:ext cx="237225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시작과 끝에 2초 멈추기</a:t>
            </a:r>
            <a:endParaRPr lang="en-US" sz="1600" dirty="0"/>
          </a:p>
        </p:txBody>
      </p:sp>
      <p:sp>
        <p:nvSpPr>
          <p:cNvPr id="46" name="Shape 38"/>
          <p:cNvSpPr/>
          <p:nvPr/>
        </p:nvSpPr>
        <p:spPr>
          <a:xfrm>
            <a:off x="685800" y="5120640"/>
            <a:ext cx="10820095" cy="512064"/>
          </a:xfrm>
          <a:prstGeom prst="roundRect">
            <a:avLst>
              <a:gd name="adj" fmla="val 14286"/>
            </a:avLst>
          </a:prstGeom>
          <a:solidFill>
            <a:schemeClr val="accent6"/>
          </a:solidFill>
          <a:ln/>
        </p:spPr>
      </p:sp>
      <p:sp>
        <p:nvSpPr>
          <p:cNvPr id="47" name="Text 39"/>
          <p:cNvSpPr txBox="1"/>
          <p:nvPr/>
        </p:nvSpPr>
        <p:spPr>
          <a:xfrm>
            <a:off x="960120" y="5120640"/>
            <a:ext cx="1027145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흔들림은 자세로 먼저: 두 손, 팔꿈치는 몸에, 벽에 기대기. 앱 보정은 그다음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A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46</a:t>
            </a:fld>
            <a:endParaRPr lang="en-US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91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6교시 · 움직임 · 컷 · 소리, 그리고 장비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0125151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4" name="Shape 2"/>
          <p:cNvSpPr/>
          <p:nvPr/>
        </p:nvSpPr>
        <p:spPr>
          <a:xfrm>
            <a:off x="10335463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5" name="Shape 3"/>
          <p:cNvSpPr/>
          <p:nvPr/>
        </p:nvSpPr>
        <p:spPr>
          <a:xfrm>
            <a:off x="10545775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6" name="Shape 4"/>
          <p:cNvSpPr/>
          <p:nvPr/>
        </p:nvSpPr>
        <p:spPr>
          <a:xfrm>
            <a:off x="10756087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7" name="Shape 5"/>
          <p:cNvSpPr/>
          <p:nvPr/>
        </p:nvSpPr>
        <p:spPr>
          <a:xfrm>
            <a:off x="10966399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8" name="Shape 6"/>
          <p:cNvSpPr/>
          <p:nvPr/>
        </p:nvSpPr>
        <p:spPr>
          <a:xfrm>
            <a:off x="11176711" y="502920"/>
            <a:ext cx="118872" cy="1188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9" name="Shape 7"/>
          <p:cNvSpPr/>
          <p:nvPr/>
        </p:nvSpPr>
        <p:spPr>
          <a:xfrm>
            <a:off x="11387023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10" name="Text 1"/>
          <p:cNvSpPr/>
          <p:nvPr>
            <p:ph idx="101" type="title" hasCustomPrompt="1"/>
          </p:nvPr>
        </p:nvSpPr>
        <p:spPr>
          <a:xfrm>
            <a:off x="685800" y="713232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5샷 시퀀스: 뭘 찍을지 모를 때 꺼내는 공식</a:t>
            </a:r>
            <a:endParaRPr lang="en-US" sz="2800" dirty="0"/>
          </a:p>
        </p:txBody>
      </p:sp>
      <p:pic>
        <p:nvPicPr>
          <p:cNvPr id="12" name="Image 0" descr="손 클로즈업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85800" y="1600200"/>
            <a:ext cx="2017715" cy="2697480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795528" y="1709928"/>
            <a:ext cx="438912" cy="438912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4" name="Text 10"/>
          <p:cNvSpPr txBox="1"/>
          <p:nvPr/>
        </p:nvSpPr>
        <p:spPr>
          <a:xfrm>
            <a:off x="795528" y="170992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1</a:t>
            </a:r>
            <a:endParaRPr lang="en-US" sz="1300" dirty="0"/>
          </a:p>
        </p:txBody>
      </p:sp>
      <p:sp>
        <p:nvSpPr>
          <p:cNvPr id="15" name="Text 11"/>
          <p:cNvSpPr txBox="1"/>
          <p:nvPr/>
        </p:nvSpPr>
        <p:spPr>
          <a:xfrm>
            <a:off x="685800" y="4407408"/>
            <a:ext cx="20177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손 클로즈업</a:t>
            </a:r>
            <a:endParaRPr lang="en-US" sz="1400" dirty="0"/>
          </a:p>
        </p:txBody>
      </p:sp>
      <p:sp>
        <p:nvSpPr>
          <p:cNvPr id="16" name="Text 12"/>
          <p:cNvSpPr txBox="1"/>
          <p:nvPr/>
        </p:nvSpPr>
        <p:spPr>
          <a:xfrm>
            <a:off x="685800" y="4727448"/>
            <a:ext cx="20177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무엇을 하는지</a:t>
            </a:r>
            <a:endParaRPr lang="en-US" sz="1200" dirty="0"/>
          </a:p>
        </p:txBody>
      </p:sp>
      <p:pic>
        <p:nvPicPr>
          <p:cNvPr id="17" name="Image 1" descr="얼굴 클로즈업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886395" y="1600200"/>
            <a:ext cx="2017715" cy="2697480"/>
          </a:xfrm>
          <a:prstGeom prst="rect">
            <a:avLst/>
          </a:prstGeom>
        </p:spPr>
      </p:pic>
      <p:sp>
        <p:nvSpPr>
          <p:cNvPr id="18" name="Shape 13"/>
          <p:cNvSpPr/>
          <p:nvPr/>
        </p:nvSpPr>
        <p:spPr>
          <a:xfrm>
            <a:off x="2996123" y="1709928"/>
            <a:ext cx="438912" cy="438912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9" name="Text 14"/>
          <p:cNvSpPr txBox="1"/>
          <p:nvPr/>
        </p:nvSpPr>
        <p:spPr>
          <a:xfrm>
            <a:off x="2996123" y="170992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2</a:t>
            </a:r>
            <a:endParaRPr lang="en-US" sz="1300" dirty="0"/>
          </a:p>
        </p:txBody>
      </p:sp>
      <p:sp>
        <p:nvSpPr>
          <p:cNvPr id="20" name="Text 15"/>
          <p:cNvSpPr txBox="1"/>
          <p:nvPr/>
        </p:nvSpPr>
        <p:spPr>
          <a:xfrm>
            <a:off x="2886395" y="4407408"/>
            <a:ext cx="20177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얼굴 클로즈업</a:t>
            </a:r>
            <a:endParaRPr lang="en-US" sz="1400" dirty="0"/>
          </a:p>
        </p:txBody>
      </p:sp>
      <p:sp>
        <p:nvSpPr>
          <p:cNvPr id="21" name="Text 16"/>
          <p:cNvSpPr txBox="1"/>
          <p:nvPr/>
        </p:nvSpPr>
        <p:spPr>
          <a:xfrm>
            <a:off x="2886395" y="4727448"/>
            <a:ext cx="20177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누가, 어떤 표정으로</a:t>
            </a:r>
            <a:endParaRPr lang="en-US" sz="1200" dirty="0"/>
          </a:p>
        </p:txBody>
      </p:sp>
      <p:pic>
        <p:nvPicPr>
          <p:cNvPr id="22" name="Image 2" descr="와이드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5086990" y="1600200"/>
            <a:ext cx="2017715" cy="2697480"/>
          </a:xfrm>
          <a:prstGeom prst="rect">
            <a:avLst/>
          </a:prstGeom>
        </p:spPr>
      </p:pic>
      <p:sp>
        <p:nvSpPr>
          <p:cNvPr id="23" name="Shape 17"/>
          <p:cNvSpPr/>
          <p:nvPr/>
        </p:nvSpPr>
        <p:spPr>
          <a:xfrm>
            <a:off x="5196718" y="1709928"/>
            <a:ext cx="438912" cy="438912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24" name="Text 18"/>
          <p:cNvSpPr txBox="1"/>
          <p:nvPr/>
        </p:nvSpPr>
        <p:spPr>
          <a:xfrm>
            <a:off x="5196718" y="170992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3</a:t>
            </a:r>
            <a:endParaRPr lang="en-US" sz="1300" dirty="0"/>
          </a:p>
        </p:txBody>
      </p:sp>
      <p:sp>
        <p:nvSpPr>
          <p:cNvPr id="25" name="Text 19"/>
          <p:cNvSpPr txBox="1"/>
          <p:nvPr/>
        </p:nvSpPr>
        <p:spPr>
          <a:xfrm>
            <a:off x="5086990" y="4407408"/>
            <a:ext cx="20177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와이드</a:t>
            </a:r>
            <a:endParaRPr lang="en-US" sz="1400" dirty="0"/>
          </a:p>
        </p:txBody>
      </p:sp>
      <p:sp>
        <p:nvSpPr>
          <p:cNvPr id="26" name="Text 20"/>
          <p:cNvSpPr txBox="1"/>
          <p:nvPr/>
        </p:nvSpPr>
        <p:spPr>
          <a:xfrm>
            <a:off x="5086990" y="4727448"/>
            <a:ext cx="20177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어디서</a:t>
            </a:r>
            <a:endParaRPr lang="en-US" sz="1200" dirty="0"/>
          </a:p>
        </p:txBody>
      </p:sp>
      <p:pic>
        <p:nvPicPr>
          <p:cNvPr id="27" name="Image 3" descr="어깨너머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7287585" y="1600200"/>
            <a:ext cx="2017715" cy="2697480"/>
          </a:xfrm>
          <a:prstGeom prst="rect">
            <a:avLst/>
          </a:prstGeom>
        </p:spPr>
      </p:pic>
      <p:sp>
        <p:nvSpPr>
          <p:cNvPr id="28" name="Shape 21"/>
          <p:cNvSpPr/>
          <p:nvPr/>
        </p:nvSpPr>
        <p:spPr>
          <a:xfrm>
            <a:off x="7397313" y="1709928"/>
            <a:ext cx="438912" cy="438912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29" name="Text 22"/>
          <p:cNvSpPr txBox="1"/>
          <p:nvPr/>
        </p:nvSpPr>
        <p:spPr>
          <a:xfrm>
            <a:off x="7397313" y="170992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4</a:t>
            </a:r>
            <a:endParaRPr lang="en-US" sz="1300" dirty="0"/>
          </a:p>
        </p:txBody>
      </p:sp>
      <p:sp>
        <p:nvSpPr>
          <p:cNvPr id="30" name="Text 23"/>
          <p:cNvSpPr txBox="1"/>
          <p:nvPr/>
        </p:nvSpPr>
        <p:spPr>
          <a:xfrm>
            <a:off x="7287585" y="4407408"/>
            <a:ext cx="20177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어깨너머</a:t>
            </a:r>
            <a:endParaRPr lang="en-US" sz="1400" dirty="0"/>
          </a:p>
        </p:txBody>
      </p:sp>
      <p:sp>
        <p:nvSpPr>
          <p:cNvPr id="31" name="Text 24"/>
          <p:cNvSpPr txBox="1"/>
          <p:nvPr/>
        </p:nvSpPr>
        <p:spPr>
          <a:xfrm>
            <a:off x="7287585" y="4727448"/>
            <a:ext cx="20177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그 사람의 시점</a:t>
            </a:r>
            <a:endParaRPr lang="en-US" sz="1200" dirty="0"/>
          </a:p>
        </p:txBody>
      </p:sp>
      <p:pic>
        <p:nvPicPr>
          <p:cNvPr id="32" name="Image 4" descr="특이한 앵글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9488180" y="1600200"/>
            <a:ext cx="2017715" cy="2697480"/>
          </a:xfrm>
          <a:prstGeom prst="rect">
            <a:avLst/>
          </a:prstGeom>
        </p:spPr>
      </p:pic>
      <p:sp>
        <p:nvSpPr>
          <p:cNvPr id="33" name="Shape 25"/>
          <p:cNvSpPr/>
          <p:nvPr/>
        </p:nvSpPr>
        <p:spPr>
          <a:xfrm>
            <a:off x="9597908" y="1709928"/>
            <a:ext cx="438912" cy="438912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34" name="Text 26"/>
          <p:cNvSpPr txBox="1"/>
          <p:nvPr/>
        </p:nvSpPr>
        <p:spPr>
          <a:xfrm>
            <a:off x="9597908" y="170992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5</a:t>
            </a:r>
            <a:endParaRPr lang="en-US" sz="1300" dirty="0"/>
          </a:p>
        </p:txBody>
      </p:sp>
      <p:sp>
        <p:nvSpPr>
          <p:cNvPr id="35" name="Text 27"/>
          <p:cNvSpPr txBox="1"/>
          <p:nvPr/>
        </p:nvSpPr>
        <p:spPr>
          <a:xfrm>
            <a:off x="9488180" y="4407408"/>
            <a:ext cx="20177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특이한 앵글</a:t>
            </a:r>
            <a:endParaRPr lang="en-US" sz="1400" dirty="0"/>
          </a:p>
        </p:txBody>
      </p:sp>
      <p:sp>
        <p:nvSpPr>
          <p:cNvPr id="36" name="Text 28"/>
          <p:cNvSpPr txBox="1"/>
          <p:nvPr/>
        </p:nvSpPr>
        <p:spPr>
          <a:xfrm>
            <a:off x="9488180" y="4727448"/>
            <a:ext cx="20177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탑뷰 · 로우앵글</a:t>
            </a:r>
            <a:endParaRPr lang="en-US" sz="1200" dirty="0"/>
          </a:p>
        </p:txBody>
      </p:sp>
      <p:sp>
        <p:nvSpPr>
          <p:cNvPr id="37" name="Shape 29"/>
          <p:cNvSpPr/>
          <p:nvPr/>
        </p:nvSpPr>
        <p:spPr>
          <a:xfrm>
            <a:off x="685800" y="5394960"/>
            <a:ext cx="10820095" cy="512064"/>
          </a:xfrm>
          <a:prstGeom prst="roundRect">
            <a:avLst>
              <a:gd name="adj" fmla="val 14286"/>
            </a:avLst>
          </a:prstGeom>
          <a:solidFill>
            <a:schemeClr val="accent6"/>
          </a:solidFill>
          <a:ln/>
        </p:spPr>
      </p:sp>
      <p:sp>
        <p:nvSpPr>
          <p:cNvPr id="38" name="Text 30"/>
          <p:cNvSpPr txBox="1"/>
          <p:nvPr/>
        </p:nvSpPr>
        <p:spPr>
          <a:xfrm>
            <a:off x="960120" y="5394960"/>
            <a:ext cx="1027145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컷마다 7초 이상, 두 번씩. ①과 ②는 같은 동작을 다른 크기로 → 편집에서 이어 붙이면 자연스러워요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A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47</a:t>
            </a:fld>
            <a:endParaRPr lang="en-US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91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6교시 · 움직임 · 컷 · 소리, 그리고 장비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0125151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4" name="Shape 2"/>
          <p:cNvSpPr/>
          <p:nvPr/>
        </p:nvSpPr>
        <p:spPr>
          <a:xfrm>
            <a:off x="10335463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5" name="Shape 3"/>
          <p:cNvSpPr/>
          <p:nvPr/>
        </p:nvSpPr>
        <p:spPr>
          <a:xfrm>
            <a:off x="10545775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6" name="Shape 4"/>
          <p:cNvSpPr/>
          <p:nvPr/>
        </p:nvSpPr>
        <p:spPr>
          <a:xfrm>
            <a:off x="10756087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7" name="Shape 5"/>
          <p:cNvSpPr/>
          <p:nvPr/>
        </p:nvSpPr>
        <p:spPr>
          <a:xfrm>
            <a:off x="10966399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8" name="Shape 6"/>
          <p:cNvSpPr/>
          <p:nvPr/>
        </p:nvSpPr>
        <p:spPr>
          <a:xfrm>
            <a:off x="11176711" y="502920"/>
            <a:ext cx="118872" cy="1188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9" name="Shape 7"/>
          <p:cNvSpPr/>
          <p:nvPr/>
        </p:nvSpPr>
        <p:spPr>
          <a:xfrm>
            <a:off x="11387023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10" name="Text 1"/>
          <p:cNvSpPr/>
          <p:nvPr>
            <p:ph idx="101" type="title" hasCustomPrompt="1"/>
          </p:nvPr>
        </p:nvSpPr>
        <p:spPr>
          <a:xfrm>
            <a:off x="685800" y="713232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컷을 잇는 규칙: 180도 · 30도 · B롤</a:t>
            </a:r>
            <a:endParaRPr lang="en-US" sz="2800" dirty="0"/>
          </a:p>
        </p:txBody>
      </p:sp>
      <p:sp>
        <p:nvSpPr>
          <p:cNvPr id="12" name="Shape 9"/>
          <p:cNvSpPr/>
          <p:nvPr/>
        </p:nvSpPr>
        <p:spPr>
          <a:xfrm>
            <a:off x="685800" y="1600200"/>
            <a:ext cx="5394960" cy="4434840"/>
          </a:xfrm>
          <a:prstGeom prst="roundRect">
            <a:avLst>
              <a:gd name="adj" fmla="val 1649"/>
            </a:avLst>
          </a:prstGeom>
          <a:solidFill>
            <a:schemeClr val="tx2"/>
          </a:solidFill>
          <a:ln/>
        </p:spPr>
      </p:sp>
      <p:sp>
        <p:nvSpPr>
          <p:cNvPr id="13" name="Shape 10"/>
          <p:cNvSpPr/>
          <p:nvPr/>
        </p:nvSpPr>
        <p:spPr>
          <a:xfrm>
            <a:off x="1051560" y="3429000"/>
            <a:ext cx="4663440" cy="0"/>
          </a:xfrm>
          <a:prstGeom prst="line">
            <a:avLst/>
          </a:prstGeom>
          <a:noFill/>
          <a:ln w="25400">
            <a:solidFill>
              <a:schemeClr val="accent3"/>
            </a:solidFill>
            <a:prstDash val="dash"/>
          </a:ln>
        </p:spPr>
      </p:sp>
      <p:sp>
        <p:nvSpPr>
          <p:cNvPr id="14" name="Text 11"/>
          <p:cNvSpPr txBox="1"/>
          <p:nvPr/>
        </p:nvSpPr>
        <p:spPr>
          <a:xfrm>
            <a:off x="1097280" y="350215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8A49C"/>
                </a:solidFill>
              </a:rPr>
              <a:t>가상의 선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1874520" y="3063240"/>
            <a:ext cx="731520" cy="731520"/>
          </a:xfrm>
          <a:prstGeom prst="ellipse">
            <a:avLst/>
          </a:prstGeom>
          <a:solidFill>
            <a:srgbClr val="E6EEE9"/>
          </a:solidFill>
          <a:ln/>
        </p:spPr>
      </p:sp>
      <p:sp>
        <p:nvSpPr>
          <p:cNvPr id="16" name="Shape 13"/>
          <p:cNvSpPr/>
          <p:nvPr/>
        </p:nvSpPr>
        <p:spPr>
          <a:xfrm>
            <a:off x="4160520" y="3063240"/>
            <a:ext cx="731520" cy="731520"/>
          </a:xfrm>
          <a:prstGeom prst="ellipse">
            <a:avLst/>
          </a:prstGeom>
          <a:solidFill>
            <a:srgbClr val="E6EEE9"/>
          </a:solidFill>
          <a:ln/>
        </p:spPr>
      </p:sp>
      <p:sp>
        <p:nvSpPr>
          <p:cNvPr id="17" name="Shape 14"/>
          <p:cNvSpPr/>
          <p:nvPr/>
        </p:nvSpPr>
        <p:spPr>
          <a:xfrm>
            <a:off x="2057400" y="4526280"/>
            <a:ext cx="603504" cy="603504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8" name="Image 0" descr="FaVide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14311" y="4683191"/>
            <a:ext cx="289682" cy="289682"/>
          </a:xfrm>
          <a:prstGeom prst="rect">
            <a:avLst/>
          </a:prstGeom>
        </p:spPr>
      </p:pic>
      <p:sp>
        <p:nvSpPr>
          <p:cNvPr id="19" name="Shape 15"/>
          <p:cNvSpPr/>
          <p:nvPr/>
        </p:nvSpPr>
        <p:spPr>
          <a:xfrm>
            <a:off x="4069080" y="4526280"/>
            <a:ext cx="603504" cy="603504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20" name="Image 1" descr="FaVide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25991" y="4683191"/>
            <a:ext cx="289682" cy="289682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1143000" y="525780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8FD1AE"/>
                </a:solidFill>
              </a:rPr>
              <a:t>카메라는 이쪽에서만 ✓</a:t>
            </a:r>
            <a:endParaRPr lang="en-US" sz="1400" dirty="0"/>
          </a:p>
        </p:txBody>
      </p:sp>
      <p:sp>
        <p:nvSpPr>
          <p:cNvPr id="22" name="Shape 17"/>
          <p:cNvSpPr/>
          <p:nvPr/>
        </p:nvSpPr>
        <p:spPr>
          <a:xfrm>
            <a:off x="3081528" y="1920240"/>
            <a:ext cx="548640" cy="54864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23" name="Image 2" descr="FaTim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24174" y="2062886"/>
            <a:ext cx="263347" cy="263347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3749040" y="20116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8A49C"/>
                </a:solidFill>
              </a:rPr>
              <a:t>넘어가면 방향이 뒤집혀 보여요</a:t>
            </a:r>
            <a:endParaRPr lang="en-US" sz="1150" dirty="0"/>
          </a:p>
        </p:txBody>
      </p:sp>
      <p:sp>
        <p:nvSpPr>
          <p:cNvPr id="25" name="Shape 19"/>
          <p:cNvSpPr/>
          <p:nvPr/>
        </p:nvSpPr>
        <p:spPr>
          <a:xfrm>
            <a:off x="6355080" y="1600200"/>
            <a:ext cx="5150815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/>
        </p:spPr>
      </p:sp>
      <p:sp>
        <p:nvSpPr>
          <p:cNvPr id="26" name="Shape 20"/>
          <p:cNvSpPr/>
          <p:nvPr/>
        </p:nvSpPr>
        <p:spPr>
          <a:xfrm>
            <a:off x="6583680" y="1965960"/>
            <a:ext cx="640080" cy="64008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27" name="Text 21"/>
          <p:cNvSpPr txBox="1"/>
          <p:nvPr/>
        </p:nvSpPr>
        <p:spPr>
          <a:xfrm>
            <a:off x="6583680" y="19659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180</a:t>
            </a:r>
            <a:endParaRPr lang="en-US" sz="1300" dirty="0"/>
          </a:p>
        </p:txBody>
      </p:sp>
      <p:sp>
        <p:nvSpPr>
          <p:cNvPr id="28" name="Text 22"/>
          <p:cNvSpPr txBox="1"/>
          <p:nvPr/>
        </p:nvSpPr>
        <p:spPr>
          <a:xfrm>
            <a:off x="7406640" y="1828800"/>
            <a:ext cx="39163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180도 규칙</a:t>
            </a:r>
            <a:endParaRPr lang="en-US" sz="1700" dirty="0"/>
          </a:p>
        </p:txBody>
      </p:sp>
      <p:sp>
        <p:nvSpPr>
          <p:cNvPr id="29" name="Text 23"/>
          <p:cNvSpPr txBox="1"/>
          <p:nvPr/>
        </p:nvSpPr>
        <p:spPr>
          <a:xfrm>
            <a:off x="7406640" y="2240280"/>
            <a:ext cx="391637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두 사람 사이 선을 넘지 않기</a:t>
            </a:r>
            <a:endParaRPr lang="en-US" sz="1300" dirty="0"/>
          </a:p>
        </p:txBody>
      </p:sp>
      <p:sp>
        <p:nvSpPr>
          <p:cNvPr id="30" name="Shape 24"/>
          <p:cNvSpPr/>
          <p:nvPr/>
        </p:nvSpPr>
        <p:spPr>
          <a:xfrm>
            <a:off x="6355080" y="3108960"/>
            <a:ext cx="5150815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/>
        </p:spPr>
      </p:sp>
      <p:sp>
        <p:nvSpPr>
          <p:cNvPr id="31" name="Shape 25"/>
          <p:cNvSpPr/>
          <p:nvPr/>
        </p:nvSpPr>
        <p:spPr>
          <a:xfrm>
            <a:off x="6583680" y="3474720"/>
            <a:ext cx="640080" cy="64008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32" name="Text 26"/>
          <p:cNvSpPr txBox="1"/>
          <p:nvPr/>
        </p:nvSpPr>
        <p:spPr>
          <a:xfrm>
            <a:off x="6583680" y="34747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30</a:t>
            </a:r>
            <a:endParaRPr lang="en-US" sz="1300" dirty="0"/>
          </a:p>
        </p:txBody>
      </p:sp>
      <p:sp>
        <p:nvSpPr>
          <p:cNvPr id="33" name="Text 27"/>
          <p:cNvSpPr txBox="1"/>
          <p:nvPr/>
        </p:nvSpPr>
        <p:spPr>
          <a:xfrm>
            <a:off x="7406640" y="3337560"/>
            <a:ext cx="39163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30도 규칙</a:t>
            </a:r>
            <a:endParaRPr lang="en-US" sz="1700" dirty="0"/>
          </a:p>
        </p:txBody>
      </p:sp>
      <p:sp>
        <p:nvSpPr>
          <p:cNvPr id="34" name="Text 28"/>
          <p:cNvSpPr txBox="1"/>
          <p:nvPr/>
        </p:nvSpPr>
        <p:spPr>
          <a:xfrm>
            <a:off x="7406640" y="3749040"/>
            <a:ext cx="391637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다시 찍을 땐 30도 이상, 또는 샷 크기를 바꾸기</a:t>
            </a:r>
            <a:endParaRPr lang="en-US" sz="1300" dirty="0"/>
          </a:p>
        </p:txBody>
      </p:sp>
      <p:sp>
        <p:nvSpPr>
          <p:cNvPr id="35" name="Shape 29"/>
          <p:cNvSpPr/>
          <p:nvPr/>
        </p:nvSpPr>
        <p:spPr>
          <a:xfrm>
            <a:off x="6355080" y="4617720"/>
            <a:ext cx="5150815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/>
        </p:spPr>
      </p:sp>
      <p:sp>
        <p:nvSpPr>
          <p:cNvPr id="36" name="Shape 30"/>
          <p:cNvSpPr/>
          <p:nvPr/>
        </p:nvSpPr>
        <p:spPr>
          <a:xfrm>
            <a:off x="6583680" y="4983480"/>
            <a:ext cx="640080" cy="64008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37" name="Text 31"/>
          <p:cNvSpPr txBox="1"/>
          <p:nvPr/>
        </p:nvSpPr>
        <p:spPr>
          <a:xfrm>
            <a:off x="6583680" y="49834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B</a:t>
            </a:r>
            <a:endParaRPr lang="en-US" sz="1300" dirty="0"/>
          </a:p>
        </p:txBody>
      </p:sp>
      <p:sp>
        <p:nvSpPr>
          <p:cNvPr id="38" name="Text 32"/>
          <p:cNvSpPr txBox="1"/>
          <p:nvPr/>
        </p:nvSpPr>
        <p:spPr>
          <a:xfrm>
            <a:off x="7406640" y="4846320"/>
            <a:ext cx="39163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B롤을 넉넉히</a:t>
            </a:r>
            <a:endParaRPr lang="en-US" sz="1700" dirty="0"/>
          </a:p>
        </p:txBody>
      </p:sp>
      <p:sp>
        <p:nvSpPr>
          <p:cNvPr id="39" name="Text 33"/>
          <p:cNvSpPr txBox="1"/>
          <p:nvPr/>
        </p:nvSpPr>
        <p:spPr>
          <a:xfrm>
            <a:off x="7406640" y="5257800"/>
            <a:ext cx="391637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손 · 소품 · 공간 컷. 편집에서 자른 자리를 덮어 줘요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A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48</a:t>
            </a:fld>
            <a:endParaRPr lang="en-US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91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6교시 · 움직임 · 컷 · 소리, 그리고 장비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0125151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4" name="Shape 2"/>
          <p:cNvSpPr/>
          <p:nvPr/>
        </p:nvSpPr>
        <p:spPr>
          <a:xfrm>
            <a:off x="10335463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5" name="Shape 3"/>
          <p:cNvSpPr/>
          <p:nvPr/>
        </p:nvSpPr>
        <p:spPr>
          <a:xfrm>
            <a:off x="10545775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6" name="Shape 4"/>
          <p:cNvSpPr/>
          <p:nvPr/>
        </p:nvSpPr>
        <p:spPr>
          <a:xfrm>
            <a:off x="10756087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7" name="Shape 5"/>
          <p:cNvSpPr/>
          <p:nvPr/>
        </p:nvSpPr>
        <p:spPr>
          <a:xfrm>
            <a:off x="10966399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8" name="Shape 6"/>
          <p:cNvSpPr/>
          <p:nvPr/>
        </p:nvSpPr>
        <p:spPr>
          <a:xfrm>
            <a:off x="11176711" y="502920"/>
            <a:ext cx="118872" cy="1188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9" name="Shape 7"/>
          <p:cNvSpPr/>
          <p:nvPr/>
        </p:nvSpPr>
        <p:spPr>
          <a:xfrm>
            <a:off x="11387023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10" name="Text 1"/>
          <p:cNvSpPr/>
          <p:nvPr>
            <p:ph idx="101" type="title" hasCustomPrompt="1"/>
          </p:nvPr>
        </p:nvSpPr>
        <p:spPr>
          <a:xfrm>
            <a:off x="685800" y="713232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소리는 영상의 절반</a:t>
            </a:r>
            <a:endParaRPr lang="en-US" sz="2800" dirty="0"/>
          </a:p>
        </p:txBody>
      </p:sp>
      <p:sp>
        <p:nvSpPr>
          <p:cNvPr id="12" name="Shape 9"/>
          <p:cNvSpPr/>
          <p:nvPr/>
        </p:nvSpPr>
        <p:spPr>
          <a:xfrm>
            <a:off x="685800" y="1645920"/>
            <a:ext cx="2499284" cy="3291840"/>
          </a:xfrm>
          <a:prstGeom prst="roundRect">
            <a:avLst>
              <a:gd name="adj" fmla="val 2927"/>
            </a:avLst>
          </a:prstGeom>
          <a:solidFill>
            <a:schemeClr val="bg2"/>
          </a:solidFill>
          <a:ln/>
        </p:spPr>
      </p:sp>
      <p:sp>
        <p:nvSpPr>
          <p:cNvPr id="13" name="Shape 10"/>
          <p:cNvSpPr/>
          <p:nvPr/>
        </p:nvSpPr>
        <p:spPr>
          <a:xfrm>
            <a:off x="960120" y="1920240"/>
            <a:ext cx="566928" cy="566928"/>
          </a:xfrm>
          <a:prstGeom prst="ellipse">
            <a:avLst/>
          </a:prstGeom>
          <a:solidFill>
            <a:srgbClr val="E6EEE9"/>
          </a:solidFill>
          <a:ln/>
        </p:spPr>
      </p:sp>
      <p:pic>
        <p:nvPicPr>
          <p:cNvPr id="14" name="Image 0" descr="FaRulerHorizont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7521" y="2067641"/>
            <a:ext cx="272125" cy="272125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960120" y="2633472"/>
            <a:ext cx="19506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한 뼘 거리</a:t>
            </a:r>
            <a:endParaRPr lang="en-US" sz="1700" dirty="0"/>
          </a:p>
        </p:txBody>
      </p:sp>
      <p:sp>
        <p:nvSpPr>
          <p:cNvPr id="16" name="Text 12"/>
          <p:cNvSpPr txBox="1"/>
          <p:nvPr/>
        </p:nvSpPr>
        <p:spPr>
          <a:xfrm>
            <a:off x="960120" y="3063240"/>
            <a:ext cx="1950644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폰과 입 사이 한 뼘. 멀수록 방 울림</a:t>
            </a:r>
            <a:endParaRPr lang="en-US" sz="1400" dirty="0"/>
          </a:p>
        </p:txBody>
      </p:sp>
      <p:sp>
        <p:nvSpPr>
          <p:cNvPr id="17" name="Shape 13"/>
          <p:cNvSpPr/>
          <p:nvPr/>
        </p:nvSpPr>
        <p:spPr>
          <a:xfrm>
            <a:off x="3459404" y="1645920"/>
            <a:ext cx="2499284" cy="3291840"/>
          </a:xfrm>
          <a:prstGeom prst="roundRect">
            <a:avLst>
              <a:gd name="adj" fmla="val 2927"/>
            </a:avLst>
          </a:prstGeom>
          <a:solidFill>
            <a:schemeClr val="bg2"/>
          </a:solidFill>
          <a:ln/>
        </p:spPr>
      </p:sp>
      <p:sp>
        <p:nvSpPr>
          <p:cNvPr id="18" name="Shape 14"/>
          <p:cNvSpPr/>
          <p:nvPr/>
        </p:nvSpPr>
        <p:spPr>
          <a:xfrm>
            <a:off x="3733724" y="1920240"/>
            <a:ext cx="566928" cy="566928"/>
          </a:xfrm>
          <a:prstGeom prst="ellipse">
            <a:avLst/>
          </a:prstGeom>
          <a:solidFill>
            <a:srgbClr val="E6EEE9"/>
          </a:solidFill>
          <a:ln/>
        </p:spPr>
      </p:sp>
      <p:pic>
        <p:nvPicPr>
          <p:cNvPr id="19" name="Image 1" descr="FaVolumeMut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81125" y="2067641"/>
            <a:ext cx="272125" cy="272125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3733724" y="2633472"/>
            <a:ext cx="19506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조용한 자리</a:t>
            </a:r>
            <a:endParaRPr lang="en-US" sz="1700" dirty="0"/>
          </a:p>
        </p:txBody>
      </p:sp>
      <p:sp>
        <p:nvSpPr>
          <p:cNvPr id="21" name="Text 16"/>
          <p:cNvSpPr txBox="1"/>
          <p:nvPr/>
        </p:nvSpPr>
        <p:spPr>
          <a:xfrm>
            <a:off x="3733724" y="3063240"/>
            <a:ext cx="1950644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에어컨 · 냉장고 · 복도 소리 피하기</a:t>
            </a:r>
            <a:endParaRPr lang="en-US" sz="1400" dirty="0"/>
          </a:p>
        </p:txBody>
      </p:sp>
      <p:sp>
        <p:nvSpPr>
          <p:cNvPr id="22" name="Shape 17"/>
          <p:cNvSpPr/>
          <p:nvPr/>
        </p:nvSpPr>
        <p:spPr>
          <a:xfrm>
            <a:off x="6233008" y="1645920"/>
            <a:ext cx="2499284" cy="3291840"/>
          </a:xfrm>
          <a:prstGeom prst="roundRect">
            <a:avLst>
              <a:gd name="adj" fmla="val 2927"/>
            </a:avLst>
          </a:prstGeom>
          <a:solidFill>
            <a:schemeClr val="bg2"/>
          </a:solidFill>
          <a:ln/>
        </p:spPr>
      </p:sp>
      <p:sp>
        <p:nvSpPr>
          <p:cNvPr id="23" name="Shape 18"/>
          <p:cNvSpPr/>
          <p:nvPr/>
        </p:nvSpPr>
        <p:spPr>
          <a:xfrm>
            <a:off x="6507328" y="1920240"/>
            <a:ext cx="566928" cy="566928"/>
          </a:xfrm>
          <a:prstGeom prst="ellipse">
            <a:avLst/>
          </a:prstGeom>
          <a:solidFill>
            <a:srgbClr val="E6EEE9"/>
          </a:solidFill>
          <a:ln/>
        </p:spPr>
      </p:sp>
      <p:pic>
        <p:nvPicPr>
          <p:cNvPr id="24" name="Image 2" descr="FaCloc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54729" y="2067641"/>
            <a:ext cx="272125" cy="272125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6507328" y="2633472"/>
            <a:ext cx="19506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룸톤 10초</a:t>
            </a:r>
            <a:endParaRPr lang="en-US" sz="1700" dirty="0"/>
          </a:p>
        </p:txBody>
      </p:sp>
      <p:sp>
        <p:nvSpPr>
          <p:cNvPr id="26" name="Text 20"/>
          <p:cNvSpPr txBox="1"/>
          <p:nvPr/>
        </p:nvSpPr>
        <p:spPr>
          <a:xfrm>
            <a:off x="6507328" y="3063240"/>
            <a:ext cx="1950644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끝에 말없이 10초 녹음 → 편집에서 빈 곳 메꾸기</a:t>
            </a:r>
            <a:endParaRPr lang="en-US" sz="1400" dirty="0"/>
          </a:p>
        </p:txBody>
      </p:sp>
      <p:sp>
        <p:nvSpPr>
          <p:cNvPr id="27" name="Shape 21"/>
          <p:cNvSpPr/>
          <p:nvPr/>
        </p:nvSpPr>
        <p:spPr>
          <a:xfrm>
            <a:off x="9006611" y="1645920"/>
            <a:ext cx="2499284" cy="3291840"/>
          </a:xfrm>
          <a:prstGeom prst="roundRect">
            <a:avLst>
              <a:gd name="adj" fmla="val 2927"/>
            </a:avLst>
          </a:prstGeom>
          <a:solidFill>
            <a:schemeClr val="bg2"/>
          </a:solidFill>
          <a:ln/>
        </p:spPr>
      </p:sp>
      <p:sp>
        <p:nvSpPr>
          <p:cNvPr id="28" name="Shape 22"/>
          <p:cNvSpPr/>
          <p:nvPr/>
        </p:nvSpPr>
        <p:spPr>
          <a:xfrm>
            <a:off x="9280931" y="1920240"/>
            <a:ext cx="566928" cy="566928"/>
          </a:xfrm>
          <a:prstGeom prst="ellipse">
            <a:avLst/>
          </a:prstGeom>
          <a:solidFill>
            <a:srgbClr val="E6EEE9"/>
          </a:solidFill>
          <a:ln/>
        </p:spPr>
      </p:sp>
      <p:pic>
        <p:nvPicPr>
          <p:cNvPr id="29" name="Image 3" descr="FaTin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28333" y="2067641"/>
            <a:ext cx="272125" cy="272125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9280931" y="2633472"/>
            <a:ext cx="19506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현장음 살리기</a:t>
            </a:r>
            <a:endParaRPr lang="en-US" sz="1700" dirty="0"/>
          </a:p>
        </p:txBody>
      </p:sp>
      <p:sp>
        <p:nvSpPr>
          <p:cNvPr id="31" name="Text 24"/>
          <p:cNvSpPr txBox="1"/>
          <p:nvPr/>
        </p:nvSpPr>
        <p:spPr>
          <a:xfrm>
            <a:off x="9280931" y="3063240"/>
            <a:ext cx="1950644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발소리 · 물소리. 음악으로 다 덮지 않기</a:t>
            </a:r>
            <a:endParaRPr lang="en-US" sz="1400" dirty="0"/>
          </a:p>
        </p:txBody>
      </p:sp>
      <p:sp>
        <p:nvSpPr>
          <p:cNvPr id="32" name="Shape 25"/>
          <p:cNvSpPr/>
          <p:nvPr/>
        </p:nvSpPr>
        <p:spPr>
          <a:xfrm>
            <a:off x="685800" y="5257800"/>
            <a:ext cx="10820095" cy="512064"/>
          </a:xfrm>
          <a:prstGeom prst="roundRect">
            <a:avLst>
              <a:gd name="adj" fmla="val 14286"/>
            </a:avLst>
          </a:prstGeom>
          <a:solidFill>
            <a:schemeClr val="accent6"/>
          </a:solidFill>
          <a:ln/>
        </p:spPr>
      </p:sp>
      <p:sp>
        <p:nvSpPr>
          <p:cNvPr id="33" name="Text 26"/>
          <p:cNvSpPr txBox="1"/>
          <p:nvPr/>
        </p:nvSpPr>
        <p:spPr>
          <a:xfrm>
            <a:off x="960120" y="5257800"/>
            <a:ext cx="1027145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흐린 화면은 참아도, 안 들리는 소리는 못 참는다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A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49</a:t>
            </a:fld>
            <a:endParaRPr lang="en-US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91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6교시 · 움직임 · 컷 · 소리, 그리고 장비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0125151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4" name="Shape 2"/>
          <p:cNvSpPr/>
          <p:nvPr/>
        </p:nvSpPr>
        <p:spPr>
          <a:xfrm>
            <a:off x="10335463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5" name="Shape 3"/>
          <p:cNvSpPr/>
          <p:nvPr/>
        </p:nvSpPr>
        <p:spPr>
          <a:xfrm>
            <a:off x="10545775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6" name="Shape 4"/>
          <p:cNvSpPr/>
          <p:nvPr/>
        </p:nvSpPr>
        <p:spPr>
          <a:xfrm>
            <a:off x="10756087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7" name="Shape 5"/>
          <p:cNvSpPr/>
          <p:nvPr/>
        </p:nvSpPr>
        <p:spPr>
          <a:xfrm>
            <a:off x="10966399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8" name="Shape 6"/>
          <p:cNvSpPr/>
          <p:nvPr/>
        </p:nvSpPr>
        <p:spPr>
          <a:xfrm>
            <a:off x="11176711" y="502920"/>
            <a:ext cx="118872" cy="1188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9" name="Shape 7"/>
          <p:cNvSpPr/>
          <p:nvPr/>
        </p:nvSpPr>
        <p:spPr>
          <a:xfrm>
            <a:off x="11387023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10" name="Text 1"/>
          <p:cNvSpPr/>
          <p:nvPr>
            <p:ph idx="101" type="title" hasCustomPrompt="1"/>
          </p:nvPr>
        </p:nvSpPr>
        <p:spPr>
          <a:xfrm>
            <a:off x="685800" y="713232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강사 장비 체험: 언제 쓰면 좋은가</a:t>
            </a:r>
            <a:endParaRPr lang="en-US" sz="2800" dirty="0"/>
          </a:p>
        </p:txBody>
      </p:sp>
      <p:sp>
        <p:nvSpPr>
          <p:cNvPr id="12" name="Shape 9"/>
          <p:cNvSpPr/>
          <p:nvPr/>
        </p:nvSpPr>
        <p:spPr>
          <a:xfrm>
            <a:off x="685800" y="1645920"/>
            <a:ext cx="3423818" cy="3291840"/>
          </a:xfrm>
          <a:prstGeom prst="roundRect">
            <a:avLst>
              <a:gd name="adj" fmla="val 2222"/>
            </a:avLst>
          </a:prstGeom>
          <a:solidFill>
            <a:schemeClr val="bg2"/>
          </a:solidFill>
          <a:ln/>
        </p:spPr>
      </p:sp>
      <p:sp>
        <p:nvSpPr>
          <p:cNvPr id="13" name="Shape 10"/>
          <p:cNvSpPr/>
          <p:nvPr/>
        </p:nvSpPr>
        <p:spPr>
          <a:xfrm>
            <a:off x="960120" y="1920240"/>
            <a:ext cx="566928" cy="566928"/>
          </a:xfrm>
          <a:prstGeom prst="ellipse">
            <a:avLst/>
          </a:prstGeom>
          <a:solidFill>
            <a:srgbClr val="E6EEE9"/>
          </a:solidFill>
          <a:ln/>
        </p:spPr>
      </p:sp>
      <p:pic>
        <p:nvPicPr>
          <p:cNvPr id="14" name="Image 0" descr="FaCamer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7521" y="2067641"/>
            <a:ext cx="272125" cy="272125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960120" y="2633472"/>
            <a:ext cx="287517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삼각대</a:t>
            </a:r>
            <a:endParaRPr lang="en-US" sz="1700" dirty="0"/>
          </a:p>
        </p:txBody>
      </p:sp>
      <p:sp>
        <p:nvSpPr>
          <p:cNvPr id="16" name="Text 12"/>
          <p:cNvSpPr txBox="1"/>
          <p:nvPr/>
        </p:nvSpPr>
        <p:spPr>
          <a:xfrm>
            <a:off x="960120" y="3063240"/>
            <a:ext cx="2875178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chemeClr val="accent5"/>
                </a:solidFill>
              </a:rPr>
              <a:t>고정 샷 · 혼자 찍는 토크 · 타임랩스. 미니 삼각대도 충분</a:t>
            </a:r>
            <a:endParaRPr lang="en-US" sz="1450" dirty="0"/>
          </a:p>
        </p:txBody>
      </p:sp>
      <p:sp>
        <p:nvSpPr>
          <p:cNvPr id="17" name="Shape 13"/>
          <p:cNvSpPr/>
          <p:nvPr/>
        </p:nvSpPr>
        <p:spPr>
          <a:xfrm>
            <a:off x="4383938" y="1645920"/>
            <a:ext cx="3423818" cy="3291840"/>
          </a:xfrm>
          <a:prstGeom prst="roundRect">
            <a:avLst>
              <a:gd name="adj" fmla="val 2222"/>
            </a:avLst>
          </a:prstGeom>
          <a:solidFill>
            <a:schemeClr val="bg2"/>
          </a:solidFill>
          <a:ln/>
        </p:spPr>
      </p:sp>
      <p:sp>
        <p:nvSpPr>
          <p:cNvPr id="18" name="Shape 14"/>
          <p:cNvSpPr/>
          <p:nvPr/>
        </p:nvSpPr>
        <p:spPr>
          <a:xfrm>
            <a:off x="4658258" y="1920240"/>
            <a:ext cx="566928" cy="566928"/>
          </a:xfrm>
          <a:prstGeom prst="ellipse">
            <a:avLst/>
          </a:prstGeom>
          <a:solidFill>
            <a:srgbClr val="E6EEE9"/>
          </a:solidFill>
          <a:ln/>
        </p:spPr>
      </p:sp>
      <p:pic>
        <p:nvPicPr>
          <p:cNvPr id="19" name="Image 1" descr="FaMicrophon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5660" y="2067641"/>
            <a:ext cx="272125" cy="272125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4658258" y="2633472"/>
            <a:ext cx="287517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무선 핀마이크</a:t>
            </a:r>
            <a:endParaRPr lang="en-US" sz="1700" dirty="0"/>
          </a:p>
        </p:txBody>
      </p:sp>
      <p:sp>
        <p:nvSpPr>
          <p:cNvPr id="21" name="Text 16"/>
          <p:cNvSpPr txBox="1"/>
          <p:nvPr/>
        </p:nvSpPr>
        <p:spPr>
          <a:xfrm>
            <a:off x="4658258" y="3063240"/>
            <a:ext cx="2875178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chemeClr val="accent5"/>
                </a:solidFill>
              </a:rPr>
              <a:t>인터뷰 · 토크 · 내레이션. 폰 마이크와 같은 문장으로 비교</a:t>
            </a:r>
            <a:endParaRPr lang="en-US" sz="1450" dirty="0"/>
          </a:p>
        </p:txBody>
      </p:sp>
      <p:sp>
        <p:nvSpPr>
          <p:cNvPr id="22" name="Shape 17"/>
          <p:cNvSpPr/>
          <p:nvPr/>
        </p:nvSpPr>
        <p:spPr>
          <a:xfrm>
            <a:off x="8082077" y="1645920"/>
            <a:ext cx="3423818" cy="3291840"/>
          </a:xfrm>
          <a:prstGeom prst="roundRect">
            <a:avLst>
              <a:gd name="adj" fmla="val 2222"/>
            </a:avLst>
          </a:prstGeom>
          <a:solidFill>
            <a:schemeClr val="bg2"/>
          </a:solidFill>
          <a:ln/>
        </p:spPr>
      </p:sp>
      <p:sp>
        <p:nvSpPr>
          <p:cNvPr id="23" name="Shape 18"/>
          <p:cNvSpPr/>
          <p:nvPr/>
        </p:nvSpPr>
        <p:spPr>
          <a:xfrm>
            <a:off x="8356397" y="1920240"/>
            <a:ext cx="566928" cy="566928"/>
          </a:xfrm>
          <a:prstGeom prst="ellipse">
            <a:avLst/>
          </a:prstGeom>
          <a:solidFill>
            <a:srgbClr val="E6EEE9"/>
          </a:solidFill>
          <a:ln/>
        </p:spPr>
      </p:sp>
      <p:pic>
        <p:nvPicPr>
          <p:cNvPr id="24" name="Image 2" descr="FaRunni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3798" y="2067641"/>
            <a:ext cx="272125" cy="272125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8356397" y="2633472"/>
            <a:ext cx="287517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짐벌</a:t>
            </a:r>
            <a:endParaRPr lang="en-US" sz="1700" dirty="0"/>
          </a:p>
        </p:txBody>
      </p:sp>
      <p:sp>
        <p:nvSpPr>
          <p:cNvPr id="26" name="Text 20"/>
          <p:cNvSpPr txBox="1"/>
          <p:nvPr/>
        </p:nvSpPr>
        <p:spPr>
          <a:xfrm>
            <a:off x="8356397" y="3063240"/>
            <a:ext cx="2875178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chemeClr val="accent5"/>
                </a:solidFill>
              </a:rPr>
              <a:t>걷거나 따라가며 찍을 때. 무겁고 세팅 시간이 들어요</a:t>
            </a:r>
            <a:endParaRPr lang="en-US" sz="1450" dirty="0"/>
          </a:p>
        </p:txBody>
      </p:sp>
      <p:sp>
        <p:nvSpPr>
          <p:cNvPr id="27" name="Shape 21"/>
          <p:cNvSpPr/>
          <p:nvPr/>
        </p:nvSpPr>
        <p:spPr>
          <a:xfrm>
            <a:off x="685800" y="5257800"/>
            <a:ext cx="10820095" cy="512064"/>
          </a:xfrm>
          <a:prstGeom prst="roundRect">
            <a:avLst>
              <a:gd name="adj" fmla="val 14286"/>
            </a:avLst>
          </a:prstGeom>
          <a:solidFill>
            <a:schemeClr val="accent6"/>
          </a:solidFill>
          <a:ln/>
        </p:spPr>
      </p:sp>
      <p:sp>
        <p:nvSpPr>
          <p:cNvPr id="28" name="Text 22"/>
          <p:cNvSpPr txBox="1"/>
          <p:nvPr/>
        </p:nvSpPr>
        <p:spPr>
          <a:xfrm>
            <a:off x="960120" y="5257800"/>
            <a:ext cx="1027145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크루별로 2분씩 돌려 써 보기. 장비는 사기 전에 자세부터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A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50</a:t>
            </a:fld>
            <a:endParaRPr lang="en-US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91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6교시 · 움직임 · 컷 · 소리, 그리고 장비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0125151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4" name="Shape 2"/>
          <p:cNvSpPr/>
          <p:nvPr/>
        </p:nvSpPr>
        <p:spPr>
          <a:xfrm>
            <a:off x="10335463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5" name="Shape 3"/>
          <p:cNvSpPr/>
          <p:nvPr/>
        </p:nvSpPr>
        <p:spPr>
          <a:xfrm>
            <a:off x="10545775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6" name="Shape 4"/>
          <p:cNvSpPr/>
          <p:nvPr/>
        </p:nvSpPr>
        <p:spPr>
          <a:xfrm>
            <a:off x="10756087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7" name="Shape 5"/>
          <p:cNvSpPr/>
          <p:nvPr/>
        </p:nvSpPr>
        <p:spPr>
          <a:xfrm>
            <a:off x="10966399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8" name="Shape 6"/>
          <p:cNvSpPr/>
          <p:nvPr/>
        </p:nvSpPr>
        <p:spPr>
          <a:xfrm>
            <a:off x="11176711" y="502920"/>
            <a:ext cx="118872" cy="1188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9" name="Shape 7"/>
          <p:cNvSpPr/>
          <p:nvPr/>
        </p:nvSpPr>
        <p:spPr>
          <a:xfrm>
            <a:off x="11387023" y="502920"/>
            <a:ext cx="118872" cy="118872"/>
          </a:xfrm>
          <a:prstGeom prst="ellipse">
            <a:avLst/>
          </a:prstGeom>
          <a:solidFill>
            <a:srgbClr val="DDE4E0"/>
          </a:solidFill>
          <a:ln/>
        </p:spPr>
      </p:sp>
      <p:sp>
        <p:nvSpPr>
          <p:cNvPr id="10" name="Text 1"/>
          <p:cNvSpPr/>
          <p:nvPr>
            <p:ph idx="101" type="title" hasCustomPrompt="1"/>
          </p:nvPr>
        </p:nvSpPr>
        <p:spPr>
          <a:xfrm>
            <a:off x="685800" y="713232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실습 · 학교 공간에서 5샷 시퀀스 (20분)</a:t>
            </a:r>
            <a:endParaRPr lang="en-US" sz="2800" dirty="0"/>
          </a:p>
        </p:txBody>
      </p:sp>
      <p:sp>
        <p:nvSpPr>
          <p:cNvPr id="12" name="Text 9"/>
          <p:cNvSpPr txBox="1"/>
          <p:nvPr/>
        </p:nvSpPr>
        <p:spPr>
          <a:xfrm>
            <a:off x="685800" y="160020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짝이 행동하고, 나는 찍고 → 바꾸기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685800" y="2103120"/>
            <a:ext cx="576072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9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☐  ① 손 클로즈업</a:t>
            </a:r>
            <a:endParaRPr lang="en-US" sz="16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☐  ② 얼굴 클로즈업</a:t>
            </a:r>
            <a:endParaRPr lang="en-US" sz="16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☐  ③ 와이드</a:t>
            </a:r>
            <a:endParaRPr lang="en-US" sz="16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☐  ④ 어깨너머</a:t>
            </a:r>
            <a:endParaRPr lang="en-US" sz="16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☐  ⑤ 특이한 앵글</a:t>
            </a:r>
            <a:endParaRPr lang="en-US" sz="16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☐  컷마다 7초 이상 · 두 번씩 · 앞뒤 2초</a:t>
            </a:r>
            <a:endParaRPr lang="en-US" sz="16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☐  모든 컷 AE/AF 잠금</a:t>
            </a:r>
            <a:endParaRPr lang="en-US" sz="1600" dirty="0"/>
          </a:p>
        </p:txBody>
      </p:sp>
      <p:sp>
        <p:nvSpPr>
          <p:cNvPr id="14" name="Shape 11"/>
          <p:cNvSpPr/>
          <p:nvPr/>
        </p:nvSpPr>
        <p:spPr>
          <a:xfrm>
            <a:off x="6720840" y="1600200"/>
            <a:ext cx="4785055" cy="2148840"/>
          </a:xfrm>
          <a:prstGeom prst="roundRect">
            <a:avLst>
              <a:gd name="adj" fmla="val 3404"/>
            </a:avLst>
          </a:prstGeom>
          <a:solidFill>
            <a:schemeClr val="bg2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6995160" y="1755648"/>
            <a:ext cx="4236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행동 예시 (내 아이템이면 더 좋아요)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6995160" y="2148840"/>
            <a:ext cx="4236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디저트 포장하기 · 화장품 바르기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노트북으로 작업하기 · 커피 내리기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반려견 사진 넘겨 보기</a:t>
            </a:r>
            <a:endParaRPr lang="en-US" sz="1450" dirty="0"/>
          </a:p>
        </p:txBody>
      </p:sp>
      <p:sp>
        <p:nvSpPr>
          <p:cNvPr id="17" name="Shape 14"/>
          <p:cNvSpPr/>
          <p:nvPr/>
        </p:nvSpPr>
        <p:spPr>
          <a:xfrm>
            <a:off x="6720840" y="3931920"/>
            <a:ext cx="4785055" cy="1691640"/>
          </a:xfrm>
          <a:prstGeom prst="roundRect">
            <a:avLst>
              <a:gd name="adj" fmla="val 4324"/>
            </a:avLst>
          </a:prstGeom>
          <a:solidFill>
            <a:schemeClr val="tx2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6995160" y="4069080"/>
            <a:ext cx="4236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크루 기록 담당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6995160" y="4480560"/>
            <a:ext cx="4236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chemeClr val="bg1"/>
                </a:solidFill>
              </a:rPr>
              <a:t>크루가 촬영하는 모습을 찍어 두기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chemeClr val="bg1"/>
                </a:solidFill>
              </a:rPr>
              <a:t>→ 6회차 우리 반 브이로그 재료</a:t>
            </a:r>
            <a:endParaRPr lang="en-US" sz="14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A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51</a:t>
            </a:fld>
            <a:endParaRPr lang="en-US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ARUBIT/build/.cache/s1/img08_gra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/home/user/MARUBIT/build/.cache/s1/overla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685800" y="1325880"/>
            <a:ext cx="3657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0" b="1" dirty="0">
                <a:solidFill>
                  <a:schemeClr val="accent1"/>
                </a:solidFill>
              </a:rPr>
              <a:t>07</a:t>
            </a:r>
            <a:endParaRPr lang="en-US" sz="11000" dirty="0"/>
          </a:p>
        </p:txBody>
      </p:sp>
      <p:sp>
        <p:nvSpPr>
          <p:cNvPr id="5" name="Text 1"/>
          <p:cNvSpPr txBox="1"/>
          <p:nvPr/>
        </p:nvSpPr>
        <p:spPr>
          <a:xfrm>
            <a:off x="758952" y="10515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chemeClr val="accent6"/>
                </a:solidFill>
              </a:rPr>
              <a:t>7교시</a:t>
            </a:r>
            <a:endParaRPr lang="en-US" sz="1400" dirty="0"/>
          </a:p>
        </p:txBody>
      </p:sp>
      <p:sp>
        <p:nvSpPr>
          <p:cNvPr id="6" name="Text 0"/>
          <p:cNvSpPr/>
          <p:nvPr>
            <p:ph idx="100" type="title" hasCustomPrompt="1"/>
          </p:nvPr>
        </p:nvSpPr>
        <p:spPr>
          <a:xfrm>
            <a:off x="685800" y="324612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촬영 리뷰와 공유</a:t>
            </a:r>
            <a:endParaRPr lang="en-US" sz="4000" dirty="0"/>
          </a:p>
        </p:txBody>
      </p:sp>
      <p:sp>
        <p:nvSpPr>
          <p:cNvPr id="7" name="Text 0"/>
          <p:cNvSpPr/>
          <p:nvPr>
            <p:ph idx="101" type="body" hasCustomPrompt="1"/>
          </p:nvPr>
        </p:nvSpPr>
        <p:spPr>
          <a:xfrm>
            <a:off x="685800" y="4480560"/>
            <a:ext cx="7132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16:40–17:30  ·  보고, 고르고, 남기기</a:t>
            </a:r>
            <a:endParaRPr lang="en-US" sz="16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91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7교시 · 촬영 리뷰와 공유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0125151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4" name="Shape 2"/>
          <p:cNvSpPr/>
          <p:nvPr/>
        </p:nvSpPr>
        <p:spPr>
          <a:xfrm>
            <a:off x="10335463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5" name="Shape 3"/>
          <p:cNvSpPr/>
          <p:nvPr/>
        </p:nvSpPr>
        <p:spPr>
          <a:xfrm>
            <a:off x="10545775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6" name="Shape 4"/>
          <p:cNvSpPr/>
          <p:nvPr/>
        </p:nvSpPr>
        <p:spPr>
          <a:xfrm>
            <a:off x="10756087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7" name="Shape 5"/>
          <p:cNvSpPr/>
          <p:nvPr/>
        </p:nvSpPr>
        <p:spPr>
          <a:xfrm>
            <a:off x="10966399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8" name="Shape 6"/>
          <p:cNvSpPr/>
          <p:nvPr/>
        </p:nvSpPr>
        <p:spPr>
          <a:xfrm>
            <a:off x="11176711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9" name="Shape 7"/>
          <p:cNvSpPr/>
          <p:nvPr/>
        </p:nvSpPr>
        <p:spPr>
          <a:xfrm>
            <a:off x="11387023" y="502920"/>
            <a:ext cx="118872" cy="1188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0" name="Text 1"/>
          <p:cNvSpPr/>
          <p:nvPr>
            <p:ph idx="101" type="title" hasCustomPrompt="1"/>
          </p:nvPr>
        </p:nvSpPr>
        <p:spPr>
          <a:xfrm>
            <a:off x="685800" y="713232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크루 리뷰: 찍고, 보고, 고르기</a:t>
            </a:r>
            <a:endParaRPr lang="en-US" sz="2800" dirty="0"/>
          </a:p>
        </p:txBody>
      </p:sp>
      <p:sp>
        <p:nvSpPr>
          <p:cNvPr id="12" name="Shape 9"/>
          <p:cNvSpPr/>
          <p:nvPr/>
        </p:nvSpPr>
        <p:spPr>
          <a:xfrm>
            <a:off x="685800" y="1600200"/>
            <a:ext cx="10820095" cy="877824"/>
          </a:xfrm>
          <a:prstGeom prst="roundRect">
            <a:avLst>
              <a:gd name="adj" fmla="val 8333"/>
            </a:avLst>
          </a:prstGeom>
          <a:solidFill>
            <a:schemeClr val="bg2"/>
          </a:solidFill>
          <a:ln/>
        </p:spPr>
      </p:sp>
      <p:sp>
        <p:nvSpPr>
          <p:cNvPr id="13" name="Shape 10"/>
          <p:cNvSpPr/>
          <p:nvPr/>
        </p:nvSpPr>
        <p:spPr>
          <a:xfrm>
            <a:off x="886968" y="1810512"/>
            <a:ext cx="457200" cy="45720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886968" y="18105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1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1554480" y="1600200"/>
            <a:ext cx="310896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드라이브에 올리기</a:t>
            </a:r>
            <a:endParaRPr lang="en-US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4663440" y="1600200"/>
            <a:ext cx="6659575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크루 폴더 → 내 이름 → 1회차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685800" y="2606040"/>
            <a:ext cx="10820095" cy="877824"/>
          </a:xfrm>
          <a:prstGeom prst="roundRect">
            <a:avLst>
              <a:gd name="adj" fmla="val 8333"/>
            </a:avLst>
          </a:prstGeom>
          <a:solidFill>
            <a:schemeClr val="bg2"/>
          </a:solidFill>
          <a:ln/>
        </p:spPr>
      </p:sp>
      <p:sp>
        <p:nvSpPr>
          <p:cNvPr id="18" name="Shape 15"/>
          <p:cNvSpPr/>
          <p:nvPr/>
        </p:nvSpPr>
        <p:spPr>
          <a:xfrm>
            <a:off x="886968" y="2816352"/>
            <a:ext cx="457200" cy="45720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886968" y="28163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2</a:t>
            </a:r>
            <a:endParaRPr lang="en-US" sz="1300" dirty="0"/>
          </a:p>
        </p:txBody>
      </p:sp>
      <p:sp>
        <p:nvSpPr>
          <p:cNvPr id="20" name="Text 17"/>
          <p:cNvSpPr txBox="1"/>
          <p:nvPr/>
        </p:nvSpPr>
        <p:spPr>
          <a:xfrm>
            <a:off x="1554480" y="2606040"/>
            <a:ext cx="310896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크루에게 보여 주기</a:t>
            </a:r>
            <a:endParaRPr lang="en-US" sz="1600" dirty="0"/>
          </a:p>
        </p:txBody>
      </p:sp>
      <p:sp>
        <p:nvSpPr>
          <p:cNvPr id="21" name="Text 18"/>
          <p:cNvSpPr txBox="1"/>
          <p:nvPr/>
        </p:nvSpPr>
        <p:spPr>
          <a:xfrm>
            <a:off x="4663440" y="2606040"/>
            <a:ext cx="6659575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첫 시청자가 먼저 칭찬 1 + 제안 1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685800" y="3611880"/>
            <a:ext cx="10820095" cy="877824"/>
          </a:xfrm>
          <a:prstGeom prst="roundRect">
            <a:avLst>
              <a:gd name="adj" fmla="val 8333"/>
            </a:avLst>
          </a:prstGeom>
          <a:solidFill>
            <a:schemeClr val="bg2"/>
          </a:solidFill>
          <a:ln/>
        </p:spPr>
      </p:sp>
      <p:sp>
        <p:nvSpPr>
          <p:cNvPr id="23" name="Shape 20"/>
          <p:cNvSpPr/>
          <p:nvPr/>
        </p:nvSpPr>
        <p:spPr>
          <a:xfrm>
            <a:off x="886968" y="3822192"/>
            <a:ext cx="457200" cy="45720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886968" y="38221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3</a:t>
            </a:r>
            <a:endParaRPr lang="en-US" sz="1300" dirty="0"/>
          </a:p>
        </p:txBody>
      </p:sp>
      <p:sp>
        <p:nvSpPr>
          <p:cNvPr id="25" name="Text 22"/>
          <p:cNvSpPr txBox="1"/>
          <p:nvPr/>
        </p:nvSpPr>
        <p:spPr>
          <a:xfrm>
            <a:off x="1554480" y="3611880"/>
            <a:ext cx="310896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체크하기</a:t>
            </a:r>
            <a:endParaRPr lang="en-US" sz="1600" dirty="0"/>
          </a:p>
        </p:txBody>
      </p:sp>
      <p:sp>
        <p:nvSpPr>
          <p:cNvPr id="26" name="Text 23"/>
          <p:cNvSpPr txBox="1"/>
          <p:nvPr/>
        </p:nvSpPr>
        <p:spPr>
          <a:xfrm>
            <a:off x="4663440" y="3611880"/>
            <a:ext cx="6659575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세로 · 흔들림 · 밝기 출렁임 · 초점 · 소리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685800" y="4617720"/>
            <a:ext cx="10820095" cy="877824"/>
          </a:xfrm>
          <a:prstGeom prst="roundRect">
            <a:avLst>
              <a:gd name="adj" fmla="val 8333"/>
            </a:avLst>
          </a:prstGeom>
          <a:solidFill>
            <a:schemeClr val="bg2"/>
          </a:solidFill>
          <a:ln/>
        </p:spPr>
      </p:sp>
      <p:sp>
        <p:nvSpPr>
          <p:cNvPr id="28" name="Shape 25"/>
          <p:cNvSpPr/>
          <p:nvPr/>
        </p:nvSpPr>
        <p:spPr>
          <a:xfrm>
            <a:off x="886968" y="4828032"/>
            <a:ext cx="457200" cy="45720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886968" y="48280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4</a:t>
            </a:r>
            <a:endParaRPr lang="en-US" sz="1300" dirty="0"/>
          </a:p>
        </p:txBody>
      </p:sp>
      <p:sp>
        <p:nvSpPr>
          <p:cNvPr id="30" name="Text 27"/>
          <p:cNvSpPr txBox="1"/>
          <p:nvPr/>
        </p:nvSpPr>
        <p:spPr>
          <a:xfrm>
            <a:off x="1554480" y="4617720"/>
            <a:ext cx="310896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크루 베스트 컷 고르기</a:t>
            </a:r>
            <a:endParaRPr lang="en-US" sz="1600" dirty="0"/>
          </a:p>
        </p:txBody>
      </p:sp>
      <p:sp>
        <p:nvSpPr>
          <p:cNvPr id="31" name="Text 28"/>
          <p:cNvSpPr txBox="1"/>
          <p:nvPr/>
        </p:nvSpPr>
        <p:spPr>
          <a:xfrm>
            <a:off x="4663440" y="4617720"/>
            <a:ext cx="6659575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2회차 첫 업로드 재료 + 크루 이름 정하기</a:t>
            </a:r>
            <a:endParaRPr lang="en-US" sz="1400" dirty="0"/>
          </a:p>
        </p:txBody>
      </p:sp>
      <p:sp>
        <p:nvSpPr>
          <p:cNvPr id="32" name="Text 29"/>
          <p:cNvSpPr txBox="1"/>
          <p:nvPr/>
        </p:nvSpPr>
        <p:spPr>
          <a:xfrm>
            <a:off x="685800" y="5760720"/>
            <a:ext cx="108200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편집은 3회차부터. 오늘은 보고 고르는 눈을 기르는 날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A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53</a:t>
            </a:fld>
            <a:endParaRPr lang="en-US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91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7교시 · 촬영 리뷰와 공유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0125151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4" name="Shape 2"/>
          <p:cNvSpPr/>
          <p:nvPr/>
        </p:nvSpPr>
        <p:spPr>
          <a:xfrm>
            <a:off x="10335463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5" name="Shape 3"/>
          <p:cNvSpPr/>
          <p:nvPr/>
        </p:nvSpPr>
        <p:spPr>
          <a:xfrm>
            <a:off x="10545775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6" name="Shape 4"/>
          <p:cNvSpPr/>
          <p:nvPr/>
        </p:nvSpPr>
        <p:spPr>
          <a:xfrm>
            <a:off x="10756087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7" name="Shape 5"/>
          <p:cNvSpPr/>
          <p:nvPr/>
        </p:nvSpPr>
        <p:spPr>
          <a:xfrm>
            <a:off x="10966399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8" name="Shape 6"/>
          <p:cNvSpPr/>
          <p:nvPr/>
        </p:nvSpPr>
        <p:spPr>
          <a:xfrm>
            <a:off x="11176711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9" name="Shape 7"/>
          <p:cNvSpPr/>
          <p:nvPr/>
        </p:nvSpPr>
        <p:spPr>
          <a:xfrm>
            <a:off x="11387023" y="502920"/>
            <a:ext cx="118872" cy="1188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0" name="Text 1"/>
          <p:cNvSpPr/>
          <p:nvPr>
            <p:ph idx="101" type="title" hasCustomPrompt="1"/>
          </p:nvPr>
        </p:nvSpPr>
        <p:spPr>
          <a:xfrm>
            <a:off x="685800" y="713232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오늘 배운 다섯 가지</a:t>
            </a:r>
            <a:endParaRPr lang="en-US" sz="2800" dirty="0"/>
          </a:p>
        </p:txBody>
      </p:sp>
      <p:sp>
        <p:nvSpPr>
          <p:cNvPr id="12" name="Shape 9"/>
          <p:cNvSpPr/>
          <p:nvPr/>
        </p:nvSpPr>
        <p:spPr>
          <a:xfrm>
            <a:off x="685800" y="1600200"/>
            <a:ext cx="10820095" cy="749808"/>
          </a:xfrm>
          <a:prstGeom prst="roundRect">
            <a:avLst>
              <a:gd name="adj" fmla="val 9756"/>
            </a:avLst>
          </a:prstGeom>
          <a:solidFill>
            <a:schemeClr val="bg2"/>
          </a:solidFill>
          <a:ln/>
        </p:spPr>
      </p:sp>
      <p:sp>
        <p:nvSpPr>
          <p:cNvPr id="13" name="Shape 10"/>
          <p:cNvSpPr/>
          <p:nvPr/>
        </p:nvSpPr>
        <p:spPr>
          <a:xfrm>
            <a:off x="886968" y="1746504"/>
            <a:ext cx="457200" cy="45720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886968" y="174650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1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1554480" y="1600200"/>
            <a:ext cx="23774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제작 공정</a:t>
            </a:r>
            <a:endParaRPr lang="en-US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3931920" y="1600200"/>
            <a:ext cx="739109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기획 → 프리프로덕션 → 촬영 → 편집 → 마스터링 → 발행 → 분석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685800" y="2468880"/>
            <a:ext cx="10820095" cy="749808"/>
          </a:xfrm>
          <a:prstGeom prst="roundRect">
            <a:avLst>
              <a:gd name="adj" fmla="val 9756"/>
            </a:avLst>
          </a:prstGeom>
          <a:solidFill>
            <a:schemeClr val="bg2"/>
          </a:solidFill>
          <a:ln/>
        </p:spPr>
      </p:sp>
      <p:sp>
        <p:nvSpPr>
          <p:cNvPr id="18" name="Shape 15"/>
          <p:cNvSpPr/>
          <p:nvPr/>
        </p:nvSpPr>
        <p:spPr>
          <a:xfrm>
            <a:off x="886968" y="2615184"/>
            <a:ext cx="457200" cy="45720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886968" y="261518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2</a:t>
            </a:r>
            <a:endParaRPr lang="en-US" sz="1300" dirty="0"/>
          </a:p>
        </p:txBody>
      </p:sp>
      <p:sp>
        <p:nvSpPr>
          <p:cNvPr id="20" name="Text 17"/>
          <p:cNvSpPr txBox="1"/>
          <p:nvPr/>
        </p:nvSpPr>
        <p:spPr>
          <a:xfrm>
            <a:off x="1554480" y="2468880"/>
            <a:ext cx="23774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노출과 색</a:t>
            </a:r>
            <a:endParaRPr lang="en-US" sz="1600" dirty="0"/>
          </a:p>
        </p:txBody>
      </p:sp>
      <p:sp>
        <p:nvSpPr>
          <p:cNvPr id="21" name="Text 18"/>
          <p:cNvSpPr txBox="1"/>
          <p:nvPr/>
        </p:nvSpPr>
        <p:spPr>
          <a:xfrm>
            <a:off x="3931920" y="2468880"/>
            <a:ext cx="739109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조리개 · 셔터 · ISO + 화이트밸런스. 조리개는 숫자가 작을수록 밝다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685800" y="3337560"/>
            <a:ext cx="10820095" cy="749808"/>
          </a:xfrm>
          <a:prstGeom prst="roundRect">
            <a:avLst>
              <a:gd name="adj" fmla="val 9756"/>
            </a:avLst>
          </a:prstGeom>
          <a:solidFill>
            <a:schemeClr val="bg2"/>
          </a:solidFill>
          <a:ln/>
        </p:spPr>
      </p:sp>
      <p:sp>
        <p:nvSpPr>
          <p:cNvPr id="23" name="Shape 20"/>
          <p:cNvSpPr/>
          <p:nvPr/>
        </p:nvSpPr>
        <p:spPr>
          <a:xfrm>
            <a:off x="886968" y="3483864"/>
            <a:ext cx="457200" cy="45720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886968" y="348386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3</a:t>
            </a:r>
            <a:endParaRPr lang="en-US" sz="1300" dirty="0"/>
          </a:p>
        </p:txBody>
      </p:sp>
      <p:sp>
        <p:nvSpPr>
          <p:cNvPr id="25" name="Text 22"/>
          <p:cNvSpPr txBox="1"/>
          <p:nvPr/>
        </p:nvSpPr>
        <p:spPr>
          <a:xfrm>
            <a:off x="1554480" y="3337560"/>
            <a:ext cx="23774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영상 세팅</a:t>
            </a:r>
            <a:endParaRPr lang="en-US" sz="1600" dirty="0"/>
          </a:p>
        </p:txBody>
      </p:sp>
      <p:sp>
        <p:nvSpPr>
          <p:cNvPr id="26" name="Text 23"/>
          <p:cNvSpPr txBox="1"/>
          <p:nvPr/>
        </p:nvSpPr>
        <p:spPr>
          <a:xfrm>
            <a:off x="3931920" y="3337560"/>
            <a:ext cx="739109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1080p 30fps · 셔터 2배 · HDR과 HEVC 끄기 · AE/AF 잠금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685800" y="4206240"/>
            <a:ext cx="10820095" cy="749808"/>
          </a:xfrm>
          <a:prstGeom prst="roundRect">
            <a:avLst>
              <a:gd name="adj" fmla="val 9756"/>
            </a:avLst>
          </a:prstGeom>
          <a:solidFill>
            <a:schemeClr val="bg2"/>
          </a:solidFill>
          <a:ln/>
        </p:spPr>
      </p:sp>
      <p:sp>
        <p:nvSpPr>
          <p:cNvPr id="28" name="Shape 25"/>
          <p:cNvSpPr/>
          <p:nvPr/>
        </p:nvSpPr>
        <p:spPr>
          <a:xfrm>
            <a:off x="886968" y="4352544"/>
            <a:ext cx="457200" cy="45720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886968" y="43525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4</a:t>
            </a:r>
            <a:endParaRPr lang="en-US" sz="1300" dirty="0"/>
          </a:p>
        </p:txBody>
      </p:sp>
      <p:sp>
        <p:nvSpPr>
          <p:cNvPr id="30" name="Text 27"/>
          <p:cNvSpPr txBox="1"/>
          <p:nvPr/>
        </p:nvSpPr>
        <p:spPr>
          <a:xfrm>
            <a:off x="1554480" y="4206240"/>
            <a:ext cx="23774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화면의 언어</a:t>
            </a:r>
            <a:endParaRPr lang="en-US" sz="1600" dirty="0"/>
          </a:p>
        </p:txBody>
      </p:sp>
      <p:sp>
        <p:nvSpPr>
          <p:cNvPr id="31" name="Text 28"/>
          <p:cNvSpPr txBox="1"/>
          <p:nvPr/>
        </p:nvSpPr>
        <p:spPr>
          <a:xfrm>
            <a:off x="3931920" y="4206240"/>
            <a:ext cx="739109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샷 크기 · 앵글 · 구도 · 빛. 영어 이름은 4회차 AI 프롬프트가 된다</a:t>
            </a:r>
            <a:endParaRPr lang="en-US" sz="1400" dirty="0"/>
          </a:p>
        </p:txBody>
      </p:sp>
      <p:sp>
        <p:nvSpPr>
          <p:cNvPr id="32" name="Shape 29"/>
          <p:cNvSpPr/>
          <p:nvPr/>
        </p:nvSpPr>
        <p:spPr>
          <a:xfrm>
            <a:off x="685800" y="5074920"/>
            <a:ext cx="10820095" cy="749808"/>
          </a:xfrm>
          <a:prstGeom prst="roundRect">
            <a:avLst>
              <a:gd name="adj" fmla="val 9756"/>
            </a:avLst>
          </a:prstGeom>
          <a:solidFill>
            <a:schemeClr val="bg2"/>
          </a:solidFill>
          <a:ln/>
        </p:spPr>
      </p:sp>
      <p:sp>
        <p:nvSpPr>
          <p:cNvPr id="33" name="Shape 30"/>
          <p:cNvSpPr/>
          <p:nvPr/>
        </p:nvSpPr>
        <p:spPr>
          <a:xfrm>
            <a:off x="886968" y="5221224"/>
            <a:ext cx="457200" cy="45720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34" name="Text 31"/>
          <p:cNvSpPr txBox="1"/>
          <p:nvPr/>
        </p:nvSpPr>
        <p:spPr>
          <a:xfrm>
            <a:off x="886968" y="522122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5</a:t>
            </a:r>
            <a:endParaRPr lang="en-US" sz="1300" dirty="0"/>
          </a:p>
        </p:txBody>
      </p:sp>
      <p:sp>
        <p:nvSpPr>
          <p:cNvPr id="35" name="Text 32"/>
          <p:cNvSpPr txBox="1"/>
          <p:nvPr/>
        </p:nvSpPr>
        <p:spPr>
          <a:xfrm>
            <a:off x="1554480" y="5074920"/>
            <a:ext cx="23774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컷과 소리</a:t>
            </a:r>
            <a:endParaRPr lang="en-US" sz="1600" dirty="0"/>
          </a:p>
        </p:txBody>
      </p:sp>
      <p:sp>
        <p:nvSpPr>
          <p:cNvPr id="36" name="Text 33"/>
          <p:cNvSpPr txBox="1"/>
          <p:nvPr/>
        </p:nvSpPr>
        <p:spPr>
          <a:xfrm>
            <a:off x="3931920" y="5074920"/>
            <a:ext cx="739109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5샷 시퀀스 · 180도 · 30도 · B롤 · 한 뼘 거리 · 룸톤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A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54</a:t>
            </a:fld>
            <a:endParaRPr lang="en-US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91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7교시 · 촬영 리뷰와 공유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0125151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4" name="Shape 2"/>
          <p:cNvSpPr/>
          <p:nvPr/>
        </p:nvSpPr>
        <p:spPr>
          <a:xfrm>
            <a:off x="10335463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5" name="Shape 3"/>
          <p:cNvSpPr/>
          <p:nvPr/>
        </p:nvSpPr>
        <p:spPr>
          <a:xfrm>
            <a:off x="10545775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6" name="Shape 4"/>
          <p:cNvSpPr/>
          <p:nvPr/>
        </p:nvSpPr>
        <p:spPr>
          <a:xfrm>
            <a:off x="10756087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7" name="Shape 5"/>
          <p:cNvSpPr/>
          <p:nvPr/>
        </p:nvSpPr>
        <p:spPr>
          <a:xfrm>
            <a:off x="10966399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8" name="Shape 6"/>
          <p:cNvSpPr/>
          <p:nvPr/>
        </p:nvSpPr>
        <p:spPr>
          <a:xfrm>
            <a:off x="11176711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9" name="Shape 7"/>
          <p:cNvSpPr/>
          <p:nvPr/>
        </p:nvSpPr>
        <p:spPr>
          <a:xfrm>
            <a:off x="11387023" y="502920"/>
            <a:ext cx="118872" cy="1188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0" name="Text 1"/>
          <p:cNvSpPr/>
          <p:nvPr>
            <p:ph idx="101" type="title" hasCustomPrompt="1"/>
          </p:nvPr>
        </p:nvSpPr>
        <p:spPr>
          <a:xfrm>
            <a:off x="685800" y="713232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다음 시간까지 · 10/30 (금)</a:t>
            </a:r>
            <a:endParaRPr lang="en-US" sz="2800" dirty="0"/>
          </a:p>
        </p:txBody>
      </p:sp>
      <p:sp>
        <p:nvSpPr>
          <p:cNvPr id="12" name="Text 9"/>
          <p:cNvSpPr txBox="1"/>
          <p:nvPr/>
        </p:nvSpPr>
        <p:spPr>
          <a:xfrm>
            <a:off x="685800" y="160020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01</a:t>
            </a:r>
            <a:endParaRPr lang="en-US" sz="2200" dirty="0"/>
          </a:p>
        </p:txBody>
      </p:sp>
      <p:sp>
        <p:nvSpPr>
          <p:cNvPr id="13" name="Shape 10"/>
          <p:cNvSpPr/>
          <p:nvPr/>
        </p:nvSpPr>
        <p:spPr>
          <a:xfrm>
            <a:off x="685800" y="2103120"/>
            <a:ext cx="3423818" cy="2926080"/>
          </a:xfrm>
          <a:prstGeom prst="roundRect">
            <a:avLst>
              <a:gd name="adj" fmla="val 2500"/>
            </a:avLst>
          </a:prstGeom>
          <a:solidFill>
            <a:schemeClr val="bg2"/>
          </a:solidFill>
          <a:ln/>
        </p:spPr>
      </p:sp>
      <p:sp>
        <p:nvSpPr>
          <p:cNvPr id="14" name="Shape 11"/>
          <p:cNvSpPr/>
          <p:nvPr/>
        </p:nvSpPr>
        <p:spPr>
          <a:xfrm>
            <a:off x="960120" y="2377440"/>
            <a:ext cx="566928" cy="566928"/>
          </a:xfrm>
          <a:prstGeom prst="ellipse">
            <a:avLst/>
          </a:prstGeom>
          <a:solidFill>
            <a:srgbClr val="E6EEE9"/>
          </a:solidFill>
          <a:ln/>
        </p:spPr>
      </p:sp>
      <p:pic>
        <p:nvPicPr>
          <p:cNvPr id="15" name="Image 0" descr="FaBookmar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7521" y="2524841"/>
            <a:ext cx="272125" cy="272125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960120" y="3090672"/>
            <a:ext cx="287517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콘텐츠 10편 저장</a:t>
            </a:r>
            <a:endParaRPr lang="en-US" sz="1700" dirty="0"/>
          </a:p>
        </p:txBody>
      </p:sp>
      <p:sp>
        <p:nvSpPr>
          <p:cNvPr id="17" name="Text 13"/>
          <p:cNvSpPr txBox="1"/>
          <p:nvPr/>
        </p:nvSpPr>
        <p:spPr>
          <a:xfrm>
            <a:off x="960120" y="3520440"/>
            <a:ext cx="2875178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chemeClr val="accent5"/>
                </a:solidFill>
              </a:rPr>
              <a:t>인스타 · 유튜브 · 틱톡 어디든. 왜 좋은지 한 줄씩</a:t>
            </a:r>
            <a:endParaRPr lang="en-US" sz="1450" dirty="0"/>
          </a:p>
        </p:txBody>
      </p:sp>
      <p:sp>
        <p:nvSpPr>
          <p:cNvPr id="18" name="Text 14"/>
          <p:cNvSpPr txBox="1"/>
          <p:nvPr/>
        </p:nvSpPr>
        <p:spPr>
          <a:xfrm>
            <a:off x="4383938" y="160020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02</a:t>
            </a:r>
            <a:endParaRPr lang="en-US" sz="2200" dirty="0"/>
          </a:p>
        </p:txBody>
      </p:sp>
      <p:sp>
        <p:nvSpPr>
          <p:cNvPr id="19" name="Shape 15"/>
          <p:cNvSpPr/>
          <p:nvPr/>
        </p:nvSpPr>
        <p:spPr>
          <a:xfrm>
            <a:off x="4383938" y="2103120"/>
            <a:ext cx="3423818" cy="2926080"/>
          </a:xfrm>
          <a:prstGeom prst="roundRect">
            <a:avLst>
              <a:gd name="adj" fmla="val 2500"/>
            </a:avLst>
          </a:prstGeom>
          <a:solidFill>
            <a:schemeClr val="bg2"/>
          </a:solidFill>
          <a:ln/>
        </p:spPr>
      </p:sp>
      <p:sp>
        <p:nvSpPr>
          <p:cNvPr id="20" name="Shape 16"/>
          <p:cNvSpPr/>
          <p:nvPr/>
        </p:nvSpPr>
        <p:spPr>
          <a:xfrm>
            <a:off x="4658258" y="2377440"/>
            <a:ext cx="566928" cy="566928"/>
          </a:xfrm>
          <a:prstGeom prst="ellipse">
            <a:avLst/>
          </a:prstGeom>
          <a:solidFill>
            <a:srgbClr val="E6EEE9"/>
          </a:solidFill>
          <a:ln/>
        </p:spPr>
      </p:sp>
      <p:pic>
        <p:nvPicPr>
          <p:cNvPr id="21" name="Image 1" descr="FaPe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5660" y="2524841"/>
            <a:ext cx="272125" cy="272125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4658258" y="3090672"/>
            <a:ext cx="287517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만들고 싶은 채널 한 줄</a:t>
            </a:r>
            <a:endParaRPr lang="en-US" sz="1700" dirty="0"/>
          </a:p>
        </p:txBody>
      </p:sp>
      <p:sp>
        <p:nvSpPr>
          <p:cNvPr id="23" name="Text 18"/>
          <p:cNvSpPr txBox="1"/>
          <p:nvPr/>
        </p:nvSpPr>
        <p:spPr>
          <a:xfrm>
            <a:off x="4658258" y="3520440"/>
            <a:ext cx="2875178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chemeClr val="accent5"/>
                </a:solidFill>
              </a:rPr>
              <a:t>누구에게, 무엇을 보여 주고 싶은지</a:t>
            </a:r>
            <a:endParaRPr lang="en-US" sz="1450" dirty="0"/>
          </a:p>
        </p:txBody>
      </p:sp>
      <p:sp>
        <p:nvSpPr>
          <p:cNvPr id="24" name="Text 19"/>
          <p:cNvSpPr txBox="1"/>
          <p:nvPr/>
        </p:nvSpPr>
        <p:spPr>
          <a:xfrm>
            <a:off x="8082077" y="160020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03</a:t>
            </a:r>
            <a:endParaRPr lang="en-US" sz="2200" dirty="0"/>
          </a:p>
        </p:txBody>
      </p:sp>
      <p:sp>
        <p:nvSpPr>
          <p:cNvPr id="25" name="Shape 20"/>
          <p:cNvSpPr/>
          <p:nvPr/>
        </p:nvSpPr>
        <p:spPr>
          <a:xfrm>
            <a:off x="8082077" y="2103120"/>
            <a:ext cx="3423818" cy="2926080"/>
          </a:xfrm>
          <a:prstGeom prst="roundRect">
            <a:avLst>
              <a:gd name="adj" fmla="val 2500"/>
            </a:avLst>
          </a:prstGeom>
          <a:solidFill>
            <a:schemeClr val="bg2"/>
          </a:solidFill>
          <a:ln/>
        </p:spPr>
      </p:sp>
      <p:sp>
        <p:nvSpPr>
          <p:cNvPr id="26" name="Shape 21"/>
          <p:cNvSpPr/>
          <p:nvPr/>
        </p:nvSpPr>
        <p:spPr>
          <a:xfrm>
            <a:off x="8356397" y="2377440"/>
            <a:ext cx="566928" cy="566928"/>
          </a:xfrm>
          <a:prstGeom prst="ellipse">
            <a:avLst/>
          </a:prstGeom>
          <a:solidFill>
            <a:srgbClr val="E6EEE9"/>
          </a:solidFill>
          <a:ln/>
        </p:spPr>
      </p:sp>
      <p:pic>
        <p:nvPicPr>
          <p:cNvPr id="27" name="Image 2" descr="FaDownloa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3798" y="2524841"/>
            <a:ext cx="272125" cy="272125"/>
          </a:xfrm>
          <a:prstGeom prst="rect">
            <a:avLst/>
          </a:prstGeom>
        </p:spPr>
      </p:pic>
      <p:sp>
        <p:nvSpPr>
          <p:cNvPr id="28" name="Text 22"/>
          <p:cNvSpPr txBox="1"/>
          <p:nvPr/>
        </p:nvSpPr>
        <p:spPr>
          <a:xfrm>
            <a:off x="8356397" y="3090672"/>
            <a:ext cx="287517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CapCut PC 설치</a:t>
            </a:r>
            <a:endParaRPr lang="en-US" sz="1700" dirty="0"/>
          </a:p>
        </p:txBody>
      </p:sp>
      <p:sp>
        <p:nvSpPr>
          <p:cNvPr id="29" name="Text 23"/>
          <p:cNvSpPr txBox="1"/>
          <p:nvPr/>
        </p:nvSpPr>
        <p:spPr>
          <a:xfrm>
            <a:off x="8356397" y="3520440"/>
            <a:ext cx="2875178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chemeClr val="accent5"/>
                </a:solidFill>
              </a:rPr>
              <a:t>오늘 못 한 사람만, 안내대로</a:t>
            </a:r>
            <a:endParaRPr lang="en-US" sz="1450" dirty="0"/>
          </a:p>
        </p:txBody>
      </p:sp>
      <p:sp>
        <p:nvSpPr>
          <p:cNvPr id="30" name="Shape 24"/>
          <p:cNvSpPr/>
          <p:nvPr/>
        </p:nvSpPr>
        <p:spPr>
          <a:xfrm>
            <a:off x="685800" y="5349240"/>
            <a:ext cx="10820095" cy="512064"/>
          </a:xfrm>
          <a:prstGeom prst="roundRect">
            <a:avLst>
              <a:gd name="adj" fmla="val 14286"/>
            </a:avLst>
          </a:prstGeom>
          <a:solidFill>
            <a:schemeClr val="accent6"/>
          </a:solidFill>
          <a:ln/>
        </p:spPr>
      </p:sp>
      <p:sp>
        <p:nvSpPr>
          <p:cNvPr id="31" name="Text 25"/>
          <p:cNvSpPr txBox="1"/>
          <p:nvPr/>
        </p:nvSpPr>
        <p:spPr>
          <a:xfrm>
            <a:off x="960120" y="5349240"/>
            <a:ext cx="1027145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선택: 5샷 시퀀스를 내 아이템으로 하나 더  ·  제출은 드라이브 '1회차 과제'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A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55</a:t>
            </a:fld>
            <a:endParaRPr lang="en-US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91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7교시 · 촬영 리뷰와 공유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0125151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4" name="Shape 2"/>
          <p:cNvSpPr/>
          <p:nvPr/>
        </p:nvSpPr>
        <p:spPr>
          <a:xfrm>
            <a:off x="10335463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5" name="Shape 3"/>
          <p:cNvSpPr/>
          <p:nvPr/>
        </p:nvSpPr>
        <p:spPr>
          <a:xfrm>
            <a:off x="10545775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6" name="Shape 4"/>
          <p:cNvSpPr/>
          <p:nvPr/>
        </p:nvSpPr>
        <p:spPr>
          <a:xfrm>
            <a:off x="10756087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7" name="Shape 5"/>
          <p:cNvSpPr/>
          <p:nvPr/>
        </p:nvSpPr>
        <p:spPr>
          <a:xfrm>
            <a:off x="10966399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8" name="Shape 6"/>
          <p:cNvSpPr/>
          <p:nvPr/>
        </p:nvSpPr>
        <p:spPr>
          <a:xfrm>
            <a:off x="11176711" y="502920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9" name="Shape 7"/>
          <p:cNvSpPr/>
          <p:nvPr/>
        </p:nvSpPr>
        <p:spPr>
          <a:xfrm>
            <a:off x="11387023" y="502920"/>
            <a:ext cx="118872" cy="1188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0" name="Text 1"/>
          <p:cNvSpPr/>
          <p:nvPr>
            <p:ph idx="101" type="title" hasCustomPrompt="1"/>
          </p:nvPr>
        </p:nvSpPr>
        <p:spPr>
          <a:xfrm>
            <a:off x="685800" y="713232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2회차 예고 · 기획하는 머리</a:t>
            </a:r>
            <a:endParaRPr lang="en-US" sz="2800" dirty="0"/>
          </a:p>
        </p:txBody>
      </p:sp>
      <p:sp>
        <p:nvSpPr>
          <p:cNvPr id="12" name="Shape 9"/>
          <p:cNvSpPr/>
          <p:nvPr/>
        </p:nvSpPr>
        <p:spPr>
          <a:xfrm>
            <a:off x="685800" y="1600200"/>
            <a:ext cx="10820095" cy="1920240"/>
          </a:xfrm>
          <a:prstGeom prst="roundRect">
            <a:avLst>
              <a:gd name="adj" fmla="val 3810"/>
            </a:avLst>
          </a:prstGeom>
          <a:solidFill>
            <a:schemeClr val="tx2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1051560" y="1783080"/>
            <a:ext cx="100885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10월 30일, 우리는 각자 채널을 엽니다</a:t>
            </a:r>
            <a:endParaRPr lang="en-US" sz="2800" dirty="0"/>
          </a:p>
        </p:txBody>
      </p:sp>
      <p:sp>
        <p:nvSpPr>
          <p:cNvPr id="14" name="Text 11"/>
          <p:cNvSpPr txBox="1"/>
          <p:nvPr/>
        </p:nvSpPr>
        <p:spPr>
          <a:xfrm>
            <a:off x="1051560" y="2560320"/>
            <a:ext cx="100885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강사도 같은 날, 여러분과 함께 새 채널을 엽니다</a:t>
            </a:r>
            <a:endParaRPr lang="en-US" sz="1700" dirty="0"/>
          </a:p>
        </p:txBody>
      </p:sp>
      <p:sp>
        <p:nvSpPr>
          <p:cNvPr id="15" name="Shape 12"/>
          <p:cNvSpPr/>
          <p:nvPr/>
        </p:nvSpPr>
        <p:spPr>
          <a:xfrm>
            <a:off x="685800" y="3886200"/>
            <a:ext cx="1574749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850392" y="3959352"/>
            <a:ext cx="130042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01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850392" y="4224528"/>
            <a:ext cx="130042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chemeClr val="tx1"/>
                </a:solidFill>
              </a:rPr>
              <a:t>아이템 찾기</a:t>
            </a:r>
            <a:endParaRPr lang="en-US" sz="1450" dirty="0"/>
          </a:p>
        </p:txBody>
      </p:sp>
      <p:sp>
        <p:nvSpPr>
          <p:cNvPr id="18" name="Shape 15"/>
          <p:cNvSpPr/>
          <p:nvPr/>
        </p:nvSpPr>
        <p:spPr>
          <a:xfrm>
            <a:off x="2287981" y="4370832"/>
            <a:ext cx="219456" cy="0"/>
          </a:xfrm>
          <a:prstGeom prst="line">
            <a:avLst/>
          </a:prstGeom>
          <a:noFill/>
          <a:ln w="15875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19" name="Shape 16"/>
          <p:cNvSpPr/>
          <p:nvPr/>
        </p:nvSpPr>
        <p:spPr>
          <a:xfrm>
            <a:off x="2534869" y="3886200"/>
            <a:ext cx="1574749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2699461" y="3959352"/>
            <a:ext cx="130042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02</a:t>
            </a:r>
            <a:endParaRPr lang="en-US" sz="1100" dirty="0"/>
          </a:p>
        </p:txBody>
      </p:sp>
      <p:sp>
        <p:nvSpPr>
          <p:cNvPr id="21" name="Text 18"/>
          <p:cNvSpPr txBox="1"/>
          <p:nvPr/>
        </p:nvSpPr>
        <p:spPr>
          <a:xfrm>
            <a:off x="2699461" y="4224528"/>
            <a:ext cx="130042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chemeClr val="tx1"/>
                </a:solidFill>
              </a:rPr>
              <a:t>레퍼런스 해부</a:t>
            </a:r>
            <a:endParaRPr lang="en-US" sz="1450" dirty="0"/>
          </a:p>
        </p:txBody>
      </p:sp>
      <p:sp>
        <p:nvSpPr>
          <p:cNvPr id="22" name="Shape 19"/>
          <p:cNvSpPr/>
          <p:nvPr/>
        </p:nvSpPr>
        <p:spPr>
          <a:xfrm>
            <a:off x="4137050" y="4370832"/>
            <a:ext cx="219456" cy="0"/>
          </a:xfrm>
          <a:prstGeom prst="line">
            <a:avLst/>
          </a:prstGeom>
          <a:noFill/>
          <a:ln w="15875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23" name="Shape 20"/>
          <p:cNvSpPr/>
          <p:nvPr/>
        </p:nvSpPr>
        <p:spPr>
          <a:xfrm>
            <a:off x="4383938" y="3886200"/>
            <a:ext cx="1574749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4548530" y="3959352"/>
            <a:ext cx="130042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03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4548530" y="4224528"/>
            <a:ext cx="130042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chemeClr val="tx1"/>
                </a:solidFill>
              </a:rPr>
              <a:t>채널 콘셉트</a:t>
            </a:r>
            <a:endParaRPr lang="en-US" sz="1450" dirty="0"/>
          </a:p>
        </p:txBody>
      </p:sp>
      <p:sp>
        <p:nvSpPr>
          <p:cNvPr id="26" name="Shape 23"/>
          <p:cNvSpPr/>
          <p:nvPr/>
        </p:nvSpPr>
        <p:spPr>
          <a:xfrm>
            <a:off x="5986120" y="4370832"/>
            <a:ext cx="219456" cy="0"/>
          </a:xfrm>
          <a:prstGeom prst="line">
            <a:avLst/>
          </a:prstGeom>
          <a:noFill/>
          <a:ln w="15875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27" name="Shape 24"/>
          <p:cNvSpPr/>
          <p:nvPr/>
        </p:nvSpPr>
        <p:spPr>
          <a:xfrm>
            <a:off x="6233008" y="3886200"/>
            <a:ext cx="1574749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6397600" y="3959352"/>
            <a:ext cx="130042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04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6397600" y="4224528"/>
            <a:ext cx="130042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chemeClr val="tx1"/>
                </a:solidFill>
              </a:rPr>
              <a:t>기획안 · 대본</a:t>
            </a:r>
            <a:endParaRPr lang="en-US" sz="1450" dirty="0"/>
          </a:p>
        </p:txBody>
      </p:sp>
      <p:sp>
        <p:nvSpPr>
          <p:cNvPr id="30" name="Shape 27"/>
          <p:cNvSpPr/>
          <p:nvPr/>
        </p:nvSpPr>
        <p:spPr>
          <a:xfrm>
            <a:off x="7835189" y="4370832"/>
            <a:ext cx="219456" cy="0"/>
          </a:xfrm>
          <a:prstGeom prst="line">
            <a:avLst/>
          </a:prstGeom>
          <a:noFill/>
          <a:ln w="15875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31" name="Shape 28"/>
          <p:cNvSpPr/>
          <p:nvPr/>
        </p:nvSpPr>
        <p:spPr>
          <a:xfrm>
            <a:off x="8082077" y="3886200"/>
            <a:ext cx="1574749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8246669" y="3959352"/>
            <a:ext cx="130042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05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8246669" y="4224528"/>
            <a:ext cx="130042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chemeClr val="tx1"/>
                </a:solidFill>
              </a:rPr>
              <a:t>스토리보드</a:t>
            </a:r>
            <a:endParaRPr lang="en-US" sz="1450" dirty="0"/>
          </a:p>
        </p:txBody>
      </p:sp>
      <p:sp>
        <p:nvSpPr>
          <p:cNvPr id="34" name="Shape 31"/>
          <p:cNvSpPr/>
          <p:nvPr/>
        </p:nvSpPr>
        <p:spPr>
          <a:xfrm>
            <a:off x="9684258" y="4370832"/>
            <a:ext cx="219456" cy="0"/>
          </a:xfrm>
          <a:prstGeom prst="line">
            <a:avLst/>
          </a:prstGeom>
          <a:noFill/>
          <a:ln w="15875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35" name="Shape 32"/>
          <p:cNvSpPr/>
          <p:nvPr/>
        </p:nvSpPr>
        <p:spPr>
          <a:xfrm>
            <a:off x="9931146" y="3886200"/>
            <a:ext cx="1574749" cy="960120"/>
          </a:xfrm>
          <a:prstGeom prst="roundRect">
            <a:avLst>
              <a:gd name="adj" fmla="val 7619"/>
            </a:avLst>
          </a:prstGeom>
          <a:solidFill>
            <a:schemeClr val="accent6"/>
          </a:solidFill>
          <a:ln/>
        </p:spPr>
      </p:sp>
      <p:sp>
        <p:nvSpPr>
          <p:cNvPr id="36" name="Text 33"/>
          <p:cNvSpPr txBox="1"/>
          <p:nvPr/>
        </p:nvSpPr>
        <p:spPr>
          <a:xfrm>
            <a:off x="10095738" y="3959352"/>
            <a:ext cx="130042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06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095738" y="4224528"/>
            <a:ext cx="130042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chemeClr val="tx1"/>
                </a:solidFill>
              </a:rPr>
              <a:t>채널 개설</a:t>
            </a:r>
            <a:endParaRPr lang="en-US" sz="1450" dirty="0"/>
          </a:p>
        </p:txBody>
      </p:sp>
      <p:sp>
        <p:nvSpPr>
          <p:cNvPr id="38" name="Shape 35"/>
          <p:cNvSpPr/>
          <p:nvPr/>
        </p:nvSpPr>
        <p:spPr>
          <a:xfrm>
            <a:off x="685800" y="5257800"/>
            <a:ext cx="10820095" cy="512064"/>
          </a:xfrm>
          <a:prstGeom prst="roundRect">
            <a:avLst>
              <a:gd name="adj" fmla="val 14286"/>
            </a:avLst>
          </a:prstGeom>
          <a:solidFill>
            <a:schemeClr val="accent6"/>
          </a:solidFill>
          <a:ln/>
        </p:spPr>
      </p:sp>
      <p:sp>
        <p:nvSpPr>
          <p:cNvPr id="39" name="Text 36"/>
          <p:cNvSpPr txBox="1"/>
          <p:nvPr/>
        </p:nvSpPr>
        <p:spPr>
          <a:xfrm>
            <a:off x="960120" y="5257800"/>
            <a:ext cx="1027145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오늘 고른 크루 베스트 컷이 여러분 채널의 첫 영상이 될 수도 있어요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A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56</a:t>
            </a:fld>
            <a:endParaRPr lang="en-US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ARUBIT/build/.cache/s1/img01_gra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/home/user/MARUBIT/build/.cache/s1/overla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 0"/>
          <p:cNvSpPr/>
          <p:nvPr>
            <p:ph idx="100" type="title" hasCustomPrompt="1"/>
          </p:nvPr>
        </p:nvSpPr>
        <p:spPr>
          <a:xfrm>
            <a:off x="685800" y="2331720"/>
            <a:ext cx="69494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800" b="1" dirty="0">
                <a:solidFill>
                  <a:schemeClr val="bg1"/>
                </a:solidFill>
              </a:rPr>
              <a:t>AI는 장비,</a:t>
            </a:r>
            <a:endParaRPr lang="en-US" sz="4800" dirty="0"/>
          </a:p>
          <a:p>
            <a:pPr algn="l" indent="0" marL="0">
              <a:buNone/>
            </a:pPr>
            <a:r>
              <a:rPr lang="en-US" sz="4800" b="1" dirty="0">
                <a:solidFill>
                  <a:schemeClr val="bg1"/>
                </a:solidFill>
              </a:rPr>
              <a:t>연출은 당신</a:t>
            </a:r>
            <a:endParaRPr lang="en-US" sz="48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685800" y="4206240"/>
            <a:ext cx="6583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accent6"/>
                </a:solidFill>
              </a:rPr>
              <a:t>오늘 기른 '보는 눈'이 6번의 수업 내내 모든 것의 바닥이 됩니다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rew Tree">
  <a:themeElements>
    <a:clrScheme name="Crew Tree">
      <a:dk1>
        <a:srgbClr val="1B211E"/>
      </a:dk1>
      <a:lt1>
        <a:srgbClr val="FFFFFF"/>
      </a:lt1>
      <a:dk2>
        <a:srgbClr val="121816"/>
      </a:dk2>
      <a:lt2>
        <a:srgbClr val="F3F6F4"/>
      </a:lt2>
      <a:accent1>
        <a:srgbClr val="D6A23C"/>
      </a:accent1>
      <a:accent2>
        <a:srgbClr val="1F5A43"/>
      </a:accent2>
      <a:accent3>
        <a:srgbClr val="B8473E"/>
      </a:accent3>
      <a:accent4>
        <a:srgbClr val="3B6F97"/>
      </a:accent4>
      <a:accent5>
        <a:srgbClr val="6E7A74"/>
      </a:accent5>
      <a:accent6>
        <a:srgbClr val="F2E3B8"/>
      </a:accent6>
      <a:hlink>
        <a:srgbClr val="3B6F97"/>
      </a:hlink>
      <a:folHlink>
        <a:srgbClr val="6E4E8E"/>
      </a:folHlink>
    </a:clrScheme>
    <a:fontScheme name="Crew Tree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57</Slides>
  <Notes>57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57</vt:i4>
      </vt:variant>
    </vt:vector>
  </HeadingPairs>
  <TitlesOfParts>
    <vt:vector size="6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촬영편집 1회차 — 보는 눈</dc:title>
  <dc:subject>PptxGenJS Presentation</dc:subject>
  <dc:creator>촬영편집 강사</dc:creator>
  <cp:lastModifiedBy>촬영편집 강사</cp:lastModifiedBy>
  <cp:revision>1</cp:revision>
  <dcterms:created xsi:type="dcterms:W3CDTF">2026-10-20T18:16:01Z</dcterms:created>
  <dcterms:modified xsi:type="dcterms:W3CDTF">2026-10-20T18:16:01Z</dcterms:modified>
</cp:coreProperties>
</file>