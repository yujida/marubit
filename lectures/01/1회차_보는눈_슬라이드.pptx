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</p:sldIdLst>
  <p:notesMasterIdLst>
    <p:notesMasterId r:id="rId9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514251f-a2a0-d97a-eb34-ffb1b243b823}">
          <p14:sldIdLst>
            <p14:sldId id="256"/>
            <p14:sldId id="257"/>
          </p14:sldIdLst>
        </p14:section>
        <p14:section name="1교시 OT와 과정 지도" id="{2c2b57e0-b724-5f41-d275-19c92c86f0d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2교시 영상 콘텐츠, 지금 어떻게 만들어지나" id="{5b41cdc4-975f-8165-d760-3b1e06235881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3교시 카메라의 원리 ① 사진" id="{c5bed09c-28e3-69a5-dd6b-37908d6fd5f1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4교시 카메라의 원리 ② 영상" id="{e2c5f543-4cb8-8a54-032f-ff02b0b05af7}">
          <p14:sldIdLst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5교시 화면의 언어와 빛" id="{7d4a7aa2-bdc1-18e3-e6d4-c1ecae450d8e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6교시 움직임 · 컷 · 소리, 그리고 장비" id="{ac78b9ee-a88a-464e-c857-edd4655d4fe3}">
          <p14:sldIdLst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7교시 촬영 리뷰와 공유" id="{a1a5741a-fa9d-8b2f-9142-db9663f3af64}">
          <p14:sldIdLst>
            <p14:sldId id="341"/>
            <p14:sldId id="342"/>
            <p14:sldId id="343"/>
            <p14:sldId id="344"/>
            <p14:sldId id="345"/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notesMaster" Target="notesMasters/notesMaster1.xml"/><Relationship Id="rId94" Type="http://schemas.openxmlformats.org/officeDocument/2006/relationships/presProps" Target="presProps.xml"/><Relationship Id="rId95" Type="http://schemas.openxmlformats.org/officeDocument/2006/relationships/viewProps" Target="viewProps.xml"/><Relationship Id="rId96" Type="http://schemas.openxmlformats.org/officeDocument/2006/relationships/theme" Target="theme/theme1.xml"/><Relationship Id="rId9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[10:00 시작 전] 입장하는 대로 크루 자리로 안내합니다(크루 편성표를 책상 위에).
첫 멘트: "오늘부터 6번, 여러분은 각자 자기 채널 하나를 키웁니다. 첫날인 오늘은 '보는 눈'을 만드는 날이에요."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흐름을 30초 안에. "오전엔 큰 그림, 오후엔 카메라 원리와 실습." 매 교시 50분 수업 + 10분 휴식, 점심 11:50–12:40.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[10:00–10:50] 목표: 과정 전체 그림 + 크루 결성 + 수업 도구 세팅 + 첫 기획 연습(한 줄 소개).
시간: 과정 지도 10분 → 크루 10분 → 세팅 15분 → 한 줄 소개 15분.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[10:02] 과정 전체를 크리스마스 트리 한 그루로.
- 화분(1회): 보는 눈. 카메라와 화면의 언어가 모든 것의 바닥.
- 줄기(2회 + 3주 과제): 내 채널 기획안. 2회차에 유튜브 채널을 엽니다.
- 오너먼트(3·4회): 숏폼, 브이로그, 정보성, 스트리머형, AI 영상을 하나씩.
- 별(5회): 브랜딩과 후킹으로 대표작 리뉴얼.
- 점등식(6회 12/10): 우리끼리 채널을 처음부터 다시 보는 상영회.
"연습용으로 만들고 버리는 영상은 없습니다. 전부 여러분 채널에 남아요."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[10:05] 결과물을 숫자로 약속합니다. "수료할 때 각자 유튜브 채널 하나, 영상 7편 이상, 기획안, 제작 노트가 남습니다. 취업 포트폴리오로 바로 씁니다."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[10:07] 수업이 끝날 때마다 단톡방과 드라이브로 나눠 주는 것들. "복습은 이걸로 하시면 됩니다. 놓친 부분이 있어도 괜찮아요."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[10:08] 과정 전체의 원칙. ChatGPT와 CapCut 유료 계정을 끝까지 쓰되, 결정과 책임은 사람에게.
매 실습마다 워크북에 "AI가 한 것 / 내가 고친 것"을 한 줄씩 → 6회차 제작 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[10:10] "영상은 각자 만들고, 배우는 건 같이. 누구도 뒤처지지 않게, 누구도 혼자 달리지 않게."
4개 크루(5~6명), 경험자와 입문자가 섞여 있고 짝이 정해져 있습니다. 역할은 2회차부터 명단 순서로 한 칸씩 돌아갑니다.
막힘 규칙: 3분 막히면 짝 → 5분 더 막히면 기술 도우미 → 그래도 안 되면 "강사 호출 카드".
개인 순위는 없습니다. 매 회차 목표는 "크루 전원 완료".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[10:13] 크루별 인사(이름 + 만들고 싶은 것 한 마디). 크루 이름은 7교시 전까지 크루가 직접 짓기(예: 별 · 종 · 방울 · 리본).
괄호는 1회차 역할. 설문 자기평가로 짠 1차 편성이라 오늘 실습을 보고 1~2명 조정할 수 있다고 미리 말해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[10:20–10:35] 크루장이 전원 완료를 확인하고 손을 듭니다. 기술 도우미는 막힌 사람부터.
- 단톡방: QR 또는 링크. 공지 · 과제 · 질문용.
- 구글 드라이브: 공유 폴더 → 크루 폴더 → 내 이름 폴더. 오늘 찍은 건 7교시에 여기로.
- CapCut PC: PC마다 설치 상태가 다릅니다. 실행해 보고 안 되면 설치 안내대로(못 하면 과제로).
- 유료 계정: ChatGPT와 CapCut 로그인 확인(10/21부터 사용 가능).
- 촬영 동의: 수업 장면을 찍어 6회차 브이로그에 쓰는 것에 대한 동의. 원하지 않으면 얼굴 없이 찍는다고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[10:35–10:50] 오늘의 첫 기획 연습이자 2회차 채널 소개글의 초안. "나를 모르는 사람 기준"은 2회차 기획 원칙 1번이기도 합니다.
진행: 3분 쓰기 → 짝에게 읽기("보고 싶다 / 아니다") → 3번 고쳐 쓰기 → 크루 안에서 발표.
AI는 후보만. 내 이야기와 맞는 단어만 가져오기(워크북 p.2). 말하기가 부담인 사람은 글로 보여줘도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[11:00–11:50] 목표: 영상 콘텐츠의 지형(형식 · 유형 · 플랫폼)과 프로의 제작 공정 7단계를 "카페 30초 릴스" 한 편으로 이해하기. AI가 각 단계에 들어가는 자리를 보며 6회 과정을 미리 보기.
시간: 도입 3분 → 콘텐츠 지도 10분 → 공정 7단계 5분 → 카페 릴스 따라가기 15분 → 프로덕션 vs 1인 + AI 9분 → 마스터링 · 규격 6분 → 정리 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[11:00] 크루별로 세어 보고 가장 많은 사람 손들기. 대부분 수십 편이 나옵니다.
"우리는 이미 영상을 아주 많이 '보는' 사람입니다. 오늘부터는 '만드는 사람의 눈'으로 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[11:03–11:13] 형식(숏폼 · 롱폼 · 라이브)과 유형을 한 장에. ●는 그 형식에서 흔히 보이는 조합이라는 뜻의 대략적인 지도입니다(정답표가 아님).
질문: "여러분이 저장해 둔 영상은 어느 칸에 많나요?"
4회차에 브이로그 · 정보성 · 스트리머형 · AI 영상을 각자 기획안에 오너먼트로 답니다. 브랜디드는 5회차 마케팅과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[11:13] 같은 영상도 어디에 올리느냐에 따라 역할이 다릅니다. 이 과정의 기록은 유튜브 채널에 쌓고, 사업 홍보가 목적인 분은 인스타그램 · 틱톡 동시 업로드를 권합니다.
(플랫폼 정책과 기능은 자주 바뀌니 성격 위주로 설명하세요.)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[11:15] 프로는 이 7단계를 거칩니다. 6번의 수업도 이 순서로 갑니다. 오늘은 3단계 '촬영'의 기초.
기획(누구에게·무엇을·왜) → 프리프로덕션(대본·콘티·장소·소품) → 촬영(빛·소리·샷) → 편집 → 마스터링(음량·색·규격·검수) → 발행(제목·썸네일·공개) → 분석(지표 → 다음 기획).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[11:20–11:28] 가상의 예시: 동네 카페 사장님이 직접 올리는 "비 오는 날 시그니처 라떼" 30초 릴스.
1) 기획: 누구에게(근처 직장인 20~30대) · 무엇을(비 오는 날 창가 자리와 라떼) · 왜(저장하고 찾아오게). 한 줄로: "비 오는 날, 여기 창가 자리 하나면 충분해요."
2) 프리프로덕션: 6컷 콘티(왼쪽 그림), 샷 리스트, 촬영 시간대(오전 창가빛), 소품(우산, 젖은 창).
3) 촬영: 5샷 시퀀스 + B롤(빗방울, 김 오르는 컵), 우유 붓는 장면은 60fps로 슬로 재료, 마지막에 룸톤 10초.
수강생 아이템(디저트 · 뷰티샵 · MD 상품)으로 바꿔 생각해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[11:28–11:35]
4) 편집: 0~3초 훅(우유가 퍼지는 슬로) → 3~24초 본론(창가 · 손 · 표정) → 24~30초 마무리(간판 + "저장해 두세요"). 자막 3역할, 음악 30~50%.
5) 마스터링: 목소리 &gt; 음악, 컷마다 색 통일, 자막 오탈자, 1080×1920 내보내기.
6) 발행: 커버 한 장, 캡션 첫 줄 = 훅 문장, 해시태그 2~3개, 위치 태그, AI를 썼다면 표시.
7) 분석: 3초에서 몇 명이 넘겼나, 저장은 몇 개인가 → "다음 편은 디저트로" 같은 다음 기획.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[11:35–11:39] 프로 현장은 역할을 나눠 맡고, 1인 크리에이터는 같은 역할을 혼자 합니다. 그래서 1인 크리에이터에게 AI는 '팀원'입니다.
"역할은 똑같습니다. 사람 수만 다를 뿐이에요."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[11:39–11:44] 7단계마다 AI가 거드는 일과 사람이 남는 일. 맨 오른쪽 칸은 이 과정에서 그 단계를 깊게 다루는 회차입니다. 6번의 수업 예고편으로 쓰세요.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[11:44–11:47] 프로가 반드시 하는 단계. 직접 해 보는 건 5회차, 오늘은 "편집이 끝이 아니다"만.
- 소리: 유튜브는 재생할 때 음량을 일정하게 맞춥니다(흔히 약 -14 LUFS로 알려짐). 무작정 키우지 말고, 목소리가 음악보다 항상 크게.
- 색 · 밝기: 클립마다 톤을 맞추기. 자막: 오탈자, 잘린 글자, 버튼에 가리는 위치. 내보내기 규격. 최종 검수: 소리 켜고 한 번, 끄고 한 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[11:47–11:50] 우리 수업의 기본은 세로 9:16, 1080×1920. 롱폼(브이로그 등)은 16:9. 세로 영상은 위 · 아래 · 오른쪽에 버튼과 캡션이 덮입니다(5교시에 다시). 길이 제한은 플랫폼이 자주 바꾸니 업로드할 때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[11:50] 점심 전 안내: 폰 충전, 저장공간 10GB 이상. 오후엔 폰을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[12:40–13:30] 목표: 노출 삼각형 · 화이트밸런스 · 초점과 심도 · 폰 렌즈를 이해하고 프로 모드로 바꿔 보기. 개념 25분 → 실습 25분. 디자인 전공자가 많으니 원리는 짧게, 예시는 사진으로.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[12:42] 밝기는 세 가지가 함께 정합니다. 하나로 밝게 만들면 나머지 둘 중 하나가 대가를 치러요.
조리개: 구멍 크기 → 배경 흐림 / 셔터스피드: 빛을 받는 시간 → 움직임 / ISO: 감도 → 노이즈.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[12:47] 숫자 방향을 헷갈려 하는 분이 많아요. "조리개는 숫자가 작을수록 밝다"만 확실히.
폰 조리개는 대부분 고정 → 배경 흐림은 '인물 모드'가 소프트웨어로 흉내. 대상에 가까이, 배경은 멀리.
어두우면 ISO가 올라가 노이즈 → 해결은 설정이 아니라 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[12:55] 같은 흰 종이도 전구 아래선 노랗게, 그늘에선 파랗게 찍힙니다(사진은 한 장을 세 가지 빛 색으로 바꿔 본 것).
자동 화이트밸런스는 찍는 도중 색이 바뀔 수 있어요 → 영상은 고정이 안전. 색이 다른 빛(창가 + 형광등)을 섞지 않기.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[13:00] 초점은 '보여주고 싶은 곳'에. 사람이면 눈. 심도는 선명한 범위: 얕으면 주인공만(감성), 깊으면 전부(정보).
렌즈: 0.5x는 넓지만 가장자리가 휘고 가까운 얼굴이 커 보임. 인물은 1x~3x로 조금 떨어져서. 배율 사이 디지털 줌은 화질 저하 → "줌 말고 발로."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[13:05–13:30] 짝끼리. 경험자가 설정 화면을 먼저 찾아 주세요.
갤럭시: 카메라 → 더보기 → 프로 / 프로 동영상. 아이폰: 기본 카메라는 노출 조절 위주 → 무료 수동 촬영 앱(예: Blackmagic Camera). 부담이면 인물 모드 · 노출 슬라이더로.
찍은 사진은 드라이브 '1회차/3교시'. 메뉴 이름은 기종 · 버전마다 조금씩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[13:40–14:30] 목표: 프레임레이트 · 셔터 2배 규칙 · 해상도를 이해하고, 편집에서 문제없는 폰 세팅을 함께 끝내기. 개념 20분 → 함께 세팅 15분 → 비교 촬영 15분.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[13:42] 24fps 영화 같은 느낌 / 30fps SNS 기본 · 우리 수업 기본 / 60fps 매끄러운 움직임, 편집에서 절반 속도로 늦추면 부드러운 슬로모션. 선의 촘촘함이 1초에 담기는 장면 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[13:48] 영상의 셔터는 프레임의 2배 정도가 기준. 훨씬 빠르면 움직임이 뚝뚝 끊겨 보여요. 30fps → 1/60, 60fps → 1/120.
실내 형광등 · LED 아래서 화면에 줄이 흐르면 셔터를 1/60이나 1/120으로(한국 전기는 60Hz). 밖이 너무 밝을 때 프로는 ND 필터를 쓰지만, 폰은 자동이 알아서 처리하니 크게 걱정하지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[13:53] 편집에서 생길 문제를 촬영 단계에서 막는 법.
- HDR 동영상(아이폰 'HDR 비디오', 갤럭시 'HDR10+'): 폰에선 화려해도 편집 · 다른 화면에서 색이 틀어져 보일 수 있어요 → 끄기.
- HEVC(고효율, H.265): 일부 PC에서 편집이 끊김 → 아이폰 '가장 호환성 높은 포맷', 갤럭시 '고효율 동영상' 끄기.
- 4K: 파일이 1080p의 약 4배, PC가 느려짐 → 수업 기본은 1080p. 메뉴 이름은 기종마다 조금씩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[13:58–14:13] 화면을 보면서 한 단계씩. 크루장은 전원 완료 확인.
아이폰: 설정 → 카메라 → 비디오 녹화 → 1080p 30fps / 같은 화면 'HDR 비디오' 끄기 / 포맷 → '가장 호환성 높은 포맷' / 격자 켜기.
갤럭시: 동영상 → 상단 해상도 FHD 30 / 설정 → 고급 동영상 옵션 → 고효율 동영상 · HDR10+ 끄기 / 수직 · 수평 안내선 켜기.
공통: 렌즈 닦기, 저장공간 10GB 이상, 방해 금지, 기본은 세로로.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[14:13] 잠그지 않으면 찍는 도중 밝기와 초점이 출렁입니다. 프로 영상과 아마추어 영상의 가장 쉬운 차이.
1) 찍을 대상을 길게 누르기 2) 잠금 표시(아이폰 AE/AF 잠금, 갤럭시 자물쇠) 3) 밝기 막대를 위아래로.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[14:15–14:30] 짝끼리. 같은 장면을 두 번씩. 드라이브 '1회차/4교시'.
30fps vs 60fps: 머리 넘기기, 물 따르기. 60fps는 3회차 편집에서 슬로모션으로 씁니다. 잠금 없이 vs 잠금: 창가를 지나가며.
경험자 도전: 갤럭시 프로 동영상으로 셔터 1/60 vs 1/1000.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[14:40–15:30] 목표: 샷 크기 · 앵글 · 구도 · 빛을 영어 용어와 함께(4회차 AI 프롬프트 어휘). 개념 25분 → 학교 공간 구도 미션 15분 → ChatGPT 피드백 10분.
확장판: 구도 10가지(한 장에 1분 안팎) + 구도 빙고가 들어 있어 50분을 넘깁니다. 시간이 모자라면 빙고와 구도 사진 미션 중 하나만.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[14:42] 영어 이름도 함께. 4회차에 이 단어가 그대로 AI 영상 프롬프트가 됩니다.
연결 공식: 어디서(와이드) → 누가 무엇을(미디엄) → 어떤 감정으로(클로즈업). 같은 크기를 연달아 붙이면 화면이 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[14:48] 카메라 높이가 감정을 만듭니다. 하이앵글 작고 귀엽게 / 아이레벨 자연스럽게(기본) / 로우앵글 크고 당당하게 / 탑뷰 음식 · 책상 · 손 작업(정보성 · 요리의 기본). 더치 앵글(기울이기)은 가끔만.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[14:52] 격자는 오전 세팅에서 켜 둔 그대로.
삼분할: 선이 만나는 네 점에 주인공, 눈은 위쪽 선에. 리딩 라인: 길 · 난간 · 복도의 선이 주인공을 가리키게. 프레임 속 프레임: 문 · 창문으로 한 번 더 감싸기. 대칭: 복도 · 건물 정면은 가운데.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"구도는 외우는 규칙이 아니라, 보는 사람의 시선을 어디로 보낼지 정하는 선택입니다."
    오늘은 10가지를 '이름과 느낌'까지만. 다 외울 필요 없고, 실습에서 3개 이상 찾아 찍으면 성공.
    흐름: 점(삼분할 · 교차점 · 황금비) → 선(수평 · 수직, 사선, S자, 유도선) → 도형(삼각형, 원형, 프레임).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격자는 오전에 켜 둔 그대로. 가운데 두기 vs 삼분할을 같은 장면으로 비교해 보여 주면 바로 이해합니다.
    느낌: 가운데를 비워 자연스럽고 여유 있는 균형
    이렇게 찍기: 격자를 켜고 주인공은 세로선 위에, 수평선은 가로선 위에. 가운데에 두는 습관부터 깨기.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시선 여백(looking room)과 함께 설명. 오른쪽을 보는 사람은 왼쪽 위 점, 왼쪽을 보는 사람은 오른쪽 위 점.
    느낌: 격자의 네 점은 시선이 가장 먼저 닿는 자리
    이렇게 찍기: 인물은 눈을, 물건은 핵심 부분(라떼아트 · 로고)을 점 위에. 보는 방향의 반대편 점을 고르면 앞에 여백이 생깁니다.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황금비는 '정답 공식'이 아니라 가이드라는 점을 분명히. 현장에서 나선을 맞추기는 어렵고, 편집 단계의 자르기에서 쓰기 좋습니다.
    느낌: 1 : 1.618. 삼분할보다 조금 더 안쪽, 더 우아한 흐름
    이렇게 찍기: 선을 3등분(33%) 대신 약 38% · 62% 자리에. 나선이 말려 들어가는 끝에 주인공을 두면 시선이 곡선을 타고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아이폰: 설정 &gt; 카메라 &gt; 수평계. 갤럭시: 카메라 설정 &gt; 수직/수평 안내선. 4교시에 켰는지 다시 확인.
    느낌: 가로선은 고요 · 안정 · 넓음, 세로선은 높이 · 힘 · 단단함
    이렇게 찍기: 수평선은 가운데 말고 위 1/3이나 아래 1/3에(하늘이 주인공이면 아래로). 수평계를 켜서 기울지 않게.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정면에서 찍은 계단 vs 비스듬히 찍은 계단을 비교. 인트로 · 운동 · 여행 숏폼에 자주 쓰는 구도.
    느낌: 움직임 · 속도 · 긴장. 멈춘 장면에도 방향이 생긴다
    이렇게 찍기: 계단 · 난간 · 그림자 · 길이 화면을 모서리에서 모서리로 가로지르게. 카메라를 기울이는 '더치 앵글'은 긴장을 줄 때만 짧게.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크루 단체 사진을 이 구도로 찍어 보게 하면 바로 실습이 됩니다. 대화 장면도 두 사람 + 앞의 물건이 삼각형.
    느낌: 바로 선 삼각형은 안정 · 든든함, 거꾸로 선 삼각형은 긴장
    이렇게 찍기: 셋을 일렬로 세우지 말고 높이를 다르게. 단체 사진은 가운데를 높게, 정물은 큰 것 하나 + 작은 것 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영상에서는 탑뷰로 접시를 천천히 돌리거나, 원을 따라 카메라가 도는 아크 샷으로 이어집니다(4회차 정보성 · 제품 리뷰).
    느낌: 시선이 화면 안을 돌며 머문다. 완결 · 조화 · 모임
    이렇게 찍기: 접시 · 컵 · 시계 같은 동그라미를 바로 위에서(탑뷰). 소품을 원을 따라 놓고 가운데에 주인공.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여행 · 산책 브이로그 오프닝에 좋습니다. 곡선 끝에 작은 인물을 두면 규모감까지.
    느낌: 부드러움 · 여유 · 깊이. 시선이 천천히 안쪽으로 걸어 들어간다
    이렇게 찍기: 가까운 아래에서 시작해 멀리 위로 사라지는 곡선 찾기. 조금 높은 곳에서 내려다보면 잘 보입니다. 한 번만 휘면 C자 곡선.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1회차 본편의 '리딩 라인'을 확장한 장. 브이로그 오프닝 단골: 복도 끝에서 걸어오는 나.
    느낌: 선들이 한 점으로 모이며 '여기를 보라'고 가리킨다. 깊이감
    이렇게 찍기: 복도 · 길 · 책상 줄의 선이 모이는 곳에 주인공. 폰을 무릎 높이로 낮추면 바닥 선이 길어져 효과가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이야기 속으로 '들어가는' 느낌을 줄 때. 6교시 5샷 시퀀스의 오프닝 샷으로 연결할 수 있습니다.
    느낌: 시선을 가두고 집중시킨다. 엿보는 느낌 · 앞뒤 깊이
    이렇게 찍기: 문 · 창문 · 나뭇가지 · 어깨 너머로 주인공을 한 번 더 감싸기. 앞의 틀은 어둡게, 주인공은 밝은 쪽에.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[보너스] 시간이 남으면. 대칭은 복도 · 건물 정면, 여백은 하늘 · 벽, 전경 겹치기는 화분 · 잎을 렌즈 앞에, 패턴과 깨기는 같은 의자 · 컵이 줄지어 있을 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[정리] 표는 워크북 · 핸드북에 그대로 넣을 수 있는 형태. "내 채널 아이템에 맞는 구도 두 개에 동그라미."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[14:56] 비우는 것도 구도입니다.
헤드룸: 머리 위는 손가락 한두 개만큼. 시선 여백: 보는 쪽 · 가는 쪽에 공간. 세로 안전 영역: 9:16의 위 · 아래 · 오른쪽은 버튼 · 캡션 · 프로필 자리 → 얼굴과 자막은 가운데 쪽. 수직선: 문틀 · 건물 세로선을 화면과 나란히.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[15:00] 같은 얼굴도 빛의 방향에 따라 다른 사람이 됩니다. 순광 밝고 선명 / 측광 입체감과 분위기 / 역광 얼굴이 어두움 → 흰 종이 반사판 / 그늘 부드럽고 고르게. 역광은 6교시에 강사 장비와 흰 종이로 직접.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[15:03] 프로의 기본 조명. 키(주 조명, 45도) + 필(반대쪽에서 그림자 채움) + 백(뒤에서 윤곽). 폰으로는 창문 = 키, 흰 종이 · 흰 벽 = 필, 뒤쪽 스탠드 = 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[실습] 크루별로 학교 공간에서 15분. 한 칸에 사진 한 장, 가로 · 세로 · 대각선 한 줄을 채우면 빙고.
    가운데 칸은 황금비 도전(어려우면 자유). 다른 사람이 나오면 동의 받기.
    돌아와서: 크루 베스트 1장을 ChatGPT에 올려 피드백 → 단톡방 공유.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[15:05–15:30] 학교 공간에서 15분, 돌아와서 ChatGPT 피드백 10분. 짝끼리 서로 모델이 되어 주기. 다른 사람이 나오면 동의 받기.
가장 자신 있는 1장을 ChatGPT에 올려 피드백. 워크북에 "AI가 맞게 본 것 하나 / 놓친 것 하나" → AI는 규칙을 보고, 사람은 의도를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[15:40–16:30] 목표: 안정 · 무빙 · 컷의 문법 · 녹음 기초 + 강사 장비 체험 + 5샷 시퀀스 촬영. 개념 20분 → 장비 시연 · 체험 10분 → 5샷 촬영 20분.
확장판: 현장 촬영 기법(무빙 · 렌즈와 초점 · 커버리지 · 화질과 소리 · 현장 운영 · 용어 · 미니 촬영 현장)이 들어 있어 50분을 크게 넘깁니다. 시간이 모자라면 화질과 소리 · 현장 운영은 핸드북 안내로, 미니 촬영 현장은 3회차 첫 실습으로.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[15:42] 흔들림은 자세로 먼저, 앱 보정은 그다음(보정은 화면을 잘라내서 화질이 떨어져요). 두 손, 팔꿈치는 몸에, 벽 · 기둥에 기대기. 걸을 땐 무릎을 살짝 굽히고 발뒤꿈치부터.
무빙 5가지와 영어 이름(4회차 프롬프트 어휘). 세 가지 약속: 한 클립에 한 움직임, 두 배 천천히, 시작과 끝 2초 멈추기.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오전까지가 '카메라 사용법'이었다면, 여기부터는 '현장의 일하는 방식'.
    장비가 폰이어도 방식은 똑같이 쓸 수 있습니다. 다섯 묶음: 무빙 → 렌즈와 초점 → 커버리지 → 화질 · 색 · 빛 · 소리 → 현장 운영.
    "이걸 다 외우자는 게 아니라, 현장 사람들이 왜 이렇게 일하는지 이유를 가져가자."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[무빙 ①] 오전의 팬 · 틸트는 '고개만 돌리기', 여기부터는 '카메라가 몸째 움직이기'.
    평면도 보는 법: 위에서 내려다본 그림. 흰 원 = 사람, 금색 부채꼴 = 카메라가 보는 범위, 흐린 카메라 = 출발 위치.
    달리: 줌과 달리 원근이 바뀐다(다음 장들에서). 트럭: 전경을 끼면 시차로 깊이감. 페디스털: 틸트와 헷갈리지 않기. 아크: 짐벌 실습 때 강사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[무빙 ②] 리빌: 숏폼 첫 1초 후킹에 강함. 휩 팬: 데이미언 셔젤 감독 영화(위플래시 · 라라랜드)에서 자주 보이는 전환.
    돌리 줌: 히치콕 〈현기증〉(1958)에서 유명해져 'Vertigo effect', 〈죠스〉(1975) 해변 장면도 유명.
    롱테이크: 〈1917〉은 영화 전체가 한 번에 찍은 것처럼 보이게 설계. 브이로그 오프닝 원테이크로 응용.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[무빙 실전] 표는 그대로 뒤의 장비 체험 때 체크리스트로 씁니다. 강사 짐벌로 아크 · 페디스털 · 휩 팬 시연 → 크루별 2분 체험.
    현장 기본: 움직임 시작 전 2초 정지, 끝나고 2초 정지(편집 손잡이). 빠른 휩 팬 외에는 생각보다 두 배 천천히.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[렌즈 ①] 현장에서 줌으로 '다가가기'를 잘 안 쓰는 이유: 줌은 확대일 뿐 원근(배경과 인물의 관계)이 그대로라 평면적.
    달리는 카메라가 실제로 움직여 배경과 인물의 관계가 바뀌어 입체적. 폰의 디지털 줌은 화질까지 떨어짐.
    돌리 줌: 카메라는 뒤로(또는 앞으로), 줌은 반대로 → 인물 크기는 같은데 배경만 변해 '세상이 흔들리는' 느낌. 도식: 금색 = 가까이서 넓게(배경이 넓게 보임), 흰색 = 멀리서 좁게.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[렌즈 ②] 세 칸 모두 인물 크기는 같게, 카메라 거리만 다르게 찍은 것. 광각은 배경이 작고 멀어지며 얼굴이 살짝 늘어남. 망원은 배경이 크게 다가오며(압축) 인물이 도드라짐.
    실무: 인물 클로즈업은 2~3x로 조금 떨어져서(얼굴 왜곡이 줄어 예쁘게). 공간 소개 · 좁은 방은 0.5x. 인터뷰 B캠은 3x.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[렌즈 ③] 랙 포커스: 앞사람 → 뒷사람(또는 물건 → 사람)으로 초점을 옮겨 '이제 이걸 보세요'라고 말하는 기법. 현장에서는 포커스 풀러가 거리를 재서 정확히 돌립니다.
    폰: ① 녹화 중 화면 탭(가장 쉬움, 속도는 폰이 정함) ② 아이폰 '시네마틱 모드'는 촬영 후 편집에서 초점을 바꿀 수 있음 ③ 수동 카메라 앱의 초점 링으로 천천히.
    심도가 얕아야 효과가 큼: 앞 물체에 가까이, 배경은 멀리. 3x 망원 + 가까운 전경이 쉬운 조합.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[15:47] 한 장면을 다섯 컷으로 찍으면 편집할 재료가 생깁니다(다큐 · 뉴스 촬영의 기본 공식).
1 손 클로즈업 2 얼굴 클로즈업 3 와이드 4 어깨너머 5 특이한 앵글. 컷마다 7초 이상, 두 번씩. ①과 ②는 같은 동작을 다른 크기로 → 편집에서 '동작 연결'.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[15:52] 편집에서 어색해지는 이유는 대부분 촬영 때 생깁니다.
180도 규칙: 두 사람 사이 가상의 선, 카메라는 한쪽에만. 넘으면 방향이 뒤집혀 보여요. 30도 규칙: 다시 찍을 땐 각도 30도 이상 또는 샷 크기 바꾸기(아니면 점프컷). B롤: 손 · 소품 · 공간 컷, 편집에서 자른 자리를 덮어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[커버리지 ①] 커버리지 = 편집자가 고를 수 있게 같은 장면을 여러 각도 · 크기로 확보하는 것. 한 컷이 망가져도 다른 각도로 살릴 수 있는 보험.
    보통 넓은 것에서 좁은 것으로: 마스터(전체 연기를 처음부터 끝까지) → 미디엄 → 어깨 너머 → 클로즈업 → 인서트 · 컷어웨이.
    인서트 = 마스터 안에 있던 행동을 다르게 보여 주기(손, 컵), 컷어웨이 = 마스터에 없던 것(창밖, 다른 손님).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[커버리지 ②] 평면도: A와 B가 마주 앉은 대화. 빨간 점선 = 180도 선(오전에 배운 그 선). 모든 카메라는 선의 한쪽에만.
    1 마스터 → 2 · 3 어깨 너머(OTS)로 숏-리버스 숏 → 4 · 5 클로즈업. 2와 3은 거울처럼 같은 거리 · 높이 · 렌즈로 찍어야 편집 때 자연스럽다.
    아이라인: A의 시선은 화면 오른쪽, B의 시선은 화면 왼쪽으로 일관되게.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[커버리지 ③] 정보성 · 브랜딩 영상의 기본은 인터뷰. 폰 두 대로 현장 방식 그대로.
    A캠 = 와이드(바스트, 정면에 가깝게), B캠 = 타이트(클로즈업, 45도 옆, 3x). 말을 잘라 붙일 때 A → B로 바꾸면 점프컷이 안 보입니다.
    시선: 인터뷰이는 카메라가 아니라 카메라 바로 옆의 인터뷰어를 봅니다. 정보 전달형 숏폼은 렌즈를 직접 보는 경우도 있어 의도에 따라 선택.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[커버리지 ④] 편집에서 어색한 것은 대부분 촬영에서 생깁니다.
    액션 겹쳐 찍기: 컵을 드는 동작을 와이드에서도 클로즈업에서도 처음부터 끝까지 → 편집에서 동작 중간에 자르면(컷 온 액션) 컷이 안 보입니다.
    핸들: 액션 전 2~3초, 컷 후 2~3초. 룸톤: 그 장소의 '조용한 소리' 30초 이상 → 대사 사이 빈 곳을 메움.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[15:56] 시청자는 흐린 화면은 참아도 안 들리는 소리는 못 참습니다.
폰과 입 사이 한 뼘 / 에어컨 · 냉장고 · 복도 소리 피하기 / 끝에 룸톤 10초(편집에서 빈 곳 메꾸기) / 현장음 살리기(음악으로 다 덮지 않기). 이어폰 마이크나 핀마이크가 있으면 훨씬 깨끗합니다.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[화질 ①] 180도 셔터 법칙: 셔터 속도 ≈ 1 / (fps × 2). 24fps → 1/50, 30fps → 1/60, 60fps → 1/120. 사람 눈에 자연스러운 움직임 번짐.
    밝은 야외에서 폰은 조리개가 고정이라 셔터를 빠르게 올려 버림 → 움직임이 뚝뚝 끊김 → 현장은 ND 필터(렌즈용 선글라스)로 빛을 줄여 셔터를 지킴. 폰용 클립 ND가 있음.
    기본 카메라 앱은 셔터를 못 바꾸는 경우가 많음: 갤럭시 '프로 동영상', 아이폰 · 일부 갤럭시 · 픽셀은 무료 Blackmagic Camera 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[화질 ②] 현장 색의 원칙: 촬영 중에 색이 변하면 안 된다(자동 화이트밸런스가 컷마다 바뀌는 것이 아마추어 티의 1순위).
    두 대 이상이면 같은 기종 · 같은 설정, 시작할 때 흰 종이 · 회색 카드를 같이 찍어 두면 편집에서 맞추기 쉬움.
    Log: 색을 일부러 밋밋하게 찍어 편집에서 넓게 보정하는 방식. 아이폰 15 Pro 이후의 Apple Log 등. 보정(LUT 적용)을 꼭 해야 하므로 초보는 기본 색으로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[화질 ③] 오전의 3점 조명을 현장 방식으로 확장.
    모티베이티드: 화면 속에 빛의 '이유'(창문 · 스탠드)가 있는 방향에서 비추기 → 자연스러움. 네거티브 필: 검은 천 · 옷으로 한쪽 빛을 막아 입체감 만들기(빛을 더하는 게 아니라 빼기).
    실용 조명(Practicals): 화면 안에 보이는 스탠드 · 전구 · 모니터. 매직아워: 해 뜬 직후 · 해 지기 직전의 부드러운 빛, 블루아워는 해 진 직후.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[화질 ④] 오전의 '소리는 영상의 절반'을 현장 방식으로.
    이중 녹음: 핀마이크(무선) + 폰 자체 녹음을 동시에 → 하나가 끊겨도 산다. 레벨: 말소리의 가장 큰 순간이 -12dB 근처, 0dB(빨간색)에 닿으면 깨져서 복구 불가.
    와일드 트랙: 화면 없이 소리만 따로(문 닫는 소리, 발소리, 대사 한 번 더). 손뼉 싱크는 뒤의 콜 순서 슬라이드에서.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[현장 운영 ①] 영화 현장은 정해진 순서로 말하고 대답합니다. 소리를 먼저 돌려야 테이크 앞부분 소리를 잃지 않기 때문에 사운드가 먼저.
    조감독: "롤 사운드" → 녹음: "스피드" → 조감독: "롤 카메라" → 촬영: "롤링" → 슬레이트: "마커"(딱!) → 감독: "액션" → 감독: "컷".
    팀마다 조금씩 다르고(동시에 돌리는 '턴오버' 등) 슬레이트는 보통 촬영부(세컨드)가 칩니다. 우리 크루 버전은 아래 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[현장 운영 ②] 슬레이트: 화면에 씬 · 컷 · 테이크 번호를 남기고, '딱' 소리로 소리와 화면을 맞춥니다. 폰 현장은 손뼉 + 종이에 번호를 써서 2초 비추기, 또는 슬레이트 앱.
    숏리스트: 찍을 컷의 목록. 2교시의 카페 릴스를 숏리스트로 바꾸면 이렇게 됩니다. 2회차 기획안의 스토리보드가 현장에서는 이 표가 됩니다.
    좋은 테이크 표시: 찍자마자 사진 앱에서 '하트'(즐겨찾기) → 편집 때 OK컷만 바로 찾기.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[현장 운영 ③] 스크립터(스크립트 수퍼바이저)는 컷과 컷이 이어지는지 기록하는 사람. 컵의 물 높이, 손에 든 쪽, 머리카락, 소품 위치.
    우리 크루는 기록 담당이 매 컷 끝나고 사진 한 장 → 다음 각도 찍을 때 비교.
    데이터: 현장 백업 담당(DIT)이 당일에 복사 · 확인. 우리는 3-2-1 규칙과 파일명 규칙.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[정리] 크루 단톡방에 그대로 올려 두기. 오늘 실습부터 이 말로 소통합니다.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[16:00–16:10] 강사 장비를 보여 주고 크루별로 2분씩 돌려 쓰기(나머지 크루는 5샷 시퀀스 계획).
삼각대: 고정 샷 · 혼자 찍는 토크 · 타임랩스. 무선 핀마이크: 인터뷰 · 토크 · 내레이션(폰 마이크와 같은 문장으로 비교). 짐벌: 걷거나 따라가며, 대신 무겁고 세팅 시간이 들어요. "사기 전에 자세부터."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[16:10–16:30] 짝 중 한 사람이 행동하고 한 사람이 찍기 → 바꾸기. 행동은 내 아이템과 관련 있으면 더 좋아요. 컷마다 7초 이상, 두 번씩, 앞뒤 2초 멈춤, 모두 AE/AF 잠금. 크루 기록 담당은 이 장면을 찍어 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[실습] 크루별로 30초 대화 장면 하나를 '현장 방식'으로. 장면 예: 카페에서 커피를 건네며 한마디 주고받기.
    역할: 감독(콜) · 촬영 · 녹음(두 번째 폰) · 슬레이트 겸 기록 · 배우 2명. 6명 크루는 촬영 B캠 추가.
    순서: 블로킹 3분 → 마스터 → 어깨 너머 2컷 → 인서트 1컷 → 룸톤 30초. 끝나면 숏리스트에 OK 체크, 드라이브 업로드.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[16:40–17:30] 목표: 오늘 찍은 것을 드라이브에 모으고, 크루 리뷰로 '고르는 눈'을 기르고, 크루 베스트 컷 선정. 업로드 10분 → 크루 리뷰 20분 → 베스트 컷 공유 10분 → 정리 · 과제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[16:40–17:10] 1) 드라이브: 공유 폴더 → 크루 폴더 → 내 이름 → 1회차(파일이 크면 폰 앱에서 바로) 2) 한 사람씩 5샷 시퀀스를 크루에게, 첫 시청자가 먼저 칭찬 1 + 제안 1 3) 체크: 세로 · 흔들림 · 밝기 출렁임 · 초점 · 소리 4) 크루 베스트 컷 1개 → 2회차 첫 업로드 재료. 크루 이름도 이때.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[17:10] 한 줄씩 짚고, 크루에서 "오늘 제일 기억에 남는 것" 하나씩.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[17:15] 과제는 단톡방에도. 제출은 드라이브 '1회차 과제'.
1) 마음에 드는 콘텐츠 10편 저장 + 왜 좋은지 한 줄씩 → 2회차 레퍼런스 해부 재료. 2) "내가 만들고 싶은 채널" 한 줄. 3) CapCut PC 설치가 안 된 사람은 안내대로. 선택: 5샷 시퀀스를 내 아이템으로 하나 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[17:20] 2회차: 아이템 찾기 → 레퍼런스 해부 → 채널 콘셉트 → 기획안 · 대본 → 스토리보드 → 그리고 유튜브 채널을 엽니다. 강사도 같은 날 새 채널을 엽니다. "오늘 고른 베스트 컷이 첫 영상이 될 수도 있어요."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[17:25] 마무리 인사. 크루장은 크루 전원이 드라이브 업로드를 마쳤는지 확인하고 해산. 크루 트리 현황판에 첫 오너먼트(베스트 컷) 붙이기.
수업 후: 요약 영상(진행안의 대본), 단톡방에 핸드북 1장 · 치트시트 · 과제 공지.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3317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420624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2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324612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4480560"/>
            <a:ext cx="7132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AI콘텐츠 크리에이터 실무 · 촬영편집 1회차 — 보는 눈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2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103120"/>
            <a:ext cx="9784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188720" y="3977640"/>
            <a:ext cx="9784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image" Target="../media/image-17-6.jp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image" Target="../media/image-38-3.jpg"/><Relationship Id="rId4" Type="http://schemas.openxmlformats.org/officeDocument/2006/relationships/image" Target="../media/image-38-4.jpg"/><Relationship Id="rId5" Type="http://schemas.openxmlformats.org/officeDocument/2006/relationships/image" Target="../media/image-38-5.jp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image" Target="../media/image-39-3.jpg"/><Relationship Id="rId4" Type="http://schemas.openxmlformats.org/officeDocument/2006/relationships/image" Target="../media/image-39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image" Target="../media/image-40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image" Target="../media/image-41-7.png"/><Relationship Id="rId8" Type="http://schemas.openxmlformats.org/officeDocument/2006/relationships/image" Target="../media/image-41-8.png"/><Relationship Id="rId9" Type="http://schemas.openxmlformats.org/officeDocument/2006/relationships/image" Target="../media/image-41-9.png"/><Relationship Id="rId10" Type="http://schemas.openxmlformats.org/officeDocument/2006/relationships/image" Target="../media/image-41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jpg"/><Relationship Id="rId3" Type="http://schemas.openxmlformats.org/officeDocument/2006/relationships/image" Target="../media/image-55-3.jpg"/><Relationship Id="rId4" Type="http://schemas.openxmlformats.org/officeDocument/2006/relationships/image" Target="../media/image-55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image" Target="../media/image-57-7.png"/><Relationship Id="rId8" Type="http://schemas.openxmlformats.org/officeDocument/2006/relationships/image" Target="../media/image-57-8.png"/><Relationship Id="rId9" Type="http://schemas.openxmlformats.org/officeDocument/2006/relationships/image" Target="../media/image-57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image" Target="../media/image-68-2.jpg"/><Relationship Id="rId3" Type="http://schemas.openxmlformats.org/officeDocument/2006/relationships/image" Target="../media/image-68-3.jpg"/><Relationship Id="rId4" Type="http://schemas.openxmlformats.org/officeDocument/2006/relationships/image" Target="../media/image-68-4.jpg"/><Relationship Id="rId5" Type="http://schemas.openxmlformats.org/officeDocument/2006/relationships/image" Target="../media/image-68-5.jp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image" Target="../media/image-7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image" Target="../media/image-8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image" Target="../media/image-85-4.png"/><Relationship Id="rId5" Type="http://schemas.openxmlformats.org/officeDocument/2006/relationships/image" Target="../media/image-8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RUBIT/build/.cache/s1/img01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RUBIT/build/.cache/s1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AI콘텐츠 크리에이터 실무 · 촬영편집</a:t>
            </a:r>
            <a:endParaRPr lang="en-US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85800" y="23317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1회차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보는 눈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85800" y="4206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프로처럼 보고, 정석대로 찍는 날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2026. 10. 22 (목)  ·  10:00–17:30  ·  1공학관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1회차 · 보는 눈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오늘의 시간표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645920"/>
            <a:ext cx="3108960" cy="434340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5840" y="1920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10:00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– 17:30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5204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CE"/>
                </a:solidFill>
              </a:rPr>
              <a:t>7교시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3CE"/>
                </a:solidFill>
              </a:rPr>
              <a:t>50분 수업 + 10분 휴식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3CE"/>
                </a:solidFill>
              </a:rPr>
              <a:t>점심 11:50–12:40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5120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오전 큰 그림 → 오후 카메라와 실습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69080" y="1645920"/>
            <a:ext cx="7436815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51960" y="1645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1645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10:00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1645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OT · 크루 · 세팅 · 한 줄 자기소개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0012680" y="1645920"/>
            <a:ext cx="1310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한 줄 소개, 크루와 짝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069080" y="2267712"/>
            <a:ext cx="743681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51960" y="226771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617720" y="22677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11:00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22677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영상 콘텐츠, 지금 어떻게 만들어지나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267712"/>
            <a:ext cx="1310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제작 공정 지도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069080" y="2889504"/>
            <a:ext cx="7436815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251960" y="288950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617720" y="288950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12:40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28895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카메라의 원리 ① 사진: 노출 · 색 · 초점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10012680" y="2889504"/>
            <a:ext cx="1310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설정별 비교 사진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069080" y="3511296"/>
            <a:ext cx="743681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251960" y="351129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617720" y="35112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13:40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0" y="351129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카메라의 원리 ② 영상: 프레임 · 셔터 · 세팅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10012680" y="3511296"/>
            <a:ext cx="1310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내 폰 세팅 완료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069080" y="4133088"/>
            <a:ext cx="7436815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251960" y="413308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41330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14:40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0" y="41330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화면의 언어와 빛: 샷 · 앵글 · 구도 · 조명</a:t>
            </a:r>
            <a:endParaRPr lang="en-US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10012680" y="4133088"/>
            <a:ext cx="1310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구도 사진 + AI 피드백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069080" y="4754880"/>
            <a:ext cx="743681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251960" y="4754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4617720" y="4754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15:40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0" y="4754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움직임 · 컷 · 소리 + 장비 체험</a:t>
            </a:r>
            <a:endParaRPr lang="en-US" sz="1450" dirty="0"/>
          </a:p>
        </p:txBody>
      </p:sp>
      <p:sp>
        <p:nvSpPr>
          <p:cNvPr id="39" name="Text 36"/>
          <p:cNvSpPr txBox="1"/>
          <p:nvPr/>
        </p:nvSpPr>
        <p:spPr>
          <a:xfrm>
            <a:off x="10012680" y="4754880"/>
            <a:ext cx="1310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5샷 시퀀스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069080" y="5376672"/>
            <a:ext cx="7436815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251960" y="537667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7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4617720" y="53766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16:40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0" y="5376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촬영 리뷰 · 크루 베스트 컷 · 과제</a:t>
            </a:r>
            <a:endParaRPr lang="en-US" sz="1450" dirty="0"/>
          </a:p>
        </p:txBody>
      </p:sp>
      <p:sp>
        <p:nvSpPr>
          <p:cNvPr id="44" name="Text 41"/>
          <p:cNvSpPr txBox="1"/>
          <p:nvPr/>
        </p:nvSpPr>
        <p:spPr>
          <a:xfrm>
            <a:off x="10012680" y="5376672"/>
            <a:ext cx="1310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베스트 컷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RUBIT/build/.cache/s1/img02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RUBIT/build/.cache/s1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3258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01</a:t>
            </a:r>
            <a:endParaRPr lang="en-US" sz="11000" dirty="0"/>
          </a:p>
        </p:txBody>
      </p:sp>
      <p:sp>
        <p:nvSpPr>
          <p:cNvPr id="5" name="Text 1"/>
          <p:cNvSpPr txBox="1"/>
          <p:nvPr/>
        </p:nvSpPr>
        <p:spPr>
          <a:xfrm>
            <a:off x="758952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1교시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85800" y="3246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OT와 과정 지도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85800" y="44805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10:00–10:50  ·  우리가 6번 동안 무엇을 키우는지, 누구와 함께 가는지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1교시 · OT와 과정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6번의 수업, 나무 한 그루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475488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/>
        </p:spPr>
      </p:sp>
      <p:sp>
        <p:nvSpPr>
          <p:cNvPr id="13" name="Shape 10"/>
          <p:cNvSpPr/>
          <p:nvPr/>
        </p:nvSpPr>
        <p:spPr>
          <a:xfrm>
            <a:off x="2148840" y="2057400"/>
            <a:ext cx="1828800" cy="1280160"/>
          </a:xfrm>
          <a:prstGeom prst="triangle">
            <a:avLst/>
          </a:prstGeom>
          <a:solidFill>
            <a:srgbClr val="2E7D57"/>
          </a:solidFill>
          <a:ln/>
        </p:spPr>
      </p:sp>
      <p:sp>
        <p:nvSpPr>
          <p:cNvPr id="14" name="Shape 11"/>
          <p:cNvSpPr/>
          <p:nvPr/>
        </p:nvSpPr>
        <p:spPr>
          <a:xfrm>
            <a:off x="1737360" y="2697480"/>
            <a:ext cx="2651760" cy="1508760"/>
          </a:xfrm>
          <a:prstGeom prst="triangle">
            <a:avLst/>
          </a:prstGeom>
          <a:solidFill>
            <a:srgbClr val="2A7050"/>
          </a:solidFill>
          <a:ln/>
        </p:spPr>
      </p:sp>
      <p:sp>
        <p:nvSpPr>
          <p:cNvPr id="15" name="Shape 12"/>
          <p:cNvSpPr/>
          <p:nvPr/>
        </p:nvSpPr>
        <p:spPr>
          <a:xfrm>
            <a:off x="1325880" y="3429000"/>
            <a:ext cx="3474720" cy="1600200"/>
          </a:xfrm>
          <a:prstGeom prst="triangle">
            <a:avLst/>
          </a:prstGeom>
          <a:solidFill>
            <a:srgbClr val="25654A"/>
          </a:solidFill>
          <a:ln/>
        </p:spPr>
      </p:sp>
      <p:sp>
        <p:nvSpPr>
          <p:cNvPr id="16" name="Shape 13"/>
          <p:cNvSpPr/>
          <p:nvPr/>
        </p:nvSpPr>
        <p:spPr>
          <a:xfrm>
            <a:off x="2880360" y="5029200"/>
            <a:ext cx="365760" cy="320040"/>
          </a:xfrm>
          <a:prstGeom prst="rect">
            <a:avLst/>
          </a:prstGeom>
          <a:solidFill>
            <a:srgbClr val="8A7A62"/>
          </a:solidFill>
          <a:ln/>
        </p:spPr>
      </p:sp>
      <p:sp>
        <p:nvSpPr>
          <p:cNvPr id="17" name="Shape 14"/>
          <p:cNvSpPr/>
          <p:nvPr/>
        </p:nvSpPr>
        <p:spPr>
          <a:xfrm flipV="1">
            <a:off x="2423160" y="5349240"/>
            <a:ext cx="1280160" cy="457200"/>
          </a:xfrm>
          <a:prstGeom prst="trapezoid">
            <a:avLst/>
          </a:prstGeom>
          <a:solidFill>
            <a:schemeClr val="accent3"/>
          </a:solidFill>
          <a:ln/>
        </p:spPr>
      </p:sp>
      <p:sp>
        <p:nvSpPr>
          <p:cNvPr id="18" name="Shape 15"/>
          <p:cNvSpPr/>
          <p:nvPr/>
        </p:nvSpPr>
        <p:spPr>
          <a:xfrm>
            <a:off x="2761488" y="1737360"/>
            <a:ext cx="603504" cy="566928"/>
          </a:xfrm>
          <a:prstGeom prst="star5">
            <a:avLst/>
          </a:prstGeom>
          <a:solidFill>
            <a:schemeClr val="accent1"/>
          </a:solidFill>
          <a:ln/>
        </p:spPr>
      </p:sp>
      <p:sp>
        <p:nvSpPr>
          <p:cNvPr id="19" name="Shape 16"/>
          <p:cNvSpPr/>
          <p:nvPr/>
        </p:nvSpPr>
        <p:spPr>
          <a:xfrm>
            <a:off x="2926080" y="292608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Shape 17"/>
          <p:cNvSpPr/>
          <p:nvPr/>
        </p:nvSpPr>
        <p:spPr>
          <a:xfrm>
            <a:off x="2377440" y="3749040"/>
            <a:ext cx="274320" cy="274320"/>
          </a:xfrm>
          <a:prstGeom prst="ellipse">
            <a:avLst/>
          </a:prstGeom>
          <a:solidFill>
            <a:srgbClr val="E8C46A"/>
          </a:solidFill>
          <a:ln/>
        </p:spPr>
      </p:sp>
      <p:sp>
        <p:nvSpPr>
          <p:cNvPr id="21" name="Shape 18"/>
          <p:cNvSpPr/>
          <p:nvPr/>
        </p:nvSpPr>
        <p:spPr>
          <a:xfrm>
            <a:off x="3474720" y="379476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Shape 19"/>
          <p:cNvSpPr/>
          <p:nvPr/>
        </p:nvSpPr>
        <p:spPr>
          <a:xfrm>
            <a:off x="1874520" y="457200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Shape 20"/>
          <p:cNvSpPr/>
          <p:nvPr/>
        </p:nvSpPr>
        <p:spPr>
          <a:xfrm>
            <a:off x="3931920" y="452628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Shape 21"/>
          <p:cNvSpPr/>
          <p:nvPr/>
        </p:nvSpPr>
        <p:spPr>
          <a:xfrm>
            <a:off x="2880360" y="4480560"/>
            <a:ext cx="274320" cy="274320"/>
          </a:xfrm>
          <a:prstGeom prst="ellipse">
            <a:avLst/>
          </a:prstGeom>
          <a:solidFill>
            <a:srgbClr val="E8C46A"/>
          </a:solidFill>
          <a:ln/>
        </p:spPr>
      </p:sp>
      <p:sp>
        <p:nvSpPr>
          <p:cNvPr id="25" name="Shape 22"/>
          <p:cNvSpPr/>
          <p:nvPr/>
        </p:nvSpPr>
        <p:spPr>
          <a:xfrm>
            <a:off x="5669280" y="1600200"/>
            <a:ext cx="5836615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26" name="Shape 23"/>
          <p:cNvSpPr/>
          <p:nvPr/>
        </p:nvSpPr>
        <p:spPr>
          <a:xfrm>
            <a:off x="5870448" y="185623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309360" y="1691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별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17099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5회 · 12/1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309360" y="20208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브랜딩 · 후킹으로 대표작 리뉴얼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669280" y="2505456"/>
            <a:ext cx="5836615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31" name="Shape 28"/>
          <p:cNvSpPr/>
          <p:nvPr/>
        </p:nvSpPr>
        <p:spPr>
          <a:xfrm>
            <a:off x="5870448" y="2761488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309360" y="2596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오너먼트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26151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3·4회 · 11/19 · 11/26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309360" y="29260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숏폼 · 브이로그 · 정보성 · 스트리머형 · AI 영상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669280" y="3410712"/>
            <a:ext cx="5836615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36" name="Shape 33"/>
          <p:cNvSpPr/>
          <p:nvPr/>
        </p:nvSpPr>
        <p:spPr>
          <a:xfrm>
            <a:off x="5870448" y="3666744"/>
            <a:ext cx="274320" cy="274320"/>
          </a:xfrm>
          <a:prstGeom prst="ellipse">
            <a:avLst/>
          </a:prstGeom>
          <a:solidFill>
            <a:srgbClr val="8A7A6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309360" y="3502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줄기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7589520" y="35204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2회 · 10/30 + 3주 과제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309360" y="38313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채널 기획안 · 채널 개설 · 스토리보드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669280" y="4315968"/>
            <a:ext cx="5836615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41" name="Shape 38"/>
          <p:cNvSpPr/>
          <p:nvPr/>
        </p:nvSpPr>
        <p:spPr>
          <a:xfrm>
            <a:off x="5870448" y="457200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309360" y="44074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화분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589520" y="44256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1회 · 오늘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309360" y="473659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보는 눈: 촬영 이론 + 프로의 제작 공정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669280" y="5221224"/>
            <a:ext cx="5836615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46" name="Shape 43"/>
          <p:cNvSpPr/>
          <p:nvPr/>
        </p:nvSpPr>
        <p:spPr>
          <a:xfrm>
            <a:off x="5870448" y="547725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309360" y="53126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점등식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7589520" y="53309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6회 · 12/10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6309360" y="56418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채널을 처음부터 다시 보는 상영회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1교시 · OT와 과정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12월 10일, 여러분 손에 남는 것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2499284" cy="3291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1874520"/>
            <a:ext cx="18592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1</a:t>
            </a:r>
            <a:endParaRPr lang="en-US" sz="64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01752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채널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566160"/>
            <a:ext cx="18592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3CE"/>
                </a:solidFill>
              </a:rPr>
              <a:t>내 유튜브 채널. 2회차에 열고 매 회차 영상이 쌓여요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459404" y="1645920"/>
            <a:ext cx="2499284" cy="3291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779444" y="1874520"/>
            <a:ext cx="18592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7+</a:t>
            </a:r>
            <a:endParaRPr lang="en-US" sz="6400" dirty="0"/>
          </a:p>
        </p:txBody>
      </p:sp>
      <p:sp>
        <p:nvSpPr>
          <p:cNvPr id="18" name="Text 15"/>
          <p:cNvSpPr txBox="1"/>
          <p:nvPr/>
        </p:nvSpPr>
        <p:spPr>
          <a:xfrm>
            <a:off x="3779444" y="301752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영상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3779444" y="3566160"/>
            <a:ext cx="18592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3CE"/>
                </a:solidFill>
              </a:rPr>
              <a:t>숏폼부터 브이로그, AI 영상, 대표작까지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233008" y="1645920"/>
            <a:ext cx="2499284" cy="3291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553048" y="1874520"/>
            <a:ext cx="18592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1</a:t>
            </a:r>
            <a:endParaRPr lang="en-US" sz="6400" dirty="0"/>
          </a:p>
        </p:txBody>
      </p:sp>
      <p:sp>
        <p:nvSpPr>
          <p:cNvPr id="22" name="Text 19"/>
          <p:cNvSpPr txBox="1"/>
          <p:nvPr/>
        </p:nvSpPr>
        <p:spPr>
          <a:xfrm>
            <a:off x="6553048" y="301752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기획안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553048" y="3566160"/>
            <a:ext cx="18592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3CE"/>
                </a:solidFill>
              </a:rPr>
              <a:t>누구에게, 무엇을, 왜. 스토리보드 포함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006611" y="1645920"/>
            <a:ext cx="2499284" cy="3291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326651" y="1874520"/>
            <a:ext cx="18592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1</a:t>
            </a:r>
            <a:endParaRPr lang="en-US" sz="6400" dirty="0"/>
          </a:p>
        </p:txBody>
      </p:sp>
      <p:sp>
        <p:nvSpPr>
          <p:cNvPr id="26" name="Text 23"/>
          <p:cNvSpPr txBox="1"/>
          <p:nvPr/>
        </p:nvSpPr>
        <p:spPr>
          <a:xfrm>
            <a:off x="9326651" y="301752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제작 노트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326651" y="3566160"/>
            <a:ext cx="18592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3CE"/>
                </a:solidFill>
              </a:rPr>
              <a:t>사람이 한 것 / AI가 도운 것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85800" y="52578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60120" y="52578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연습용으로 만들고 버리는 영상은 없습니다. 전부 여러분 채널에 남아 6회차에 처음부터 다시 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1교시 · OT와 과정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매 회차 받아 가는 것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2499284" cy="29260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06764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전자책 한 장씩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3063240"/>
            <a:ext cx="19506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수업 내용 + 더 깊은 설명 + 실무 팁. 6회차에 한 권으로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459404" y="1645920"/>
            <a:ext cx="2499284" cy="29260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733724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Mag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25" y="206764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733724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프롬프트북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3733724" y="3063240"/>
            <a:ext cx="19506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그대로 복사하는 완성형 + 내 것으로 채우는 빈칸형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233008" y="1645920"/>
            <a:ext cx="2499284" cy="29260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6507328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Play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729" y="20676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507328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요약 영상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507328" y="3063240"/>
            <a:ext cx="19506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수업 다음 날 1~2분, 그날 핵심 3가지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9006611" y="1645920"/>
            <a:ext cx="2499284" cy="29260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9280931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9" name="Image 3" descr="FaFil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333" y="2067641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280931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양식 · 치트시트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280931" y="3063240"/>
            <a:ext cx="19506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폰 세팅표, 촬영 용어집, 기획안, 스토리보드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685800" y="489204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60120" y="489204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전자책 · 프롬프트북 · 요약 영상 · 양식은 매 회차 끝에 단톡방과 드라이브로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1교시 · OT와 과정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AI는 장비, 연출은 사람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5272888" cy="3749040"/>
          </a:xfrm>
          <a:prstGeom prst="roundRect">
            <a:avLst>
              <a:gd name="adj" fmla="val 1951"/>
            </a:avLst>
          </a:prstGeom>
          <a:solidFill>
            <a:schemeClr val="tx2"/>
          </a:solidFill>
          <a:ln/>
        </p:spPr>
      </p:sp>
      <p:sp>
        <p:nvSpPr>
          <p:cNvPr id="13" name="Shape 10"/>
          <p:cNvSpPr/>
          <p:nvPr/>
        </p:nvSpPr>
        <p:spPr>
          <a:xfrm>
            <a:off x="6233008" y="1645920"/>
            <a:ext cx="5272888" cy="3749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26302C"/>
          </a:solidFill>
          <a:ln/>
        </p:spPr>
      </p:sp>
      <p:pic>
        <p:nvPicPr>
          <p:cNvPr id="1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086661"/>
            <a:ext cx="307238" cy="30723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553048" y="1920240"/>
            <a:ext cx="640080" cy="64008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7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68" y="20866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288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사람의 몫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7376008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AI의 몫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1051560" y="2880360"/>
            <a:ext cx="4632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정하기 — 무엇을, 누구에게, 왜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현장 — 진짜 장소 · 사람 · 감정을 찍기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고르기 — 고르고, 버리고, 순서 정하기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책임 — 초상권 · 저작권 · AI 표시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598768" y="2880360"/>
            <a:ext cx="4632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초안 — 아이디어 · 대본 · 자막 · 캡션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반복 작업 — 받아쓰기 · 보정 · 잡음 제거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불가능한 장면 — 찍을 수 없는 장면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두 번째 의견 — 구도 · 흐름 피드백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매 실습마다 워크북에 "AI가 한 것 / 내가 고친 것" 한 줄 → 6회차 제작 노트가 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1교시 · OT와 과정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영상은 각자, 배움은 크루로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249928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Fl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06764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크루장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3063240"/>
            <a:ext cx="1950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시간 · 진행 체크, 크루 전원 완료 확인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459404" y="1645920"/>
            <a:ext cx="249928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733724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Too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25" y="206764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733724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기술 도우미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3733724" y="3063240"/>
            <a:ext cx="1950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CapCut · AI 질문 1차 해결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33008" y="1645920"/>
            <a:ext cx="249928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6507328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Vide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729" y="20676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507328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기록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507328" y="3063240"/>
            <a:ext cx="1950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수업 장면 촬영 → 6회차 브이로그 재료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9006611" y="1645920"/>
            <a:ext cx="249928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9280931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9" name="Image 3" descr="Fa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333" y="2067641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280931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첫 시청자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280931" y="3063240"/>
            <a:ext cx="1950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크루 영상을 먼저 보고 칭찬 1 + 제안 1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68580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막혔을 때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685800" y="4663440"/>
            <a:ext cx="3154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34" name="Shape 27"/>
          <p:cNvSpPr/>
          <p:nvPr/>
        </p:nvSpPr>
        <p:spPr>
          <a:xfrm>
            <a:off x="868680" y="477316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86868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3분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1554480" y="4663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짝에게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3950208" y="5047488"/>
            <a:ext cx="4572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4526280" y="4663440"/>
            <a:ext cx="3154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39" name="Shape 32"/>
          <p:cNvSpPr/>
          <p:nvPr/>
        </p:nvSpPr>
        <p:spPr>
          <a:xfrm>
            <a:off x="4709160" y="477316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470916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+5분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5394960" y="4663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기술 도우미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7790688" y="5047488"/>
            <a:ext cx="4572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3" name="Shape 36"/>
          <p:cNvSpPr/>
          <p:nvPr/>
        </p:nvSpPr>
        <p:spPr>
          <a:xfrm>
            <a:off x="8366760" y="4663440"/>
            <a:ext cx="315468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/>
        </p:spPr>
      </p:sp>
      <p:sp>
        <p:nvSpPr>
          <p:cNvPr id="44" name="Shape 37"/>
          <p:cNvSpPr/>
          <p:nvPr/>
        </p:nvSpPr>
        <p:spPr>
          <a:xfrm>
            <a:off x="8549640" y="477316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854964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그래도</a:t>
            </a:r>
            <a:endParaRPr lang="en-US" sz="1100" dirty="0"/>
          </a:p>
        </p:txBody>
      </p:sp>
      <p:sp>
        <p:nvSpPr>
          <p:cNvPr id="46" name="Text 39"/>
          <p:cNvSpPr txBox="1"/>
          <p:nvPr/>
        </p:nvSpPr>
        <p:spPr>
          <a:xfrm>
            <a:off x="9235440" y="4663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강사 호출 카드</a:t>
            </a:r>
            <a:endParaRPr lang="en-US" sz="1600" dirty="0"/>
          </a:p>
        </p:txBody>
      </p:sp>
      <p:sp>
        <p:nvSpPr>
          <p:cNvPr id="47" name="Text 40"/>
          <p:cNvSpPr txBox="1"/>
          <p:nvPr/>
        </p:nvSpPr>
        <p:spPr>
          <a:xfrm>
            <a:off x="685800" y="571500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개인 순위는 없습니다. 매 회차 목표는 "크루 전원 완료"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1교시 · OT와 과정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크루를 소개합니다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2499284" cy="39776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" y="1645920"/>
            <a:ext cx="2499284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1874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01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1938528"/>
            <a:ext cx="1310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크루 1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2606040"/>
            <a:ext cx="20878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(크루장)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(기술 도우미)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(기록)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(첫 시청자)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59404" y="1645920"/>
            <a:ext cx="2499284" cy="39776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3459404" y="1645920"/>
            <a:ext cx="2499284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33724" y="1874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02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4510964" y="1938528"/>
            <a:ext cx="1310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크루 2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3733724" y="2606040"/>
            <a:ext cx="20878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(크루장)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(기술 도우미)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(기록)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(첫 시청자)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33008" y="1645920"/>
            <a:ext cx="2499284" cy="39776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6233008" y="1645920"/>
            <a:ext cx="2499284" cy="731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07328" y="1874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03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7284568" y="1938528"/>
            <a:ext cx="1310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크루 3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2606040"/>
            <a:ext cx="20878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(크루장)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(기술 도우미)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(기록)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(첫 시청자)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006611" y="1645920"/>
            <a:ext cx="2499284" cy="39776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8" name="Shape 25"/>
          <p:cNvSpPr/>
          <p:nvPr/>
        </p:nvSpPr>
        <p:spPr>
          <a:xfrm>
            <a:off x="9006611" y="1645920"/>
            <a:ext cx="2499284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280931" y="1874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04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10058171" y="1938528"/>
            <a:ext cx="1310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크루 4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9280931" y="2606040"/>
            <a:ext cx="20878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(크루장)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(기술 도우미)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(기록)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 (첫 시청자)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________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58064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크루 이름은 오늘 7교시 전까지 크루가 직접 짓습니다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1교시 · OT와 과정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지금 함께 세팅해요 · 15분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645920"/>
            <a:ext cx="198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85800" y="2148840"/>
            <a:ext cx="1981139" cy="265176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242316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5" name="Image 0" descr="FaCom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570561"/>
            <a:ext cx="272125" cy="27212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60120" y="3136392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단톡방 입장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3566160"/>
            <a:ext cx="14324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공지 · 과제 · 질문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2895539" y="1645920"/>
            <a:ext cx="198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2895539" y="2148840"/>
            <a:ext cx="1981139" cy="265176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20" name="Shape 16"/>
          <p:cNvSpPr/>
          <p:nvPr/>
        </p:nvSpPr>
        <p:spPr>
          <a:xfrm>
            <a:off x="3169859" y="242316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1" name="Image 1" descr="FaGoogleDri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260" y="2570561"/>
            <a:ext cx="272125" cy="27212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169859" y="3136392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드라이브 폴더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3169859" y="3566160"/>
            <a:ext cx="14324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크루 폴더 → 내 이름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5105278" y="1645920"/>
            <a:ext cx="198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5105278" y="2148840"/>
            <a:ext cx="1981139" cy="265176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26" name="Shape 21"/>
          <p:cNvSpPr/>
          <p:nvPr/>
        </p:nvSpPr>
        <p:spPr>
          <a:xfrm>
            <a:off x="5379598" y="242316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7" name="Image 2" descr="FaDesk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999" y="2570561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379598" y="3136392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CapCut 확인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5379598" y="3566160"/>
            <a:ext cx="14324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PC에서 실행되는지, 안 되면 안내대로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7315017" y="1645920"/>
            <a:ext cx="198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04</a:t>
            </a:r>
            <a:endParaRPr lang="en-US" sz="2200" dirty="0"/>
          </a:p>
        </p:txBody>
      </p:sp>
      <p:sp>
        <p:nvSpPr>
          <p:cNvPr id="31" name="Shape 25"/>
          <p:cNvSpPr/>
          <p:nvPr/>
        </p:nvSpPr>
        <p:spPr>
          <a:xfrm>
            <a:off x="7315017" y="2148840"/>
            <a:ext cx="1981139" cy="265176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32" name="Shape 26"/>
          <p:cNvSpPr/>
          <p:nvPr/>
        </p:nvSpPr>
        <p:spPr>
          <a:xfrm>
            <a:off x="7589337" y="242316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33" name="Image 3" descr="FaK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738" y="2570561"/>
            <a:ext cx="272125" cy="27212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589337" y="3136392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계정 로그인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7589337" y="3566160"/>
            <a:ext cx="14324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ChatGPT · CapCut 유료 계정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9524756" y="1645920"/>
            <a:ext cx="198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05</a:t>
            </a:r>
            <a:endParaRPr lang="en-US" sz="2200" dirty="0"/>
          </a:p>
        </p:txBody>
      </p:sp>
      <p:sp>
        <p:nvSpPr>
          <p:cNvPr id="37" name="Shape 30"/>
          <p:cNvSpPr/>
          <p:nvPr/>
        </p:nvSpPr>
        <p:spPr>
          <a:xfrm>
            <a:off x="9524756" y="2148840"/>
            <a:ext cx="1981139" cy="265176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38" name="Shape 31"/>
          <p:cNvSpPr/>
          <p:nvPr/>
        </p:nvSpPr>
        <p:spPr>
          <a:xfrm>
            <a:off x="9799076" y="242316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39" name="Image 4" descr="FaHandshak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6477" y="2570561"/>
            <a:ext cx="272125" cy="27212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799076" y="3136392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촬영 동의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9799076" y="3566160"/>
            <a:ext cx="14324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수업 장면 → 6회차 브이로그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685800" y="512064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960120" y="512064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크루장은 크루 전원이 끝나면 손을 들어 주세요. 기술 도우미는 막힌 사람부터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1교시 · OT와 과정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첫 기획: 이름 대신, 나를 설명하는 한 줄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10820095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164592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___ 한   ___ 의   ___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154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이런 느낌으로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5661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10년 만에 다시 출근하는 엄마의 첫 출근 준비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요리 30년 차가 처음 찍는 유튜브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퇴근 후 30분, 동네를 걷는 직장인의 산책 기록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72200" y="3154680"/>
            <a:ext cx="533369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400800" y="3319272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ChatGPT에 이렇게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3630168"/>
            <a:ext cx="48764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나는 [하는 일]이고 [좋아하는 것]을 좋아해. 이름 없이 나를 소개하는 한 줄 후보 10개를 줘. 처음 보는 사람이 "보고 싶다"고 느끼게.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3분 쓰기 → 짝에게 읽기 → 3번 고쳐 쓰기. 최종 한 줄은 내가 고릅니다 (워크북 p.2)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RUBIT/build/.cache/s1/img03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RUBIT/build/.cache/s1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3258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02</a:t>
            </a:r>
            <a:endParaRPr lang="en-US" sz="11000" dirty="0"/>
          </a:p>
        </p:txBody>
      </p:sp>
      <p:sp>
        <p:nvSpPr>
          <p:cNvPr id="5" name="Text 1"/>
          <p:cNvSpPr txBox="1"/>
          <p:nvPr/>
        </p:nvSpPr>
        <p:spPr>
          <a:xfrm>
            <a:off x="758952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2교시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85800" y="3246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영상 콘텐츠, 지금 어떻게 만들어지나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85800" y="44805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11:00–11:50  ·  우리가 매일 보는 영상의 지도와, 한 편이 만들어지는 과정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10312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오늘 아침부터 지금까지,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영상 몇 편 보셨나요?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188720" y="39776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숏폼 하나를 1편으로 셉니다. 크루에서 가장 많이 본 사람은?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2교시 · 영상 콘텐츠, 지금 어떻게 만들어지나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영상 콘텐츠 지도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70408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914400"/>
                <a:gridCol w="914400"/>
                <a:gridCol w="16459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유형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숏폼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롱폼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라이브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이 과정에서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브이로그 · 일상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4회차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정보성 · 하우투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4회차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리뷰 · 언박싱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4회차 (라이브커머스)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토크 · 리액션 · 스트리머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4회차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AI 영상 · 숏드라마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4회차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브랜디드 · 광고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5회차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8046720" y="1645920"/>
            <a:ext cx="3459175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3210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숏폼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8321040" y="2148840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15~90초 세로 영상. 쇼츠 · 릴스 · 틱톡. 발견되는 곳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2862072"/>
            <a:ext cx="3459175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321040" y="2999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롱폼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3364992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몇 분 이상 가로 영상. 깊이와 신뢰가 쌓이는 곳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046720" y="4078224"/>
            <a:ext cx="3459175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321040" y="42153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라이브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8321040" y="4581144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실시간 방송. 소통과 판매(라이브커머스)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85800" y="5440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● 그 형식에서 흔한 조합 (대략적인 지도)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2교시 · 영상 콘텐츠, 지금 어떻게 만들어지나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플랫폼마다 성격이 다르다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3423818" cy="4206240"/>
          </a:xfrm>
          <a:prstGeom prst="roundRect">
            <a:avLst>
              <a:gd name="adj" fmla="val 2137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1005840" y="1920240"/>
            <a:ext cx="685800" cy="68580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Yout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48" y="20985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74520" y="2011680"/>
            <a:ext cx="2052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유튜브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283464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검색과 추천이 함께 일하고, 영상이 오래 쌓이는 곳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1005840" y="384048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강한 형식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411480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롱폼 · 쇼츠 · 라이브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05840" y="466344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이렇게 쓰자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005840" y="493776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우리 수업의 기록 채널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383938" y="1645920"/>
            <a:ext cx="3423818" cy="4206240"/>
          </a:xfrm>
          <a:prstGeom prst="roundRect">
            <a:avLst>
              <a:gd name="adj" fmla="val 2137"/>
            </a:avLst>
          </a:prstGeom>
          <a:solidFill>
            <a:schemeClr val="bg2"/>
          </a:solidFill>
          <a:ln/>
        </p:spPr>
      </p:sp>
      <p:sp>
        <p:nvSpPr>
          <p:cNvPr id="22" name="Shape 18"/>
          <p:cNvSpPr/>
          <p:nvPr/>
        </p:nvSpPr>
        <p:spPr>
          <a:xfrm>
            <a:off x="4703978" y="1920240"/>
            <a:ext cx="685800" cy="68580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3" name="Image 1" descr="FaInst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286" y="209854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572658" y="2011680"/>
            <a:ext cx="2052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인스타그램</a:t>
            </a:r>
            <a:endParaRPr lang="en-US" sz="2100" dirty="0"/>
          </a:p>
        </p:txBody>
      </p:sp>
      <p:sp>
        <p:nvSpPr>
          <p:cNvPr id="25" name="Text 20"/>
          <p:cNvSpPr txBox="1"/>
          <p:nvPr/>
        </p:nvSpPr>
        <p:spPr>
          <a:xfrm>
            <a:off x="4703978" y="283464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관계와 브랜드의 얼굴. 팔로워와 가까운 곳</a:t>
            </a:r>
            <a:endParaRPr lang="en-US" sz="1450" dirty="0"/>
          </a:p>
        </p:txBody>
      </p:sp>
      <p:sp>
        <p:nvSpPr>
          <p:cNvPr id="26" name="Text 21"/>
          <p:cNvSpPr txBox="1"/>
          <p:nvPr/>
        </p:nvSpPr>
        <p:spPr>
          <a:xfrm>
            <a:off x="4703978" y="384048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강한 형식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4703978" y="411480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릴스 · 캐러셀 · 스토리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4703978" y="466344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이렇게 쓰자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4703978" y="493776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가게 · 개인 브랜드 홍보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8082077" y="1645920"/>
            <a:ext cx="3423818" cy="4206240"/>
          </a:xfrm>
          <a:prstGeom prst="roundRect">
            <a:avLst>
              <a:gd name="adj" fmla="val 2137"/>
            </a:avLst>
          </a:prstGeom>
          <a:solidFill>
            <a:schemeClr val="bg2"/>
          </a:solidFill>
          <a:ln/>
        </p:spPr>
      </p:sp>
      <p:sp>
        <p:nvSpPr>
          <p:cNvPr id="31" name="Shape 26"/>
          <p:cNvSpPr/>
          <p:nvPr/>
        </p:nvSpPr>
        <p:spPr>
          <a:xfrm>
            <a:off x="8402117" y="1920240"/>
            <a:ext cx="685800" cy="68580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32" name="Image 2" descr="FaTikt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425" y="2098548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270797" y="2011680"/>
            <a:ext cx="2052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틱톡</a:t>
            </a:r>
            <a:endParaRPr lang="en-US" sz="2100" dirty="0"/>
          </a:p>
        </p:txBody>
      </p:sp>
      <p:sp>
        <p:nvSpPr>
          <p:cNvPr id="34" name="Text 28"/>
          <p:cNvSpPr txBox="1"/>
          <p:nvPr/>
        </p:nvSpPr>
        <p:spPr>
          <a:xfrm>
            <a:off x="8402117" y="283464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발견과 트렌드. 소리와 밈이 퍼지는 속도가 빠른 곳</a:t>
            </a:r>
            <a:endParaRPr lang="en-US" sz="1450" dirty="0"/>
          </a:p>
        </p:txBody>
      </p:sp>
      <p:sp>
        <p:nvSpPr>
          <p:cNvPr id="35" name="Text 29"/>
          <p:cNvSpPr txBox="1"/>
          <p:nvPr/>
        </p:nvSpPr>
        <p:spPr>
          <a:xfrm>
            <a:off x="8402117" y="384048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강한 형식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8402117" y="411480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짧은 세로 영상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8402117" y="466344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이렇게 쓰자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8402117" y="493776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새로운 사람에게 닿기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2교시 · 영상 콘텐츠, 지금 어떻게 만들어지나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프로의 제작 공정 7단계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828800"/>
            <a:ext cx="1373298" cy="2926080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2011680"/>
            <a:ext cx="10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260604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기획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338328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누구에게 · 무엇을 · 왜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251960"/>
            <a:ext cx="10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260266" y="1828800"/>
            <a:ext cx="1373298" cy="2926080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443146" y="2011680"/>
            <a:ext cx="10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2443146" y="260604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프리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프로덕션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443146" y="338328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대본 · 콘티 · 장소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2443146" y="4251960"/>
            <a:ext cx="10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2회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834732" y="1828800"/>
            <a:ext cx="1373298" cy="2926080"/>
          </a:xfrm>
          <a:prstGeom prst="roundRect">
            <a:avLst>
              <a:gd name="adj" fmla="val 5327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017612" y="2011680"/>
            <a:ext cx="10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4017612" y="260604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촬영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017612" y="338328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3CE"/>
                </a:solidFill>
              </a:rPr>
              <a:t>빛 · 소리 · 샷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4017612" y="4251960"/>
            <a:ext cx="10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오늘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09199" y="1828800"/>
            <a:ext cx="1373298" cy="2926080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592079" y="2011680"/>
            <a:ext cx="10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04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5592079" y="260604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편집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592079" y="338328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컷 · 자막 · 음악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592079" y="4251960"/>
            <a:ext cx="10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3·4회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983665" y="1828800"/>
            <a:ext cx="1373298" cy="2926080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166545" y="2011680"/>
            <a:ext cx="10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05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7166545" y="260604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마스터링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166545" y="338328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음량 · 색 · 규격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7166545" y="4251960"/>
            <a:ext cx="10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5회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558131" y="1828800"/>
            <a:ext cx="1373298" cy="2926080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741011" y="2011680"/>
            <a:ext cx="10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06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8741011" y="260604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발행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8741011" y="338328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제목 · 썸네일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8741011" y="4251960"/>
            <a:ext cx="10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2회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10132597" y="1828800"/>
            <a:ext cx="1373298" cy="2926080"/>
          </a:xfrm>
          <a:prstGeom prst="roundRect">
            <a:avLst>
              <a:gd name="adj" fmla="val 5327"/>
            </a:avLst>
          </a:prstGeom>
          <a:solidFill>
            <a:schemeClr val="bg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10315477" y="2011680"/>
            <a:ext cx="10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07</a:t>
            </a:r>
            <a:endParaRPr lang="en-US" sz="2200" dirty="0"/>
          </a:p>
        </p:txBody>
      </p:sp>
      <p:sp>
        <p:nvSpPr>
          <p:cNvPr id="44" name="Text 41"/>
          <p:cNvSpPr txBox="1"/>
          <p:nvPr/>
        </p:nvSpPr>
        <p:spPr>
          <a:xfrm>
            <a:off x="10315477" y="260604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분석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10315477" y="3383280"/>
            <a:ext cx="1098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지표 → 다음 기획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15477" y="4251960"/>
            <a:ext cx="10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5회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85800" y="512064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960120" y="512064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오늘은 3단계 '촬영'의 기초. 카드 아래 숫자는 각 단계를 깊게 배우는 회차입니다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2교시 · 영상 콘텐츠, 지금 어떻게 만들어지나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한 편 따라가기 ① 카페 30초 릴스: 기획 → 촬영</a:t>
            </a:r>
            <a:endParaRPr lang="en-US" sz="2800" dirty="0"/>
          </a:p>
        </p:txBody>
      </p:sp>
      <p:pic>
        <p:nvPicPr>
          <p:cNvPr id="12" name="Image 0" descr="카페 릴스 콘티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1901952" cy="1901952"/>
          </a:xfrm>
          <a:prstGeom prst="rect">
            <a:avLst/>
          </a:prstGeom>
        </p:spPr>
      </p:pic>
      <p:pic>
        <p:nvPicPr>
          <p:cNvPr id="13" name="Image 1" descr="카페 릴스 콘티 2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60904" y="1645920"/>
            <a:ext cx="1901952" cy="1901952"/>
          </a:xfrm>
          <a:prstGeom prst="rect">
            <a:avLst/>
          </a:prstGeom>
        </p:spPr>
      </p:pic>
      <p:pic>
        <p:nvPicPr>
          <p:cNvPr id="14" name="Image 2" descr="카페 릴스 콘티 3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36008" y="1645920"/>
            <a:ext cx="1901952" cy="1901952"/>
          </a:xfrm>
          <a:prstGeom prst="rect">
            <a:avLst/>
          </a:prstGeom>
        </p:spPr>
      </p:pic>
      <p:pic>
        <p:nvPicPr>
          <p:cNvPr id="15" name="Image 3" descr="카페 릴스 콘티 4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" y="3621024"/>
            <a:ext cx="1901952" cy="1901952"/>
          </a:xfrm>
          <a:prstGeom prst="rect">
            <a:avLst/>
          </a:prstGeom>
        </p:spPr>
      </p:pic>
      <p:pic>
        <p:nvPicPr>
          <p:cNvPr id="16" name="Image 4" descr="카페 릴스 콘티 5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660904" y="3621024"/>
            <a:ext cx="1901952" cy="1901952"/>
          </a:xfrm>
          <a:prstGeom prst="rect">
            <a:avLst/>
          </a:prstGeom>
        </p:spPr>
      </p:pic>
      <p:pic>
        <p:nvPicPr>
          <p:cNvPr id="17" name="Image 5" descr="카페 릴스 콘티 6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636008" y="3621024"/>
            <a:ext cx="1901952" cy="1901952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812280" y="1645920"/>
            <a:ext cx="4693615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9" name="Text 10"/>
          <p:cNvSpPr txBox="1"/>
          <p:nvPr/>
        </p:nvSpPr>
        <p:spPr>
          <a:xfrm>
            <a:off x="7040880" y="1764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 기획</a:t>
            </a:r>
            <a:endParaRPr lang="en-US" sz="1500" dirty="0"/>
          </a:p>
        </p:txBody>
      </p:sp>
      <p:sp>
        <p:nvSpPr>
          <p:cNvPr id="20" name="Text 11"/>
          <p:cNvSpPr txBox="1"/>
          <p:nvPr/>
        </p:nvSpPr>
        <p:spPr>
          <a:xfrm>
            <a:off x="7040880" y="2084832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근처 직장인에게, 비 오는 날 창가 자리와 라떼를, 저장하고 찾아오게</a:t>
            </a:r>
            <a:endParaRPr lang="en-US" sz="1250" dirty="0"/>
          </a:p>
        </p:txBody>
      </p:sp>
      <p:sp>
        <p:nvSpPr>
          <p:cNvPr id="21" name="Text 12"/>
          <p:cNvSpPr txBox="1"/>
          <p:nvPr/>
        </p:nvSpPr>
        <p:spPr>
          <a:xfrm>
            <a:off x="7040880" y="251460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"비 오는 날, 여기 창가 자리 하나면 충분해요"</a:t>
            </a:r>
            <a:endParaRPr lang="en-US" sz="1150" dirty="0"/>
          </a:p>
        </p:txBody>
      </p:sp>
      <p:sp>
        <p:nvSpPr>
          <p:cNvPr id="22" name="Shape 13"/>
          <p:cNvSpPr/>
          <p:nvPr/>
        </p:nvSpPr>
        <p:spPr>
          <a:xfrm>
            <a:off x="6812280" y="2971800"/>
            <a:ext cx="4693615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3" name="Text 14"/>
          <p:cNvSpPr txBox="1"/>
          <p:nvPr/>
        </p:nvSpPr>
        <p:spPr>
          <a:xfrm>
            <a:off x="7040880" y="3090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2 프리프로덕션</a:t>
            </a:r>
            <a:endParaRPr lang="en-US" sz="1500" dirty="0"/>
          </a:p>
        </p:txBody>
      </p:sp>
      <p:sp>
        <p:nvSpPr>
          <p:cNvPr id="24" name="Text 15"/>
          <p:cNvSpPr txBox="1"/>
          <p:nvPr/>
        </p:nvSpPr>
        <p:spPr>
          <a:xfrm>
            <a:off x="7040880" y="3410712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6컷 콘티 · 샷 리스트 · 오전 창가빛 · 소품(우산, 젖은 창)</a:t>
            </a:r>
            <a:endParaRPr lang="en-US" sz="1250" dirty="0"/>
          </a:p>
        </p:txBody>
      </p:sp>
      <p:sp>
        <p:nvSpPr>
          <p:cNvPr id="25" name="Text 16"/>
          <p:cNvSpPr txBox="1"/>
          <p:nvPr/>
        </p:nvSpPr>
        <p:spPr>
          <a:xfrm>
            <a:off x="7040880" y="384048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산출물: 콘티 한 장, 샷 리스트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812280" y="4297680"/>
            <a:ext cx="4693615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7" name="Text 18"/>
          <p:cNvSpPr txBox="1"/>
          <p:nvPr/>
        </p:nvSpPr>
        <p:spPr>
          <a:xfrm>
            <a:off x="7040880" y="4416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촬영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7040880" y="4736592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5샷 시퀀스 + B롤(빗방울, 김 오르는 컵) · 우유 붓기는 60fps · 룸톤 10초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7040880" y="516636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산출물: 클립 20~30개</a:t>
            </a:r>
            <a:endParaRPr lang="en-US" sz="1150" dirty="0"/>
          </a:p>
        </p:txBody>
      </p:sp>
      <p:sp>
        <p:nvSpPr>
          <p:cNvPr id="30" name="Text 21"/>
          <p:cNvSpPr txBox="1"/>
          <p:nvPr/>
        </p:nvSpPr>
        <p:spPr>
          <a:xfrm>
            <a:off x="685800" y="614476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가상의 예시입니다. 왼쪽 그림은 6컷 콘티(스토리보드).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2교시 · 영상 콘텐츠, 지금 어떻게 만들어지나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한 편 따라가기 ② 카페 30초 릴스: 편집 → 분석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2514600" cy="4434840"/>
          </a:xfrm>
          <a:prstGeom prst="roundRect">
            <a:avLst>
              <a:gd name="adj" fmla="val 8000"/>
            </a:avLst>
          </a:prstGeom>
          <a:solidFill>
            <a:srgbClr val="0E1110"/>
          </a:solidFill>
          <a:ln/>
        </p:spPr>
      </p:sp>
      <p:pic>
        <p:nvPicPr>
          <p:cNvPr id="13" name="Image 0" descr="카페 릴스 완성 장면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2331720" cy="42519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0초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0957255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30초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520440" y="2011680"/>
            <a:ext cx="76197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593592" y="2011680"/>
            <a:ext cx="670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훅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318986" y="2011680"/>
            <a:ext cx="5553243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392138" y="2011680"/>
            <a:ext cx="5461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본론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908804" y="2011680"/>
            <a:ext cx="1560515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981956" y="2011680"/>
            <a:ext cx="1469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마무리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3520440" y="2560320"/>
            <a:ext cx="7985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0–3초 훅: 우유가 퍼지는 슬로   ·   3–24초 본론: 창가 · 손 · 표정 · 컵   ·   24–30초 마무리: 간판 + "저장해 두세요"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520440" y="3017520"/>
            <a:ext cx="387842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749040" y="3154680"/>
            <a:ext cx="34212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4 편집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3749040" y="3520440"/>
            <a:ext cx="3421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훅 3초 → 본론 → 마무리 · 자막 3역할 · 음악 30~50%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7627468" y="3017520"/>
            <a:ext cx="387842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856068" y="3154680"/>
            <a:ext cx="34212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5 마스터링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856068" y="3520440"/>
            <a:ext cx="3421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목소리 &gt; 음악 · 컷마다 색 통일 · 오탈자 · 1080×1920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3520440" y="4480560"/>
            <a:ext cx="387842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3749040" y="4617720"/>
            <a:ext cx="34212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6 발행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3749040" y="4983480"/>
            <a:ext cx="3421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커버 · 캡션 첫 줄 = 훅 · 해시태그 2~3개 · 위치 태그 · AI 표시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7627468" y="4480560"/>
            <a:ext cx="387842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856068" y="4617720"/>
            <a:ext cx="34212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7 분석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7856068" y="4983480"/>
            <a:ext cx="3421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3초에 몇 명이 넘겼나 · 저장 수 → 다음 기획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2교시 · 영상 콘텐츠, 지금 어떻게 만들어지나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프로덕션 현장 vs 1인 크리에이터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5227168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187452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프로덕션 현장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28600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역할마다 사람이 따로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005840" y="2743200"/>
            <a:ext cx="215638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2743200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기획 PD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36544" y="2743200"/>
            <a:ext cx="215638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36544" y="2743200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작가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3401568"/>
            <a:ext cx="215638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3401568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촬영감독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436544" y="3401568"/>
            <a:ext cx="215638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36544" y="3401568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조명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005840" y="4059936"/>
            <a:ext cx="215638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5840" y="4059936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음향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436544" y="4059936"/>
            <a:ext cx="215638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36544" y="4059936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편집자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005840" y="4718304"/>
            <a:ext cx="215638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05840" y="4718304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컬러리스트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436544" y="4718304"/>
            <a:ext cx="215638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36544" y="4718304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마케터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278728" y="1645920"/>
            <a:ext cx="5227168" cy="393192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598768" y="187452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1인 크리에이터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6598768" y="228600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</a:rPr>
              <a:t>같은 역할을 혼자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6598768" y="28346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chemeClr val="bg1"/>
                </a:solidFill>
              </a:rPr>
              <a:t>나</a:t>
            </a:r>
            <a:endParaRPr lang="en-US" sz="7000" dirty="0"/>
          </a:p>
        </p:txBody>
      </p:sp>
      <p:sp>
        <p:nvSpPr>
          <p:cNvPr id="35" name="Text 32"/>
          <p:cNvSpPr txBox="1"/>
          <p:nvPr/>
        </p:nvSpPr>
        <p:spPr>
          <a:xfrm>
            <a:off x="7878928" y="283464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+</a:t>
            </a:r>
            <a:endParaRPr lang="en-US" sz="5400" dirty="0"/>
          </a:p>
        </p:txBody>
      </p:sp>
      <p:sp>
        <p:nvSpPr>
          <p:cNvPr id="36" name="Text 33"/>
          <p:cNvSpPr txBox="1"/>
          <p:nvPr/>
        </p:nvSpPr>
        <p:spPr>
          <a:xfrm>
            <a:off x="8656168" y="2834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chemeClr val="accent1"/>
                </a:solidFill>
              </a:rPr>
              <a:t>AI</a:t>
            </a:r>
            <a:endParaRPr lang="en-US" sz="7000" dirty="0"/>
          </a:p>
        </p:txBody>
      </p:sp>
      <p:sp>
        <p:nvSpPr>
          <p:cNvPr id="37" name="Text 34"/>
          <p:cNvSpPr txBox="1"/>
          <p:nvPr/>
        </p:nvSpPr>
        <p:spPr>
          <a:xfrm>
            <a:off x="6598768" y="4297680"/>
            <a:ext cx="458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CE"/>
                </a:solidFill>
              </a:rPr>
              <a:t>아이디어 · 대본 초안 · 자막 · 보정은 AI가 거들고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3CE"/>
                </a:solidFill>
              </a:rPr>
              <a:t>정하고 고르고 책임지는 건 내가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85800" y="57150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60120" y="57150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역할은 똑같다. 사람 수만 다르다. 그래서 1인 크리에이터에게 AI는 팀원이다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2교시 · 영상 콘텐츠, 지금 어떻게 만들어지나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AI가 바꾼 제작 과정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931920"/>
                <a:gridCol w="3566160"/>
                <a:gridCol w="149321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단계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AI가 거드는 일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사람이 하는 일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배우는 회차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기획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아이디어 후보 · 레퍼런스 정리 · 대본 초안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무엇을 왜 만들지, 최종 선택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2회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프리프로덕션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콘티 그림 · 샷 리스트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장소 · 사람 섭외, 현장 판단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2회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촬영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구도 피드백 · 찍을 수 없는 장면 생성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진짜 장소 · 사람 · 감정을 담기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 · 4회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편집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자동 자막 · 잡음 제거 · 컷 제안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어디서 자르고 무엇을 강조할지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3 · 5회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마스터링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음량 · 색 자동 보정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끝까지 보고 최종 검수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5회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발행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제목 · 캡션 · 썸네일 문구 후보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약속 지키기, AI 사용 표시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2 · 5회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분석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지표 요약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다음 기획 결정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5회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2교시 · 영상 콘텐츠, 지금 어떻게 만들어지나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편집 다음에 오는 것: 마스터링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1981139" cy="306324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Volume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06764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633472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소리 크기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3063240"/>
            <a:ext cx="14324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목소리 &gt; 음악. 플랫폼이 음량을 맞추니 무작정 키우지 않기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2895539" y="1645920"/>
            <a:ext cx="1981139" cy="306324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169859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Pal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260" y="206764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169859" y="2633472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색 · 밝기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169859" y="3063240"/>
            <a:ext cx="14324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클립마다 톤을 한 가지로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105278" y="1645920"/>
            <a:ext cx="1981139" cy="306324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5379598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Fo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999" y="20676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379598" y="2633472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자막 점검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379598" y="3063240"/>
            <a:ext cx="14324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오탈자, 잘린 글자, 버튼에 가리는 위치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315017" y="1645920"/>
            <a:ext cx="1981139" cy="306324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7589337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9" name="Image 3" descr="FaExpa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738" y="2067641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589337" y="2633472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내보내기 규격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89337" y="3063240"/>
            <a:ext cx="14324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해상도 · 프레임 · 비율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9524756" y="1645920"/>
            <a:ext cx="1981139" cy="306324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33" name="Shape 26"/>
          <p:cNvSpPr/>
          <p:nvPr/>
        </p:nvSpPr>
        <p:spPr>
          <a:xfrm>
            <a:off x="9799076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34" name="Image 4" descr="FaCheckDoub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6477" y="2067641"/>
            <a:ext cx="272125" cy="27212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799076" y="2633472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최종 검수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9799076" y="3063240"/>
            <a:ext cx="14324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소리 켜고 한 번, 끄고 한 번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685800" y="50292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960120" y="50292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직접 해 보는 건 5회차. 오늘은 '편집이 끝이 아니다'만 기억하세요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2교시 · 영상 콘텐츠, 지금 어떻게 만들어지나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플랫폼마다 화면이 다르다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868680" y="1691640"/>
            <a:ext cx="1783080" cy="3172968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94460" y="2912364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Yout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655" y="3102559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94360" y="5029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유튜브 쇼츠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" y="5349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9:16 · 1080×1920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18688" y="1691640"/>
            <a:ext cx="1783080" cy="3172968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44468" y="2912364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Inst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663" y="3102559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944368" y="5029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인스타그램 릴스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2944368" y="5349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9:16 · 1080×1920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568696" y="1691640"/>
            <a:ext cx="1783080" cy="3172968"/>
          </a:xfrm>
          <a:prstGeom prst="roundRect">
            <a:avLst>
              <a:gd name="adj" fmla="val 7179"/>
            </a:avLst>
          </a:prstGeom>
          <a:solidFill>
            <a:schemeClr val="bg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94476" y="2912364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Tikt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671" y="3102559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294376" y="5029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틱톡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294376" y="5349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9:16 · 1080×1920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918704" y="2596896"/>
            <a:ext cx="4023360" cy="2267712"/>
          </a:xfrm>
          <a:prstGeom prst="roundRect">
            <a:avLst>
              <a:gd name="adj" fmla="val 5645"/>
            </a:avLst>
          </a:prstGeom>
          <a:solidFill>
            <a:schemeClr val="bg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564624" y="3364992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9" name="Image 3" descr="FaYoutu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4819" y="3555187"/>
            <a:ext cx="351130" cy="35113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644384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유튜브 롱폼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644384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16:9 · 1920×1080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685800" y="580644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우리 수업 기본값  ·  세로 9:16  ·  1080×1920  ·  30fps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10312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점심 시간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188720" y="39776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11:50–12:40  ·  오후는 카메라 원리부터. 폰을 충전하고, 저장공간을 10GB 이상 비워 두세요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RUBIT/build/.cache/s1/img04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RUBIT/build/.cache/s1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3258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03</a:t>
            </a:r>
            <a:endParaRPr lang="en-US" sz="11000" dirty="0"/>
          </a:p>
        </p:txBody>
      </p:sp>
      <p:sp>
        <p:nvSpPr>
          <p:cNvPr id="5" name="Text 1"/>
          <p:cNvSpPr txBox="1"/>
          <p:nvPr/>
        </p:nvSpPr>
        <p:spPr>
          <a:xfrm>
            <a:off x="758952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3교시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85800" y="3246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카메라의 원리 ① 사진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85800" y="44805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12:40–13:30  ·  얼마나 많은 빛을, 어떤 색으로, 어디에 초점을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3교시 · 카메라의 원리 ① 사진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사진은 빛을 담는 일: 노출 삼각형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4937760" cy="4389120"/>
          </a:xfrm>
          <a:prstGeom prst="roundRect">
            <a:avLst>
              <a:gd name="adj" fmla="val 1667"/>
            </a:avLst>
          </a:prstGeom>
          <a:solidFill>
            <a:schemeClr val="tx2"/>
          </a:solidFill>
          <a:ln/>
        </p:spPr>
      </p:sp>
      <p:sp>
        <p:nvSpPr>
          <p:cNvPr id="13" name="Shape 10"/>
          <p:cNvSpPr/>
          <p:nvPr/>
        </p:nvSpPr>
        <p:spPr>
          <a:xfrm>
            <a:off x="1371600" y="2240280"/>
            <a:ext cx="3566160" cy="3108960"/>
          </a:xfrm>
          <a:prstGeom prst="triangle">
            <a:avLst/>
          </a:prstGeom>
          <a:solidFill>
            <a:srgbClr val="1E2724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24028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노출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2743200" y="18288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7432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조리개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60120" y="498348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60120" y="4983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셔터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26280" y="4983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26280" y="4983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ISO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989320" y="1645920"/>
            <a:ext cx="5516575" cy="1152144"/>
          </a:xfrm>
          <a:prstGeom prst="roundRect">
            <a:avLst>
              <a:gd name="adj" fmla="val 6349"/>
            </a:avLst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6217920" y="186537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조리개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2194560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빛이 들어오는 구멍의 크기  → 배경이 얼마나 흐려지나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989320" y="2944368"/>
            <a:ext cx="5516575" cy="1152144"/>
          </a:xfrm>
          <a:prstGeom prst="roundRect">
            <a:avLst>
              <a:gd name="adj" fmla="val 6349"/>
            </a:avLst>
          </a:prstGeom>
          <a:solidFill>
            <a:schemeClr val="bg2"/>
          </a:solidFill>
          <a:ln/>
        </p:spPr>
      </p:sp>
      <p:sp>
        <p:nvSpPr>
          <p:cNvPr id="26" name="Shape 23"/>
          <p:cNvSpPr/>
          <p:nvPr/>
        </p:nvSpPr>
        <p:spPr>
          <a:xfrm>
            <a:off x="6217920" y="3163824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583680" y="3081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셔터스피드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0" y="3493008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빛을 받는 시간  → 움직임이 멈추나, 흐르나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5989320" y="4242816"/>
            <a:ext cx="5516575" cy="1152144"/>
          </a:xfrm>
          <a:prstGeom prst="roundRect">
            <a:avLst>
              <a:gd name="adj" fmla="val 6349"/>
            </a:avLst>
          </a:prstGeom>
          <a:solidFill>
            <a:schemeClr val="bg2"/>
          </a:solidFill>
          <a:ln/>
        </p:spPr>
      </p:sp>
      <p:sp>
        <p:nvSpPr>
          <p:cNvPr id="30" name="Shape 27"/>
          <p:cNvSpPr/>
          <p:nvPr/>
        </p:nvSpPr>
        <p:spPr>
          <a:xfrm>
            <a:off x="6217920" y="44622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583680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ISO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583680" y="4791456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빛에 반응하는 감도  → 화면이 깨끗한가, 자글자글한가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5989320" y="5623560"/>
            <a:ext cx="5516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3"/>
                </a:solidFill>
              </a:rPr>
              <a:t>하나로 밝게 만들면, 나머지 둘 중 하나가 대가를 치른다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3교시 · 카메라의 원리 ① 사진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조리개 · 셔터 · ISO를 한 장에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2009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  <a:gridCol w="3017520"/>
                <a:gridCol w="2956255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한쪽 끝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다른 쪽 끝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폰에서는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조리개 (f값)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f/1.8 · 구멍 큼 · 밝음 · 배경 흐림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f/11 · 구멍 작음 · 어두움 · 앞뒤 선명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대부분 고정 → 인물 모드, 대상에 가까이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셔터스피드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1/1000 · 순간이 멈춤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1/30 · 움직임이 흐름, 흔들림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영상은 4교시 '2배 규칙'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ISO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100~400 · 깨끗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3200 이상 · 자글자글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어두우면 ISO 말고 빛을 더하기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85800" y="52578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60120" y="52578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조리개는 숫자가 작을수록 밝다 — 이것 하나만 확실히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3교시 · 카메라의 원리 ① 사진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화이트밸런스: 빛에도 색이 있다</a:t>
            </a:r>
            <a:endParaRPr lang="en-US" sz="2800" dirty="0"/>
          </a:p>
        </p:txBody>
      </p:sp>
      <p:pic>
        <p:nvPicPr>
          <p:cNvPr id="12" name="Image 0" descr="약 3,000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423818" cy="23317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06908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약 3,000K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48056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촛불 · 전구 → 노랗게</a:t>
            </a:r>
            <a:endParaRPr lang="en-US" sz="1300" dirty="0"/>
          </a:p>
        </p:txBody>
      </p:sp>
      <p:pic>
        <p:nvPicPr>
          <p:cNvPr id="15" name="Image 1" descr="약 5,500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3938" y="1645920"/>
            <a:ext cx="3423818" cy="23317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383938" y="406908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약 5,500K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383938" y="448056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한낮 햇빛 → 자연스럽게</a:t>
            </a:r>
            <a:endParaRPr lang="en-US" sz="1300" dirty="0"/>
          </a:p>
        </p:txBody>
      </p:sp>
      <p:pic>
        <p:nvPicPr>
          <p:cNvPr id="18" name="Image 2" descr="약 7,000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82077" y="1645920"/>
            <a:ext cx="3423818" cy="23317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082077" y="406908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약 7,000K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8082077" y="448056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그늘 · 흐린 날 → 파랗게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85800" y="51663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960120" y="51663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영상은 화이트밸런스를 고정하고, 색이 다른 빛을 섞지 않기 (창가 빛 + 형광등 = 얼굴 반반)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3교시 · 카메라의 원리 ① 사진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초점 · 심도 · 폰의 렌즈</a:t>
            </a:r>
            <a:endParaRPr lang="en-US" sz="2800" dirty="0"/>
          </a:p>
        </p:txBody>
      </p:sp>
      <p:pic>
        <p:nvPicPr>
          <p:cNvPr id="12" name="Image 0" descr="/home/user/MARUBIT/build/.cache/s1/img16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2697480" cy="2697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434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얕은 심도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709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주인공만 선명 · 감성</a:t>
            </a:r>
            <a:endParaRPr lang="en-US" sz="1150" dirty="0"/>
          </a:p>
        </p:txBody>
      </p:sp>
      <p:pic>
        <p:nvPicPr>
          <p:cNvPr id="15" name="Image 1" descr="/home/user/MARUBIT/build/.cache/s1/img16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11880" y="1645920"/>
            <a:ext cx="2697480" cy="269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11880" y="4434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깊은 심도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611880" y="4709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전부 선명 · 정보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629400" y="1645920"/>
            <a:ext cx="4876495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858000" y="16459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0.5x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7863840" y="175564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초광각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2075688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공간 전체 · 가장자리가 휨 · 얼굴 가까이는 왜곡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629400" y="2633472"/>
            <a:ext cx="4876495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858000" y="263347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1x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7863840" y="274320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기본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7863840" y="306324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가장 선명 · 대부분의 촬영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629400" y="3621024"/>
            <a:ext cx="4876495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858000" y="3621024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2~3x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7863840" y="3730752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망원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7863840" y="4050792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얼굴이 자연스러움 · 배경 정리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85800" y="51663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60120" y="51663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줌 말고 발로. 렌즈 배율 사이의 디지털 줌은 화질이 떨어집니다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3교시 · 카메라의 원리 ① 사진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· 프로 모드로 바꿔 찍기 (짝과 25분)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527288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17830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갤럭시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19456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카메라 → 더보기 → 프로 / 프로 동영상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ISO · 셔터 · WB를 직접 조절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33008" y="1645920"/>
            <a:ext cx="527288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07328" y="17830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아이폰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507328" y="219456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기본 카메라는 노출 조절 위주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무료 수동 앱 (예: Blackmagic Camera)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38328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같은 장면 ISO 100 vs 3200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손 흔들기 셔터 1/60 vs 1/1000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흰 종이 WB 전구 vs 맑음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인물 모드 켜고 / 끄고 (배경 흐림 비교)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89520" y="3337560"/>
            <a:ext cx="3916375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863840" y="3520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다 찍었으면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3931920"/>
            <a:ext cx="33677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가장 마음에 드는 1장 + 이유 한 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→ 드라이브 '1회차/3교시'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RUBIT/build/.cache/s1/img05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RUBIT/build/.cache/s1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3258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04</a:t>
            </a:r>
            <a:endParaRPr lang="en-US" sz="11000" dirty="0"/>
          </a:p>
        </p:txBody>
      </p:sp>
      <p:sp>
        <p:nvSpPr>
          <p:cNvPr id="5" name="Text 1"/>
          <p:cNvSpPr txBox="1"/>
          <p:nvPr/>
        </p:nvSpPr>
        <p:spPr>
          <a:xfrm>
            <a:off x="758952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4교시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85800" y="3246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카메라의 원리 ② 영상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85800" y="44805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13:40–14:30  ·  영상은 1초에 사진 수십 장. 그래서 규칙이 조금 다르다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4교시 · 카메라의 원리 ② 영상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프레임레이트: 1초에 몇 장인가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7830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24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2075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fps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3317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Shape 12"/>
          <p:cNvSpPr/>
          <p:nvPr/>
        </p:nvSpPr>
        <p:spPr>
          <a:xfrm>
            <a:off x="25793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Shape 13"/>
          <p:cNvSpPr/>
          <p:nvPr/>
        </p:nvSpPr>
        <p:spPr>
          <a:xfrm>
            <a:off x="28270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Shape 14"/>
          <p:cNvSpPr/>
          <p:nvPr/>
        </p:nvSpPr>
        <p:spPr>
          <a:xfrm>
            <a:off x="30746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8" name="Shape 15"/>
          <p:cNvSpPr/>
          <p:nvPr/>
        </p:nvSpPr>
        <p:spPr>
          <a:xfrm>
            <a:off x="33223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9" name="Shape 16"/>
          <p:cNvSpPr/>
          <p:nvPr/>
        </p:nvSpPr>
        <p:spPr>
          <a:xfrm>
            <a:off x="35699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0" name="Shape 17"/>
          <p:cNvSpPr/>
          <p:nvPr/>
        </p:nvSpPr>
        <p:spPr>
          <a:xfrm>
            <a:off x="38176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Shape 18"/>
          <p:cNvSpPr/>
          <p:nvPr/>
        </p:nvSpPr>
        <p:spPr>
          <a:xfrm>
            <a:off x="40652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2" name="Shape 19"/>
          <p:cNvSpPr/>
          <p:nvPr/>
        </p:nvSpPr>
        <p:spPr>
          <a:xfrm>
            <a:off x="43129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3" name="Shape 20"/>
          <p:cNvSpPr/>
          <p:nvPr/>
        </p:nvSpPr>
        <p:spPr>
          <a:xfrm>
            <a:off x="45605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4" name="Shape 21"/>
          <p:cNvSpPr/>
          <p:nvPr/>
        </p:nvSpPr>
        <p:spPr>
          <a:xfrm>
            <a:off x="48082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5" name="Shape 22"/>
          <p:cNvSpPr/>
          <p:nvPr/>
        </p:nvSpPr>
        <p:spPr>
          <a:xfrm>
            <a:off x="50558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6" name="Shape 23"/>
          <p:cNvSpPr/>
          <p:nvPr/>
        </p:nvSpPr>
        <p:spPr>
          <a:xfrm>
            <a:off x="53035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7" name="Shape 24"/>
          <p:cNvSpPr/>
          <p:nvPr/>
        </p:nvSpPr>
        <p:spPr>
          <a:xfrm>
            <a:off x="55511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8" name="Shape 25"/>
          <p:cNvSpPr/>
          <p:nvPr/>
        </p:nvSpPr>
        <p:spPr>
          <a:xfrm>
            <a:off x="57988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9" name="Shape 26"/>
          <p:cNvSpPr/>
          <p:nvPr/>
        </p:nvSpPr>
        <p:spPr>
          <a:xfrm>
            <a:off x="60464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Shape 27"/>
          <p:cNvSpPr/>
          <p:nvPr/>
        </p:nvSpPr>
        <p:spPr>
          <a:xfrm>
            <a:off x="62941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1" name="Shape 28"/>
          <p:cNvSpPr/>
          <p:nvPr/>
        </p:nvSpPr>
        <p:spPr>
          <a:xfrm>
            <a:off x="65417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Shape 29"/>
          <p:cNvSpPr/>
          <p:nvPr/>
        </p:nvSpPr>
        <p:spPr>
          <a:xfrm>
            <a:off x="67894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3" name="Shape 30"/>
          <p:cNvSpPr/>
          <p:nvPr/>
        </p:nvSpPr>
        <p:spPr>
          <a:xfrm>
            <a:off x="70370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4" name="Shape 31"/>
          <p:cNvSpPr/>
          <p:nvPr/>
        </p:nvSpPr>
        <p:spPr>
          <a:xfrm>
            <a:off x="72847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5" name="Shape 32"/>
          <p:cNvSpPr/>
          <p:nvPr/>
        </p:nvSpPr>
        <p:spPr>
          <a:xfrm>
            <a:off x="75323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6" name="Shape 33"/>
          <p:cNvSpPr/>
          <p:nvPr/>
        </p:nvSpPr>
        <p:spPr>
          <a:xfrm>
            <a:off x="778002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7" name="Shape 34"/>
          <p:cNvSpPr/>
          <p:nvPr/>
        </p:nvSpPr>
        <p:spPr>
          <a:xfrm>
            <a:off x="8027670" y="1892808"/>
            <a:ext cx="136208" cy="6583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549640" y="1783080"/>
            <a:ext cx="2956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영화 같은 느낌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85800" y="30632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30</a:t>
            </a:r>
            <a:endParaRPr lang="en-US" sz="4000" dirty="0"/>
          </a:p>
        </p:txBody>
      </p:sp>
      <p:sp>
        <p:nvSpPr>
          <p:cNvPr id="40" name="Text 37"/>
          <p:cNvSpPr txBox="1"/>
          <p:nvPr/>
        </p:nvSpPr>
        <p:spPr>
          <a:xfrm>
            <a:off x="1645920" y="3355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fps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233172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2" name="Shape 39"/>
          <p:cNvSpPr/>
          <p:nvPr/>
        </p:nvSpPr>
        <p:spPr>
          <a:xfrm>
            <a:off x="252984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3" name="Shape 40"/>
          <p:cNvSpPr/>
          <p:nvPr/>
        </p:nvSpPr>
        <p:spPr>
          <a:xfrm>
            <a:off x="272796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4" name="Shape 41"/>
          <p:cNvSpPr/>
          <p:nvPr/>
        </p:nvSpPr>
        <p:spPr>
          <a:xfrm>
            <a:off x="292608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5" name="Shape 42"/>
          <p:cNvSpPr/>
          <p:nvPr/>
        </p:nvSpPr>
        <p:spPr>
          <a:xfrm>
            <a:off x="312420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6" name="Shape 43"/>
          <p:cNvSpPr/>
          <p:nvPr/>
        </p:nvSpPr>
        <p:spPr>
          <a:xfrm>
            <a:off x="332232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7" name="Shape 44"/>
          <p:cNvSpPr/>
          <p:nvPr/>
        </p:nvSpPr>
        <p:spPr>
          <a:xfrm>
            <a:off x="352044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8" name="Shape 45"/>
          <p:cNvSpPr/>
          <p:nvPr/>
        </p:nvSpPr>
        <p:spPr>
          <a:xfrm>
            <a:off x="371856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9" name="Shape 46"/>
          <p:cNvSpPr/>
          <p:nvPr/>
        </p:nvSpPr>
        <p:spPr>
          <a:xfrm>
            <a:off x="391668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0" name="Shape 47"/>
          <p:cNvSpPr/>
          <p:nvPr/>
        </p:nvSpPr>
        <p:spPr>
          <a:xfrm>
            <a:off x="411480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1" name="Shape 48"/>
          <p:cNvSpPr/>
          <p:nvPr/>
        </p:nvSpPr>
        <p:spPr>
          <a:xfrm>
            <a:off x="431292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2" name="Shape 49"/>
          <p:cNvSpPr/>
          <p:nvPr/>
        </p:nvSpPr>
        <p:spPr>
          <a:xfrm>
            <a:off x="451104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3" name="Shape 50"/>
          <p:cNvSpPr/>
          <p:nvPr/>
        </p:nvSpPr>
        <p:spPr>
          <a:xfrm>
            <a:off x="470916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4" name="Shape 51"/>
          <p:cNvSpPr/>
          <p:nvPr/>
        </p:nvSpPr>
        <p:spPr>
          <a:xfrm>
            <a:off x="490728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5" name="Shape 52"/>
          <p:cNvSpPr/>
          <p:nvPr/>
        </p:nvSpPr>
        <p:spPr>
          <a:xfrm>
            <a:off x="510540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6" name="Shape 53"/>
          <p:cNvSpPr/>
          <p:nvPr/>
        </p:nvSpPr>
        <p:spPr>
          <a:xfrm>
            <a:off x="530352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7" name="Shape 54"/>
          <p:cNvSpPr/>
          <p:nvPr/>
        </p:nvSpPr>
        <p:spPr>
          <a:xfrm>
            <a:off x="550164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8" name="Shape 55"/>
          <p:cNvSpPr/>
          <p:nvPr/>
        </p:nvSpPr>
        <p:spPr>
          <a:xfrm>
            <a:off x="569976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9" name="Shape 56"/>
          <p:cNvSpPr/>
          <p:nvPr/>
        </p:nvSpPr>
        <p:spPr>
          <a:xfrm>
            <a:off x="589788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0" name="Shape 57"/>
          <p:cNvSpPr/>
          <p:nvPr/>
        </p:nvSpPr>
        <p:spPr>
          <a:xfrm>
            <a:off x="609600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1" name="Shape 58"/>
          <p:cNvSpPr/>
          <p:nvPr/>
        </p:nvSpPr>
        <p:spPr>
          <a:xfrm>
            <a:off x="629412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2" name="Shape 59"/>
          <p:cNvSpPr/>
          <p:nvPr/>
        </p:nvSpPr>
        <p:spPr>
          <a:xfrm>
            <a:off x="649224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3" name="Shape 60"/>
          <p:cNvSpPr/>
          <p:nvPr/>
        </p:nvSpPr>
        <p:spPr>
          <a:xfrm>
            <a:off x="669036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4" name="Shape 61"/>
          <p:cNvSpPr/>
          <p:nvPr/>
        </p:nvSpPr>
        <p:spPr>
          <a:xfrm>
            <a:off x="688848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5" name="Shape 62"/>
          <p:cNvSpPr/>
          <p:nvPr/>
        </p:nvSpPr>
        <p:spPr>
          <a:xfrm>
            <a:off x="708660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6" name="Shape 63"/>
          <p:cNvSpPr/>
          <p:nvPr/>
        </p:nvSpPr>
        <p:spPr>
          <a:xfrm>
            <a:off x="728472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7" name="Shape 64"/>
          <p:cNvSpPr/>
          <p:nvPr/>
        </p:nvSpPr>
        <p:spPr>
          <a:xfrm>
            <a:off x="748284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8" name="Shape 65"/>
          <p:cNvSpPr/>
          <p:nvPr/>
        </p:nvSpPr>
        <p:spPr>
          <a:xfrm>
            <a:off x="768096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9" name="Shape 66"/>
          <p:cNvSpPr/>
          <p:nvPr/>
        </p:nvSpPr>
        <p:spPr>
          <a:xfrm>
            <a:off x="787908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0" name="Shape 67"/>
          <p:cNvSpPr/>
          <p:nvPr/>
        </p:nvSpPr>
        <p:spPr>
          <a:xfrm>
            <a:off x="8077200" y="3172968"/>
            <a:ext cx="108966" cy="6583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8549640" y="3063240"/>
            <a:ext cx="2956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SNS 기본 · 우리 수업 기본값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685800" y="43434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60</a:t>
            </a:r>
            <a:endParaRPr lang="en-US" sz="4000" dirty="0"/>
          </a:p>
        </p:txBody>
      </p:sp>
      <p:sp>
        <p:nvSpPr>
          <p:cNvPr id="73" name="Text 70"/>
          <p:cNvSpPr txBox="1"/>
          <p:nvPr/>
        </p:nvSpPr>
        <p:spPr>
          <a:xfrm>
            <a:off x="1645920" y="4636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fps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23317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5" name="Shape 72"/>
          <p:cNvSpPr/>
          <p:nvPr/>
        </p:nvSpPr>
        <p:spPr>
          <a:xfrm>
            <a:off x="24307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6" name="Shape 73"/>
          <p:cNvSpPr/>
          <p:nvPr/>
        </p:nvSpPr>
        <p:spPr>
          <a:xfrm>
            <a:off x="25298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7" name="Shape 74"/>
          <p:cNvSpPr/>
          <p:nvPr/>
        </p:nvSpPr>
        <p:spPr>
          <a:xfrm>
            <a:off x="26289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8" name="Shape 75"/>
          <p:cNvSpPr/>
          <p:nvPr/>
        </p:nvSpPr>
        <p:spPr>
          <a:xfrm>
            <a:off x="27279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9" name="Shape 76"/>
          <p:cNvSpPr/>
          <p:nvPr/>
        </p:nvSpPr>
        <p:spPr>
          <a:xfrm>
            <a:off x="28270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0" name="Shape 77"/>
          <p:cNvSpPr/>
          <p:nvPr/>
        </p:nvSpPr>
        <p:spPr>
          <a:xfrm>
            <a:off x="29260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1" name="Shape 78"/>
          <p:cNvSpPr/>
          <p:nvPr/>
        </p:nvSpPr>
        <p:spPr>
          <a:xfrm>
            <a:off x="30251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2" name="Shape 79"/>
          <p:cNvSpPr/>
          <p:nvPr/>
        </p:nvSpPr>
        <p:spPr>
          <a:xfrm>
            <a:off x="31242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3" name="Shape 80"/>
          <p:cNvSpPr/>
          <p:nvPr/>
        </p:nvSpPr>
        <p:spPr>
          <a:xfrm>
            <a:off x="32232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4" name="Shape 81"/>
          <p:cNvSpPr/>
          <p:nvPr/>
        </p:nvSpPr>
        <p:spPr>
          <a:xfrm>
            <a:off x="33223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5" name="Shape 82"/>
          <p:cNvSpPr/>
          <p:nvPr/>
        </p:nvSpPr>
        <p:spPr>
          <a:xfrm>
            <a:off x="34213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6" name="Shape 83"/>
          <p:cNvSpPr/>
          <p:nvPr/>
        </p:nvSpPr>
        <p:spPr>
          <a:xfrm>
            <a:off x="35204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7" name="Shape 84"/>
          <p:cNvSpPr/>
          <p:nvPr/>
        </p:nvSpPr>
        <p:spPr>
          <a:xfrm>
            <a:off x="36195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8" name="Shape 85"/>
          <p:cNvSpPr/>
          <p:nvPr/>
        </p:nvSpPr>
        <p:spPr>
          <a:xfrm>
            <a:off x="37185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9" name="Shape 86"/>
          <p:cNvSpPr/>
          <p:nvPr/>
        </p:nvSpPr>
        <p:spPr>
          <a:xfrm>
            <a:off x="38176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0" name="Shape 87"/>
          <p:cNvSpPr/>
          <p:nvPr/>
        </p:nvSpPr>
        <p:spPr>
          <a:xfrm>
            <a:off x="39166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1" name="Shape 88"/>
          <p:cNvSpPr/>
          <p:nvPr/>
        </p:nvSpPr>
        <p:spPr>
          <a:xfrm>
            <a:off x="40157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2" name="Shape 89"/>
          <p:cNvSpPr/>
          <p:nvPr/>
        </p:nvSpPr>
        <p:spPr>
          <a:xfrm>
            <a:off x="41148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3" name="Shape 90"/>
          <p:cNvSpPr/>
          <p:nvPr/>
        </p:nvSpPr>
        <p:spPr>
          <a:xfrm>
            <a:off x="42138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4" name="Shape 91"/>
          <p:cNvSpPr/>
          <p:nvPr/>
        </p:nvSpPr>
        <p:spPr>
          <a:xfrm>
            <a:off x="43129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5" name="Shape 92"/>
          <p:cNvSpPr/>
          <p:nvPr/>
        </p:nvSpPr>
        <p:spPr>
          <a:xfrm>
            <a:off x="44119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6" name="Shape 93"/>
          <p:cNvSpPr/>
          <p:nvPr/>
        </p:nvSpPr>
        <p:spPr>
          <a:xfrm>
            <a:off x="45110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7" name="Shape 94"/>
          <p:cNvSpPr/>
          <p:nvPr/>
        </p:nvSpPr>
        <p:spPr>
          <a:xfrm>
            <a:off x="46101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8" name="Shape 95"/>
          <p:cNvSpPr/>
          <p:nvPr/>
        </p:nvSpPr>
        <p:spPr>
          <a:xfrm>
            <a:off x="47091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9" name="Shape 96"/>
          <p:cNvSpPr/>
          <p:nvPr/>
        </p:nvSpPr>
        <p:spPr>
          <a:xfrm>
            <a:off x="48082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0" name="Shape 97"/>
          <p:cNvSpPr/>
          <p:nvPr/>
        </p:nvSpPr>
        <p:spPr>
          <a:xfrm>
            <a:off x="49072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1" name="Shape 98"/>
          <p:cNvSpPr/>
          <p:nvPr/>
        </p:nvSpPr>
        <p:spPr>
          <a:xfrm>
            <a:off x="50063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2" name="Shape 99"/>
          <p:cNvSpPr/>
          <p:nvPr/>
        </p:nvSpPr>
        <p:spPr>
          <a:xfrm>
            <a:off x="51054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3" name="Shape 100"/>
          <p:cNvSpPr/>
          <p:nvPr/>
        </p:nvSpPr>
        <p:spPr>
          <a:xfrm>
            <a:off x="52044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4" name="Shape 101"/>
          <p:cNvSpPr/>
          <p:nvPr/>
        </p:nvSpPr>
        <p:spPr>
          <a:xfrm>
            <a:off x="53035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5" name="Shape 102"/>
          <p:cNvSpPr/>
          <p:nvPr/>
        </p:nvSpPr>
        <p:spPr>
          <a:xfrm>
            <a:off x="54025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6" name="Shape 103"/>
          <p:cNvSpPr/>
          <p:nvPr/>
        </p:nvSpPr>
        <p:spPr>
          <a:xfrm>
            <a:off x="55016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7" name="Shape 104"/>
          <p:cNvSpPr/>
          <p:nvPr/>
        </p:nvSpPr>
        <p:spPr>
          <a:xfrm>
            <a:off x="56007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8" name="Shape 105"/>
          <p:cNvSpPr/>
          <p:nvPr/>
        </p:nvSpPr>
        <p:spPr>
          <a:xfrm>
            <a:off x="56997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9" name="Shape 106"/>
          <p:cNvSpPr/>
          <p:nvPr/>
        </p:nvSpPr>
        <p:spPr>
          <a:xfrm>
            <a:off x="57988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0" name="Shape 107"/>
          <p:cNvSpPr/>
          <p:nvPr/>
        </p:nvSpPr>
        <p:spPr>
          <a:xfrm>
            <a:off x="58978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1" name="Shape 108"/>
          <p:cNvSpPr/>
          <p:nvPr/>
        </p:nvSpPr>
        <p:spPr>
          <a:xfrm>
            <a:off x="59969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2" name="Shape 109"/>
          <p:cNvSpPr/>
          <p:nvPr/>
        </p:nvSpPr>
        <p:spPr>
          <a:xfrm>
            <a:off x="60960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3" name="Shape 110"/>
          <p:cNvSpPr/>
          <p:nvPr/>
        </p:nvSpPr>
        <p:spPr>
          <a:xfrm>
            <a:off x="61950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4" name="Shape 111"/>
          <p:cNvSpPr/>
          <p:nvPr/>
        </p:nvSpPr>
        <p:spPr>
          <a:xfrm>
            <a:off x="62941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5" name="Shape 112"/>
          <p:cNvSpPr/>
          <p:nvPr/>
        </p:nvSpPr>
        <p:spPr>
          <a:xfrm>
            <a:off x="63931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6" name="Shape 113"/>
          <p:cNvSpPr/>
          <p:nvPr/>
        </p:nvSpPr>
        <p:spPr>
          <a:xfrm>
            <a:off x="64922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7" name="Shape 114"/>
          <p:cNvSpPr/>
          <p:nvPr/>
        </p:nvSpPr>
        <p:spPr>
          <a:xfrm>
            <a:off x="65913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8" name="Shape 115"/>
          <p:cNvSpPr/>
          <p:nvPr/>
        </p:nvSpPr>
        <p:spPr>
          <a:xfrm>
            <a:off x="66903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9" name="Shape 116"/>
          <p:cNvSpPr/>
          <p:nvPr/>
        </p:nvSpPr>
        <p:spPr>
          <a:xfrm>
            <a:off x="67894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0" name="Shape 117"/>
          <p:cNvSpPr/>
          <p:nvPr/>
        </p:nvSpPr>
        <p:spPr>
          <a:xfrm>
            <a:off x="68884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1" name="Shape 118"/>
          <p:cNvSpPr/>
          <p:nvPr/>
        </p:nvSpPr>
        <p:spPr>
          <a:xfrm>
            <a:off x="69875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2" name="Shape 119"/>
          <p:cNvSpPr/>
          <p:nvPr/>
        </p:nvSpPr>
        <p:spPr>
          <a:xfrm>
            <a:off x="70866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3" name="Shape 120"/>
          <p:cNvSpPr/>
          <p:nvPr/>
        </p:nvSpPr>
        <p:spPr>
          <a:xfrm>
            <a:off x="71856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4" name="Shape 121"/>
          <p:cNvSpPr/>
          <p:nvPr/>
        </p:nvSpPr>
        <p:spPr>
          <a:xfrm>
            <a:off x="72847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5" name="Shape 122"/>
          <p:cNvSpPr/>
          <p:nvPr/>
        </p:nvSpPr>
        <p:spPr>
          <a:xfrm>
            <a:off x="73837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6" name="Shape 123"/>
          <p:cNvSpPr/>
          <p:nvPr/>
        </p:nvSpPr>
        <p:spPr>
          <a:xfrm>
            <a:off x="74828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7" name="Shape 124"/>
          <p:cNvSpPr/>
          <p:nvPr/>
        </p:nvSpPr>
        <p:spPr>
          <a:xfrm>
            <a:off x="75819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8" name="Shape 125"/>
          <p:cNvSpPr/>
          <p:nvPr/>
        </p:nvSpPr>
        <p:spPr>
          <a:xfrm>
            <a:off x="76809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9" name="Shape 126"/>
          <p:cNvSpPr/>
          <p:nvPr/>
        </p:nvSpPr>
        <p:spPr>
          <a:xfrm>
            <a:off x="778002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0" name="Shape 127"/>
          <p:cNvSpPr/>
          <p:nvPr/>
        </p:nvSpPr>
        <p:spPr>
          <a:xfrm>
            <a:off x="787908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1" name="Shape 128"/>
          <p:cNvSpPr/>
          <p:nvPr/>
        </p:nvSpPr>
        <p:spPr>
          <a:xfrm>
            <a:off x="797814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2" name="Shape 129"/>
          <p:cNvSpPr/>
          <p:nvPr/>
        </p:nvSpPr>
        <p:spPr>
          <a:xfrm>
            <a:off x="807720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3" name="Shape 130"/>
          <p:cNvSpPr/>
          <p:nvPr/>
        </p:nvSpPr>
        <p:spPr>
          <a:xfrm>
            <a:off x="8176260" y="4453128"/>
            <a:ext cx="54483" cy="6583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8549640" y="4343400"/>
            <a:ext cx="2956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매끄러운 움직임 · 슬로모션 재료</a:t>
            </a:r>
            <a:endParaRPr lang="en-US" sz="1600" dirty="0"/>
          </a:p>
        </p:txBody>
      </p:sp>
      <p:sp>
        <p:nvSpPr>
          <p:cNvPr id="135" name="Text 132"/>
          <p:cNvSpPr txBox="1"/>
          <p:nvPr/>
        </p:nvSpPr>
        <p:spPr>
          <a:xfrm>
            <a:off x="2331720" y="5486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← 1초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4교시 · 카메라의 원리 ② 영상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셔터 2배 규칙과 깜빡이는 조명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566928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886968" y="1865376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696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164592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30fps → 셔터 1/60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114800" y="1645920"/>
            <a:ext cx="2057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가장 자연스러운 움직임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2670048"/>
            <a:ext cx="566928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968" y="28895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86968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267004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60fps → 셔터 1/120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0" y="2670048"/>
            <a:ext cx="2057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슬로모션 재료로 찍을 때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" y="3694176"/>
            <a:ext cx="566928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886968" y="391363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86968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!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3694176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너무 빠른 셔터 (1/1000)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0" y="3694176"/>
            <a:ext cx="2057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움직임이 뚝뚝 끊겨 보여요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629400" y="1645920"/>
            <a:ext cx="4876495" cy="292608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/>
        </p:spPr>
      </p:sp>
      <p:sp>
        <p:nvSpPr>
          <p:cNvPr id="28" name="Shape 25"/>
          <p:cNvSpPr/>
          <p:nvPr/>
        </p:nvSpPr>
        <p:spPr>
          <a:xfrm>
            <a:off x="6949440" y="1920240"/>
            <a:ext cx="640080" cy="640080"/>
          </a:xfrm>
          <a:prstGeom prst="ellipse">
            <a:avLst/>
          </a:prstGeom>
          <a:solidFill>
            <a:srgbClr val="26302C"/>
          </a:solidFill>
          <a:ln/>
        </p:spPr>
      </p:sp>
      <p:pic>
        <p:nvPicPr>
          <p:cNvPr id="29" name="Image 0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861" y="2086661"/>
            <a:ext cx="307238" cy="30723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949440" y="269748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화면에 줄이 흐르면</a:t>
            </a:r>
            <a:endParaRPr lang="en-US" sz="1900" dirty="0"/>
          </a:p>
        </p:txBody>
      </p:sp>
      <p:sp>
        <p:nvSpPr>
          <p:cNvPr id="31" name="Text 27"/>
          <p:cNvSpPr txBox="1"/>
          <p:nvPr/>
        </p:nvSpPr>
        <p:spPr>
          <a:xfrm>
            <a:off x="6949440" y="3154680"/>
            <a:ext cx="4236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9D3CE"/>
                </a:solidFill>
              </a:rPr>
              <a:t>실내 형광등 · LED가 깜빡이는 것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9D3CE"/>
                </a:solidFill>
              </a:rPr>
              <a:t>→ 셔터를 1/60 또는 1/120으로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9D3CE"/>
                </a:solidFill>
              </a:rPr>
              <a:t>→ 그래도 안 되면 창가 자연광으로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4교시 · 카메라의 원리 ② 영상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편집에서 문제가 되는 설정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3423818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S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06764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6334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HDR 동영상 → 끄기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306324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폰에선 화려해도 편집 · 다른 화면에서 색이 틀어져 보일 수 있어요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383938" y="1645920"/>
            <a:ext cx="3423818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4658258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File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60" y="206764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58258" y="26334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HEVC(고효율) → 끄기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658258" y="306324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파일은 작지만 일부 PC에서 편집이 끊겨요. 호환성 우선(H.264)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8082077" y="1645920"/>
            <a:ext cx="3423818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8356397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Hd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798" y="20676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56397" y="26334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4K → 1080p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356397" y="306324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4K는 파일이 약 4배. 수업 기본은 1080p 30fps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685800" y="50292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60120" y="50292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편집에서 생길 문제를 촬영 전에 막는 것. 메뉴 이름은 기종마다 조금씩 달라요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4교시 · 카메라의 원리 ② 영상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함께 세팅해요 · 15분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5272888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181051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아이폰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286000"/>
            <a:ext cx="47242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설정 → 카메라 → 비디오 녹화 → 1080p 30fps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같은 화면에서 'HDR 비디오' 끄기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카메라 → 포맷 → '가장 호환성 높은 포맷'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카메라 → 격자 켜기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33008" y="1645920"/>
            <a:ext cx="5272888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07328" y="181051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갤럭시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07328" y="2286000"/>
            <a:ext cx="47242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동영상 → 상단 해상도에서 FHD 30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설정 → 고급 동영상 옵션 → 고효율 동영상 끄기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같은 곳에서 HDR10+ 동영상 끄기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설정 → 수직 · 수평 안내선 켜기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" y="4846320"/>
            <a:ext cx="2533574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49377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0" descr="FaBro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5092294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554480" y="4846320"/>
            <a:ext cx="1573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렌즈 닦기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3447974" y="4846320"/>
            <a:ext cx="2533574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/>
        </p:spPr>
      </p:sp>
      <p:sp>
        <p:nvSpPr>
          <p:cNvPr id="23" name="Shape 19"/>
          <p:cNvSpPr/>
          <p:nvPr/>
        </p:nvSpPr>
        <p:spPr>
          <a:xfrm>
            <a:off x="3585134" y="49377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1" descr="FaSdC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667" y="509229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316654" y="4846320"/>
            <a:ext cx="1573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저장공간 10GB+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6210148" y="4846320"/>
            <a:ext cx="2533574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/>
        </p:spPr>
      </p:sp>
      <p:sp>
        <p:nvSpPr>
          <p:cNvPr id="27" name="Shape 22"/>
          <p:cNvSpPr/>
          <p:nvPr/>
        </p:nvSpPr>
        <p:spPr>
          <a:xfrm>
            <a:off x="6347308" y="49377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2" descr="FaBellSla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841" y="5092294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078828" y="4846320"/>
            <a:ext cx="1573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방해 금지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8972321" y="4846320"/>
            <a:ext cx="2533574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/>
        </p:spPr>
      </p:sp>
      <p:sp>
        <p:nvSpPr>
          <p:cNvPr id="31" name="Shape 25"/>
          <p:cNvSpPr/>
          <p:nvPr/>
        </p:nvSpPr>
        <p:spPr>
          <a:xfrm>
            <a:off x="9109481" y="49377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3" descr="FaMobil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015" y="5092294"/>
            <a:ext cx="285293" cy="28529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841001" y="4846320"/>
            <a:ext cx="1573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기본은 세로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4교시 · 카메라의 원리 ② 영상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초점 · 노출 잠그기 (AE/AF 잠금)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6035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886968" y="1865376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696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1645920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대상을 길게 누르기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931920" y="1645920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화면에서 찍을 대상을 꾹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2670048"/>
            <a:ext cx="6035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968" y="28895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86968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2670048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잠금 표시 확인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2670048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아이폰 AE/AF 잠금 · 갤럭시 자물쇠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" y="3694176"/>
            <a:ext cx="6035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886968" y="391363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86968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3694176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밝기 막대 조절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3931920" y="3694176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위아래로 밀어 원하는 밝기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995160" y="1645920"/>
            <a:ext cx="4510735" cy="292608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15200" y="187452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잠그지 않으면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0" y="2286000"/>
            <a:ext cx="3870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사람이 지나갈 때마다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밝기와 초점이 출렁입니다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384048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가장 쉬운 프로와 아마추어의 차이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85800" y="50292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60120" y="50292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다음 실습부터 모든 촬영은 '잠그고' 찍습니다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4교시 · 카메라의 원리 ② 영상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· 비교 클립 두 쌍 (15분)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3423818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Tachomet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06764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6334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30fps vs 60fps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306324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머리 넘기기, 물 따르기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같은 동작을 두 번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383938" y="1645920"/>
            <a:ext cx="3423818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4658258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60" y="206764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58258" y="26334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잠금 없이 vs 잠금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658258" y="306324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창가를 지나가며 찍기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밝기 출렁임 비교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082077" y="1645920"/>
            <a:ext cx="3423818" cy="3063240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/>
        </p:spPr>
      </p:sp>
      <p:sp>
        <p:nvSpPr>
          <p:cNvPr id="23" name="Shape 18"/>
          <p:cNvSpPr/>
          <p:nvPr/>
        </p:nvSpPr>
        <p:spPr>
          <a:xfrm>
            <a:off x="8356397" y="1920240"/>
            <a:ext cx="566928" cy="566928"/>
          </a:xfrm>
          <a:prstGeom prst="ellipse">
            <a:avLst/>
          </a:prstGeom>
          <a:solidFill>
            <a:srgbClr val="26302C"/>
          </a:solidFill>
          <a:ln/>
        </p:spPr>
      </p:sp>
      <p:pic>
        <p:nvPicPr>
          <p:cNvPr id="24" name="Image 2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798" y="20676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56397" y="26334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도전 미션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356397" y="306324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CE"/>
                </a:solidFill>
              </a:rPr>
              <a:t>갤럭시 프로 동영상으로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3CE"/>
                </a:solidFill>
              </a:rPr>
              <a:t>셔터 1/60 vs 1/1000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3CE"/>
                </a:solidFill>
              </a:rPr>
              <a:t>아이폰은 수동 앱으로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85800" y="50292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60120" y="50292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찍은 클립은 드라이브 '1회차/4교시'로. 60fps 클립은 3회차 편집에서 슬로모션으로 씁니다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RUBIT/build/.cache/s1/img06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RUBIT/build/.cache/s1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3258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05</a:t>
            </a:r>
            <a:endParaRPr lang="en-US" sz="11000" dirty="0"/>
          </a:p>
        </p:txBody>
      </p:sp>
      <p:sp>
        <p:nvSpPr>
          <p:cNvPr id="5" name="Text 1"/>
          <p:cNvSpPr txBox="1"/>
          <p:nvPr/>
        </p:nvSpPr>
        <p:spPr>
          <a:xfrm>
            <a:off x="758952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5교시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85800" y="3246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화면의 언어와 빛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85800" y="44805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14:40–15:30  ·  얼마나 가까이, 어디서, 화면 어디에, 어떤 빛으로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샷 크기: 얼마나 가까이 찍느냐가 말을 정한다</a:t>
            </a:r>
            <a:endParaRPr lang="en-US" sz="2800" dirty="0"/>
          </a:p>
        </p:txBody>
      </p:sp>
      <p:pic>
        <p:nvPicPr>
          <p:cNvPr id="12" name="Image 0" descr="익스트림 와이드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2017715" cy="2697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407408"/>
            <a:ext cx="2017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익스트림 와이드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709160"/>
            <a:ext cx="20177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Extreme Wide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956048"/>
            <a:ext cx="20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어디인지</a:t>
            </a:r>
            <a:endParaRPr lang="en-US" sz="1200" dirty="0"/>
          </a:p>
        </p:txBody>
      </p:sp>
      <p:pic>
        <p:nvPicPr>
          <p:cNvPr id="16" name="Image 1" descr="와이드 · 풀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86395" y="1600200"/>
            <a:ext cx="2017715" cy="269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886395" y="4407408"/>
            <a:ext cx="2017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와이드 · 풀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2886395" y="4709160"/>
            <a:ext cx="20177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Wide / Full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2886395" y="4956048"/>
            <a:ext cx="20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누가, 어디서</a:t>
            </a:r>
            <a:endParaRPr lang="en-US" sz="1200" dirty="0"/>
          </a:p>
        </p:txBody>
      </p:sp>
      <p:pic>
        <p:nvPicPr>
          <p:cNvPr id="20" name="Image 2" descr="미디엄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6990" y="1600200"/>
            <a:ext cx="2017715" cy="269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086990" y="4407408"/>
            <a:ext cx="2017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미디엄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086990" y="4709160"/>
            <a:ext cx="20177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Medium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086990" y="4956048"/>
            <a:ext cx="20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무엇을 하는지</a:t>
            </a:r>
            <a:endParaRPr lang="en-US" sz="1200" dirty="0"/>
          </a:p>
        </p:txBody>
      </p:sp>
      <p:pic>
        <p:nvPicPr>
          <p:cNvPr id="24" name="Image 3" descr="클로즈업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287585" y="1600200"/>
            <a:ext cx="2017715" cy="2697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87585" y="4407408"/>
            <a:ext cx="2017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클로즈업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287585" y="4709160"/>
            <a:ext cx="20177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Close-up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287585" y="4956048"/>
            <a:ext cx="20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감정, 동작</a:t>
            </a:r>
            <a:endParaRPr lang="en-US" sz="1200" dirty="0"/>
          </a:p>
        </p:txBody>
      </p:sp>
      <p:pic>
        <p:nvPicPr>
          <p:cNvPr id="28" name="Image 4" descr="익스트림 클로즈업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88180" y="1600200"/>
            <a:ext cx="2017715" cy="269748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488180" y="4407408"/>
            <a:ext cx="2017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익스트림 클로즈업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9488180" y="4709160"/>
            <a:ext cx="20177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Extreme Close-up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9488180" y="4956048"/>
            <a:ext cx="20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강조, 질감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어디서(와이드) → 누가 무엇을(미디엄) → 어떤 감정으로(클로즈업)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앵글: 어디서 보느냐가 느낌을 바꾼다</a:t>
            </a:r>
            <a:endParaRPr lang="en-US" sz="2800" dirty="0"/>
          </a:p>
        </p:txBody>
      </p:sp>
      <p:pic>
        <p:nvPicPr>
          <p:cNvPr id="12" name="Image 0" descr="하이앵글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2533574" cy="22295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3921185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하이앵글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241225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High angle  ·  내려다보기 · 작고 귀엽게</a:t>
            </a:r>
            <a:endParaRPr lang="en-US" sz="1150" dirty="0"/>
          </a:p>
        </p:txBody>
      </p:sp>
      <p:pic>
        <p:nvPicPr>
          <p:cNvPr id="15" name="Image 1" descr="아이레벨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47974" y="1600200"/>
            <a:ext cx="2533574" cy="22295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47974" y="3921185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아이레벨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447974" y="4241225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Eye level  ·  눈높이 · 자연스럽게</a:t>
            </a:r>
            <a:endParaRPr lang="en-US" sz="1150" dirty="0"/>
          </a:p>
        </p:txBody>
      </p:sp>
      <p:pic>
        <p:nvPicPr>
          <p:cNvPr id="18" name="Image 2" descr="로우앵글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0148" y="1600200"/>
            <a:ext cx="2533574" cy="22295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210148" y="3921185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로우앵글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210148" y="4241225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Low angle  ·  올려다보기 · 크고 당당하게</a:t>
            </a:r>
            <a:endParaRPr lang="en-US" sz="1150" dirty="0"/>
          </a:p>
        </p:txBody>
      </p:sp>
      <p:pic>
        <p:nvPicPr>
          <p:cNvPr id="21" name="Image 3" descr="탑뷰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72321" y="1600200"/>
            <a:ext cx="2533574" cy="222954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72321" y="3921185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탑뷰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8972321" y="4241225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Top-down  ·  바로 위 · 음식 · 손 작업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더치 앵글(기울이기): 불안하고 역동적인 느낌. 가끔만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① 주인공을 어디에 둘까</a:t>
            </a:r>
            <a:endParaRPr lang="en-US" sz="2800" dirty="0"/>
          </a:p>
        </p:txBody>
      </p:sp>
      <p:pic>
        <p:nvPicPr>
          <p:cNvPr id="12" name="Image 0" descr="삼분할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3423818" cy="2926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61772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삼분할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89204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선이 만나는 점에 주인공, 눈은 위쪽 선에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827073" y="1600200"/>
            <a:ext cx="0" cy="2926080"/>
          </a:xfrm>
          <a:prstGeom prst="line">
            <a:avLst/>
          </a:prstGeom>
          <a:noFill/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2575560"/>
            <a:ext cx="3423818" cy="0"/>
          </a:xfrm>
          <a:prstGeom prst="line">
            <a:avLst/>
          </a:prstGeom>
          <a:noFill/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968346" y="1600200"/>
            <a:ext cx="0" cy="2926080"/>
          </a:xfrm>
          <a:prstGeom prst="line">
            <a:avLst/>
          </a:prstGeom>
          <a:noFill/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3550920"/>
            <a:ext cx="3423818" cy="0"/>
          </a:xfrm>
          <a:prstGeom prst="line">
            <a:avLst/>
          </a:prstGeom>
          <a:noFill/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pic>
        <p:nvPicPr>
          <p:cNvPr id="19" name="Image 1" descr="리딩 라인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3938" y="1600200"/>
            <a:ext cx="3423818" cy="29260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83938" y="461772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리딩 라인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383938" y="489204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길 · 난간 · 복도의 선이 주인공을 가리키게</a:t>
            </a:r>
            <a:endParaRPr lang="en-US" sz="1150" dirty="0"/>
          </a:p>
        </p:txBody>
      </p:sp>
      <p:pic>
        <p:nvPicPr>
          <p:cNvPr id="22" name="Image 2" descr="프레임 속 프레임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82077" y="1600200"/>
            <a:ext cx="3423818" cy="29260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082077" y="461772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프레임 속 프레임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082077" y="489204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문 · 창문으로 주인공을 한 번 더 감싸기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대칭: 양쪽이 같은 곳(복도 · 건물 정면)은 가운데가 정답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10가지 · 화면 안에 숨은 선 · 점 · 도형</a:t>
            </a:r>
            <a:endParaRPr lang="en-US" sz="2800" dirty="0"/>
          </a:p>
        </p:txBody>
      </p:sp>
      <p:pic>
        <p:nvPicPr>
          <p:cNvPr id="12" name="Image 0" descr="삼분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1981139" cy="132075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2966679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069848" y="2966679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삼분할</a:t>
            </a:r>
            <a:endParaRPr lang="en-US" sz="1400" dirty="0"/>
          </a:p>
        </p:txBody>
      </p:sp>
      <p:pic>
        <p:nvPicPr>
          <p:cNvPr id="15" name="Image 1" descr="교차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539" y="1554480"/>
            <a:ext cx="1981139" cy="132075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895539" y="2966679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279587" y="2966679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교차점</a:t>
            </a:r>
            <a:endParaRPr lang="en-US" sz="1400" dirty="0"/>
          </a:p>
        </p:txBody>
      </p:sp>
      <p:pic>
        <p:nvPicPr>
          <p:cNvPr id="18" name="Image 2" descr="황금비 · 황금나선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278" y="1554480"/>
            <a:ext cx="1981139" cy="132075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05278" y="2966679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9326" y="2966679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황금비 · 황금나선</a:t>
            </a:r>
            <a:endParaRPr lang="en-US" sz="1400" dirty="0"/>
          </a:p>
        </p:txBody>
      </p:sp>
      <p:pic>
        <p:nvPicPr>
          <p:cNvPr id="21" name="Image 3" descr="수평선 · 수직선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1554480"/>
            <a:ext cx="1981139" cy="132075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315017" y="2966679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699065" y="2966679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수평선 · 수직선</a:t>
            </a:r>
            <a:endParaRPr lang="en-US" sz="1400" dirty="0"/>
          </a:p>
        </p:txBody>
      </p:sp>
      <p:pic>
        <p:nvPicPr>
          <p:cNvPr id="24" name="Image 4" descr="사선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756" y="1554480"/>
            <a:ext cx="1981139" cy="1320759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524756" y="2966679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9908804" y="2966679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사선</a:t>
            </a:r>
            <a:endParaRPr lang="en-US" sz="1400" dirty="0"/>
          </a:p>
        </p:txBody>
      </p:sp>
      <p:pic>
        <p:nvPicPr>
          <p:cNvPr id="27" name="Image 5" descr="삼각형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33607"/>
            <a:ext cx="1981139" cy="1320759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85800" y="49458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06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1069848" y="4945807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삼각형</a:t>
            </a:r>
            <a:endParaRPr lang="en-US" sz="1400" dirty="0"/>
          </a:p>
        </p:txBody>
      </p:sp>
      <p:pic>
        <p:nvPicPr>
          <p:cNvPr id="30" name="Image 6" descr="원형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539" y="3533607"/>
            <a:ext cx="1981139" cy="1320759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2895539" y="49458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07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3279587" y="4945807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원형</a:t>
            </a:r>
            <a:endParaRPr lang="en-US" sz="1400" dirty="0"/>
          </a:p>
        </p:txBody>
      </p:sp>
      <p:pic>
        <p:nvPicPr>
          <p:cNvPr id="33" name="Image 7" descr="S자 곡선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278" y="3533607"/>
            <a:ext cx="1981139" cy="1320759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105278" y="49458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08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5489326" y="4945807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S자 곡선</a:t>
            </a:r>
            <a:endParaRPr lang="en-US" sz="1400" dirty="0"/>
          </a:p>
        </p:txBody>
      </p:sp>
      <p:pic>
        <p:nvPicPr>
          <p:cNvPr id="36" name="Image 8" descr="유도선 · 소실점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017" y="3533607"/>
            <a:ext cx="1981139" cy="1320759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315017" y="49458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09</a:t>
            </a:r>
            <a:endParaRPr lang="en-US" sz="1300" dirty="0"/>
          </a:p>
        </p:txBody>
      </p:sp>
      <p:sp>
        <p:nvSpPr>
          <p:cNvPr id="38" name="Text 26"/>
          <p:cNvSpPr txBox="1"/>
          <p:nvPr/>
        </p:nvSpPr>
        <p:spPr>
          <a:xfrm>
            <a:off x="7699065" y="4945807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유도선 · 소실점</a:t>
            </a:r>
            <a:endParaRPr lang="en-US" sz="1400" dirty="0"/>
          </a:p>
        </p:txBody>
      </p:sp>
      <p:pic>
        <p:nvPicPr>
          <p:cNvPr id="39" name="Image 9" descr="프레임 속 프레임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4756" y="3533607"/>
            <a:ext cx="1981139" cy="1320759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524756" y="49458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Text 28"/>
          <p:cNvSpPr txBox="1"/>
          <p:nvPr/>
        </p:nvSpPr>
        <p:spPr>
          <a:xfrm>
            <a:off x="9908804" y="4945807"/>
            <a:ext cx="1597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프레임 속 프레임</a:t>
            </a:r>
            <a:endParaRPr lang="en-US" sz="1400" dirty="0"/>
          </a:p>
        </p:txBody>
      </p:sp>
      <p:sp>
        <p:nvSpPr>
          <p:cNvPr id="42" name="Shape 29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43" name="Text 30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구도는 규칙이 아니라 선택: 보는 사람의 시선을 어디로 보낼지 내가 정하는 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01 · 삼분할</a:t>
            </a:r>
            <a:endParaRPr lang="en-US" sz="2800" dirty="0"/>
          </a:p>
        </p:txBody>
      </p:sp>
      <p:pic>
        <p:nvPicPr>
          <p:cNvPr id="12" name="Image 0" descr="삼분할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RULE OF THIRDS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가운데를 비워 자연스럽고 여유 있는 균형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격자를 켜고 주인공은 세로선 위에, 수평선은 가로선 위에. 가운데에 두는 습관부터 깨기.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운동장 끝 하늘, 창가 벤치에 앉은 짝, 넓은 복도 한쪽에 선 사람.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 화면은 가로선 두 개가 핵심. 얼굴은 위쪽 선, 자막은 아래쪽 선 근처에.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가운데를 비우면 화면이 숨을 쉽니다. 모든 구도의 출발점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02 · 교차점</a:t>
            </a:r>
            <a:endParaRPr lang="en-US" sz="2800" dirty="0"/>
          </a:p>
        </p:txBody>
      </p:sp>
      <p:pic>
        <p:nvPicPr>
          <p:cNvPr id="12" name="Image 0" descr="교차점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POWER POINTS (INTERSECTIONS)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격자의 네 점은 시선이 가장 먼저 닿는 자리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인물은 눈을, 물건은 핵심 부분(라떼아트 · 로고)을 점 위에. 보는 방향의 반대편 점을 고르면 앞에 여백이 생깁니다.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짝의 얼굴 클로즈업, 책상 위 컵 하나, 손에 든 소품.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세로에선 위쪽 두 점이 얼굴 자리. 오른쪽 아래 점은 버튼 · 캡션에 가리기 쉬우니 피하기.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선보다 점이 더 셉니다. 주인공의 '눈'을 점에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03 · 황금비 · 황금나선</a:t>
            </a:r>
            <a:endParaRPr lang="en-US" sz="2800" dirty="0"/>
          </a:p>
        </p:txBody>
      </p:sp>
      <p:pic>
        <p:nvPicPr>
          <p:cNvPr id="12" name="Image 0" descr="황금비 · 황금나선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GOLDEN RATIO · FIBONACCI SPIRAL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: 1.618. 삼분할보다 조금 더 안쪽, 더 우아한 흐름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선을 3등분(33%) 대신 약 38% · 62% 자리에. 나선이 말려 들어가는 끝에 주인공을 두면 시선이 곡선을 타고 들어갑니다.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음식 플레이팅, 굽은 계단 난간, 꽃 · 화분 같은 곡선 소품.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나선을 세로로 돌려 쓰고 나선 끝을 얼굴이나 제품에. 찍을 땐 삼분할, 고르고 자를 땐 황금비로 다듬기.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삼분할의 정밀 버전. 찍을 땐 삼분할, 다듬을 땐 황금비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04 · 수평선 · 수직선</a:t>
            </a:r>
            <a:endParaRPr lang="en-US" sz="2800" dirty="0"/>
          </a:p>
        </p:txBody>
      </p:sp>
      <p:pic>
        <p:nvPicPr>
          <p:cNvPr id="12" name="Image 0" descr="수평선 · 수직선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HORIZONTAL &amp; VERTICAL LINES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가로선은 고요 · 안정 · 넓음, 세로선은 높이 · 힘 · 단단함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수평선은 가운데 말고 위 1/3이나 아래 1/3에(하늘이 주인공이면 아래로). 수평계를 켜서 기울지 않게.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창틀, 칠판, 운동장 끝선, 복도 기둥, 건물 세로선.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 화면은 세로선이 강한 화면. 폰을 위로 꺾으면 건물 세로선이 기울어지니 폰을 똑바로 세우기.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선이 비뚤어지면 영상 전체가 아마추어처럼 보입니다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05 · 사선</a:t>
            </a:r>
            <a:endParaRPr lang="en-US" sz="2800" dirty="0"/>
          </a:p>
        </p:txBody>
      </p:sp>
      <p:pic>
        <p:nvPicPr>
          <p:cNvPr id="12" name="Image 0" descr="사선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DIAGONAL LINES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움직임 · 속도 · 긴장. 멈춘 장면에도 방향이 생긴다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계단 · 난간 · 그림자 · 길이 화면을 모서리에서 모서리로 가로지르게. 카메라를 기울이는 '더치 앵글'은 긴장을 줄 때만 짧게.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계단, 경사로, 에스컬레이터, 오후에 비스듬히 들어오는 햇살 그림자.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 화면에선 사선이 길어져 효과가 더 커집니다. 짧은 계단도 깊고 높아 보여요.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똑같은 계단도 비스듬히 넣으면 움직이기 시작합니다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06 · 삼각형</a:t>
            </a:r>
            <a:endParaRPr lang="en-US" sz="2800" dirty="0"/>
          </a:p>
        </p:txBody>
      </p:sp>
      <p:pic>
        <p:nvPicPr>
          <p:cNvPr id="12" name="Image 0" descr="삼각형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TRIANGLE COMPOSITION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바로 선 삼각형은 안정 · 든든함, 거꾸로 선 삼각형은 긴장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셋을 일렬로 세우지 말고 높이를 다르게. 단체 사진은 가운데를 높게, 정물은 큰 것 하나 + 작은 것 둘.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컵 · 디저트 · 화분 세 개, 크루 단체 사진, 앉은 사람의 상반신(머리가 꼭짓점).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세로에선 위아래로 긴 삼각형. 얼굴이 꼭짓점, 두 손과 소품이 밑변.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셋을 일렬로 세우지 말고, 높이를 다르게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07 · 원형</a:t>
            </a:r>
            <a:endParaRPr lang="en-US" sz="2800" dirty="0"/>
          </a:p>
        </p:txBody>
      </p:sp>
      <p:pic>
        <p:nvPicPr>
          <p:cNvPr id="12" name="Image 0" descr="원형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CIRCULAR COMPOSITION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시선이 화면 안을 돌며 머문다. 완결 · 조화 · 모임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접시 · 컵 · 시계 같은 동그라미를 바로 위에서(탑뷰). 소품을 원을 따라 놓고 가운데에 주인공.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카페 테이블 탑뷰, 둘러앉은 크루, 둥근 창, 나선 계단을 위에서.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원이 가로 폭을 꽉 채우게 놓고, 위 · 아래는 자막 자리로 비우기.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동그라미는 시선을 가둡니다. 음식 · 제품 콘텐츠의 기본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08 · S자 곡선</a:t>
            </a:r>
            <a:endParaRPr lang="en-US" sz="2800" dirty="0"/>
          </a:p>
        </p:txBody>
      </p:sp>
      <p:pic>
        <p:nvPicPr>
          <p:cNvPr id="12" name="Image 0" descr="S자 곡선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S-CURVE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부드러움 · 여유 · 깊이. 시선이 천천히 안쪽으로 걸어 들어간다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가까운 아래에서 시작해 멀리 위로 사라지는 곡선 찾기. 조금 높은 곳에서 내려다보면 잘 보입니다. 한 번만 휘면 C자 곡선.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굽은 산책로, 하천, 휘어진 계단 · 난간, 줄 서 있는 사람들.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 화면과 가장 잘 맞는 선. 화면 아래에서 위 끝까지 이어지게.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직선은 가리키고, 곡선은 데려갑니다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09 · 유도선 · 소실점</a:t>
            </a:r>
            <a:endParaRPr lang="en-US" sz="2800" dirty="0"/>
          </a:p>
        </p:txBody>
      </p:sp>
      <p:pic>
        <p:nvPicPr>
          <p:cNvPr id="12" name="Image 0" descr="유도선 · 소실점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LEADING LINES · VANISHING POINT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선들이 한 점으로 모이며 '여기를 보라'고 가리킨다. 깊이감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복도 · 길 · 책상 줄의 선이 모이는 곳에 주인공. 폰을 무릎 높이로 낮추면 바닥 선이 길어져 효과가 커집니다.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공학관 복도, 긴 계단, 주차장 선, 강의실 책상 줄.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소실점은 가운데보다 약간 위에. 인물이 선을 따라 걸어오거나 멀어지는 장면으로.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선은 화살표입니다. 화살표 끝에 주인공을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10 · 프레임 속 프레임</a:t>
            </a:r>
            <a:endParaRPr lang="en-US" sz="2800" dirty="0"/>
          </a:p>
        </p:txBody>
      </p:sp>
      <p:pic>
        <p:nvPicPr>
          <p:cNvPr id="12" name="Image 0" descr="프레임 속 프레임 구도 도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5727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FRAME WITHIN A FRAME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74520"/>
            <a:ext cx="4647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시선을 가두고 집중시킨다. 엿보는 느낌 · 앞뒤 깊이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858000" y="26609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27249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이렇게 찍기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9718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문 · 창문 · 나뭇가지 · 어깨 너머로 주인공을 한 번 더 감싸기. 앞의 틀은 어둡게, 주인공은 밝은 쪽에.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5753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6393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학교에서 찾기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8862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강의실 문, 창틀, 복도 끝 출입구, 노트북 화면 너머.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858000" y="4489704"/>
            <a:ext cx="4647895" cy="0"/>
          </a:xfrm>
          <a:prstGeom prst="line">
            <a:avLst/>
          </a:prstGeom>
          <a:noFill/>
          <a:ln w="9525">
            <a:solidFill>
              <a:srgbClr val="DDE4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553712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세로 9:16에서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4800600"/>
            <a:ext cx="4647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세로로 긴 문틀이 세로 화면과 딱 맞습니다. 문틀 밖에서 안을 보는 샷으로 장면 시작하기.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화면 안에 화면을 하나 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+ 4가지 더 · 알아 두면 바로 쓰는 구도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2499284" cy="38404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pic>
        <p:nvPicPr>
          <p:cNvPr id="13" name="Image 0" descr="대칭 · 중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499284" cy="166618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14400" y="3449269"/>
            <a:ext cx="2042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SYMMETRY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3696157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대칭 · 중앙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4107637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양쪽이 같은 복도 · 건물 정면은 가운데가 정답. 웅장하고 단정하게.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459404" y="1600200"/>
            <a:ext cx="2499284" cy="38404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pic>
        <p:nvPicPr>
          <p:cNvPr id="18" name="Image 1" descr="여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404" y="1600200"/>
            <a:ext cx="2499284" cy="166618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688004" y="3449269"/>
            <a:ext cx="2042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NEGATIVE SPACE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3688004" y="3696157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여백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3688004" y="4107637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빈 하늘 · 벽을 넓게. 고요함 · 외로움 · 미니멀. 자막 자리도 됩니다.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33008" y="1600200"/>
            <a:ext cx="2499284" cy="38404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pic>
        <p:nvPicPr>
          <p:cNvPr id="23" name="Image 2" descr="전경 겹치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1600200"/>
            <a:ext cx="2499284" cy="166618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461608" y="3449269"/>
            <a:ext cx="2042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FOREGROUND LAYERS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6461608" y="3696157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전경 겹치기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461608" y="4107637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앞에 흐린 잎 · 소품을 걸면 앞 · 중간 · 뒤 세 겹의 깊이가 생깁니다.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9006611" y="1600200"/>
            <a:ext cx="2499284" cy="38404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pic>
        <p:nvPicPr>
          <p:cNvPr id="28" name="Image 3" descr="패턴과 깨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611" y="1600200"/>
            <a:ext cx="2499284" cy="1666189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235211" y="3449269"/>
            <a:ext cx="2042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PATTERN &amp; BREAK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9235211" y="3696157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패턴과 깨기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235211" y="4107637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반복되는 무늬 속 하나만 다르게. 눈이 그 하나로 바로 갑니다.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영어 이름도 같이 기억하기: 4회차 AI 영상 프롬프트에 그대로 씁니다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한 장 정리 · 어떤 느낌을, 어떤 콘텐츠에</a:t>
            </a:r>
            <a:endParaRPr lang="en-US" sz="2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2009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3291840"/>
                <a:gridCol w="4053535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구도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주는 느낌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이런 콘텐츠에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삼분할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자연스러운 균형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인터뷰 · 브이로그 전반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교차점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주인공 강조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인물 · 제품 컷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황금비 · 나선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우아한 흐름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음식 · 공간 · 감성 영상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수평선 · 수직선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안정 · 고요 · 높이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풍경 · 공간 소개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사선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움직임 · 에너지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운동 · 여행 · 인트로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삼각형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안정 · 관계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단체 · 정물 · 대화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원형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집중 · 완결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음식 · 제품 탑뷰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S자 곡선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여유 · 여정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여행 · 산책 브이로그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09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유도선 · 소실점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깊이 · 집중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오프닝 · 장소 소개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프레임 속 프레임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몰입 · 엿보기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스토리 · 인물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구도 ② 무엇을 비울까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960120" y="1600200"/>
            <a:ext cx="2514600" cy="4434840"/>
          </a:xfrm>
          <a:prstGeom prst="roundRect">
            <a:avLst>
              <a:gd name="adj" fmla="val 8000"/>
            </a:avLst>
          </a:prstGeom>
          <a:solidFill>
            <a:srgbClr val="0E1110"/>
          </a:solidFill>
          <a:ln/>
        </p:spPr>
      </p:sp>
      <p:pic>
        <p:nvPicPr>
          <p:cNvPr id="13" name="Image 0" descr="세로 화면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691640"/>
            <a:ext cx="2331720" cy="42519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51560" y="1691640"/>
            <a:ext cx="2331720" cy="595274"/>
          </a:xfrm>
          <a:prstGeom prst="rect">
            <a:avLst/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15" name="Shape 11"/>
          <p:cNvSpPr/>
          <p:nvPr/>
        </p:nvSpPr>
        <p:spPr>
          <a:xfrm>
            <a:off x="1051560" y="4923130"/>
            <a:ext cx="2331720" cy="1020470"/>
          </a:xfrm>
          <a:prstGeom prst="rect">
            <a:avLst/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16" name="Shape 12"/>
          <p:cNvSpPr/>
          <p:nvPr/>
        </p:nvSpPr>
        <p:spPr>
          <a:xfrm>
            <a:off x="3010205" y="3477463"/>
            <a:ext cx="373075" cy="1445666"/>
          </a:xfrm>
          <a:prstGeom prst="rect">
            <a:avLst/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77240" y="60807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빨간 곳 = 버튼 · 캡션 자리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023360" y="1600200"/>
            <a:ext cx="748253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4224528" y="18516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224528" y="1851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892040" y="16002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헤드룸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269480" y="1600200"/>
            <a:ext cx="4053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머리 위는 손가락 한두 개만큼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023360" y="2697480"/>
            <a:ext cx="748253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4" name="Shape 20"/>
          <p:cNvSpPr/>
          <p:nvPr/>
        </p:nvSpPr>
        <p:spPr>
          <a:xfrm>
            <a:off x="4224528" y="29489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4528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4892040" y="2697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시선 여백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7269480" y="2697480"/>
            <a:ext cx="4053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보는 쪽, 가는 쪽에 공간을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023360" y="3794760"/>
            <a:ext cx="748253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9" name="Shape 25"/>
          <p:cNvSpPr/>
          <p:nvPr/>
        </p:nvSpPr>
        <p:spPr>
          <a:xfrm>
            <a:off x="4224528" y="40462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224528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4892040" y="3794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세로 안전 영역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7269480" y="3794760"/>
            <a:ext cx="4053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위 · 아래 · 오른쪽은 버튼과 캡션 자리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023360" y="4892040"/>
            <a:ext cx="748253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34" name="Shape 30"/>
          <p:cNvSpPr/>
          <p:nvPr/>
        </p:nvSpPr>
        <p:spPr>
          <a:xfrm>
            <a:off x="4224528" y="51435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224528" y="5143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4892040" y="4892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수직선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7269480" y="4892040"/>
            <a:ext cx="4053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문틀 · 건물 세로선을 화면과 나란히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빛의 방향</a:t>
            </a:r>
            <a:endParaRPr lang="en-US" sz="2800" dirty="0"/>
          </a:p>
        </p:txBody>
      </p:sp>
      <p:pic>
        <p:nvPicPr>
          <p:cNvPr id="12" name="Image 0" descr="순광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2533574" cy="2330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022528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순광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296848"/>
            <a:ext cx="2533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정면 · 밝고 선명</a:t>
            </a:r>
            <a:endParaRPr lang="en-US" sz="1150" dirty="0"/>
          </a:p>
        </p:txBody>
      </p:sp>
      <p:pic>
        <p:nvPicPr>
          <p:cNvPr id="15" name="Image 1" descr="측광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47974" y="1600200"/>
            <a:ext cx="2533574" cy="2330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47974" y="4022528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측광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447974" y="4296848"/>
            <a:ext cx="2533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옆 · 입체감과 분위기</a:t>
            </a:r>
            <a:endParaRPr lang="en-US" sz="1150" dirty="0"/>
          </a:p>
        </p:txBody>
      </p:sp>
      <p:pic>
        <p:nvPicPr>
          <p:cNvPr id="18" name="Image 2" descr="역광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0148" y="1600200"/>
            <a:ext cx="2533574" cy="233088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210148" y="4022528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역광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6210148" y="4296848"/>
            <a:ext cx="2533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뒤 · 윤곽은 예쁘지만 얼굴이 어두움</a:t>
            </a:r>
            <a:endParaRPr lang="en-US" sz="1150" dirty="0"/>
          </a:p>
        </p:txBody>
      </p:sp>
      <p:pic>
        <p:nvPicPr>
          <p:cNvPr id="21" name="Image 3" descr="그늘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72321" y="1600200"/>
            <a:ext cx="2533574" cy="233088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72321" y="4022528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그늘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8972321" y="4296848"/>
            <a:ext cx="2533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부드럽고 고르게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85800" y="557784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960120" y="557784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역광은 흰 종이 한 장으로 살린다: 얼굴 앞 아래쪽에서 빛을 튕겨 주기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3점 조명, 폰으로 하면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548640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/>
        </p:spPr>
      </p:sp>
      <p:sp>
        <p:nvSpPr>
          <p:cNvPr id="13" name="Shape 10"/>
          <p:cNvSpPr/>
          <p:nvPr/>
        </p:nvSpPr>
        <p:spPr>
          <a:xfrm flipV="1">
            <a:off x="1828800" y="3703320"/>
            <a:ext cx="1234440" cy="4114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94760" y="3703320"/>
            <a:ext cx="1143000" cy="411480"/>
          </a:xfrm>
          <a:prstGeom prst="line">
            <a:avLst/>
          </a:prstGeom>
          <a:noFill/>
          <a:ln w="19050">
            <a:solidFill>
              <a:srgbClr val="C9B26A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3063240" y="3246120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88036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사람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127248" y="4937760"/>
            <a:ext cx="603504" cy="603504"/>
          </a:xfrm>
          <a:prstGeom prst="ellipse">
            <a:avLst/>
          </a:prstGeom>
          <a:solidFill>
            <a:srgbClr val="26302C"/>
          </a:solidFill>
          <a:ln/>
        </p:spPr>
      </p:sp>
      <p:pic>
        <p:nvPicPr>
          <p:cNvPr id="18" name="Image 0" descr="FaVi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4159" y="5094671"/>
            <a:ext cx="289682" cy="28968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880360" y="5550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CE"/>
                </a:solidFill>
              </a:rPr>
              <a:t>카메라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097280" y="3931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1" descr="FaSu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75" y="412211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3152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키 = 창문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892040" y="3959352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4" name="Image 2" descr="Fa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216" y="4130528"/>
            <a:ext cx="316017" cy="31601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52628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필 = 흰 종이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127248" y="2011680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mage 3" descr="FaLightbul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159" y="2168591"/>
            <a:ext cx="289682" cy="28968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33172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C2E0"/>
                </a:solidFill>
              </a:rPr>
              <a:t>백 = 뒤쪽 스탠드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446520" y="1600200"/>
            <a:ext cx="505937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720840" y="1737360"/>
            <a:ext cx="4510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키 라이트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6720840" y="210312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가장 강한 주 조명. 얼굴 정면에서 45도 옆, 살짝 위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6720840" y="2560320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폰으로는 → 창문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446520" y="3108960"/>
            <a:ext cx="505937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720840" y="3246120"/>
            <a:ext cx="4510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필 라이트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6720840" y="361188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반대쪽에서 그림자를 부드럽게 채움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6720840" y="4069080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폰으로는 → 흰 종이 · 흰 벽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6446520" y="4617720"/>
            <a:ext cx="505937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6720840" y="4754880"/>
            <a:ext cx="4510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백 라이트</a:t>
            </a:r>
            <a:endParaRPr lang="en-US" sz="1700" dirty="0"/>
          </a:p>
        </p:txBody>
      </p:sp>
      <p:sp>
        <p:nvSpPr>
          <p:cNvPr id="39" name="Text 32"/>
          <p:cNvSpPr txBox="1"/>
          <p:nvPr/>
        </p:nvSpPr>
        <p:spPr>
          <a:xfrm>
            <a:off x="6720840" y="512064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뒤에서 머리 · 어깨 윤곽을 살려 배경과 분리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6720840" y="5577840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폰으로는 → 뒤쪽 스탠드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· 구도 빙고 (15분)</a:t>
            </a:r>
            <a:endParaRPr lang="en-US" sz="2800" dirty="0"/>
          </a:p>
        </p:txBody>
      </p:sp>
      <p:pic>
        <p:nvPicPr>
          <p:cNvPr id="12" name="Image 0" descr="삼분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1252728" cy="8351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245364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삼분할</a:t>
            </a:r>
            <a:endParaRPr lang="en-US" sz="1200" dirty="0"/>
          </a:p>
        </p:txBody>
      </p:sp>
      <p:pic>
        <p:nvPicPr>
          <p:cNvPr id="14" name="Image 1" descr="사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56" y="1572768"/>
            <a:ext cx="1252728" cy="8351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048256" y="245364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사선</a:t>
            </a:r>
            <a:endParaRPr lang="en-US" sz="1200" dirty="0"/>
          </a:p>
        </p:txBody>
      </p:sp>
      <p:pic>
        <p:nvPicPr>
          <p:cNvPr id="16" name="Image 2" descr="삼각형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572768"/>
            <a:ext cx="1252728" cy="83515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10712" y="245364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삼각형</a:t>
            </a:r>
            <a:endParaRPr lang="en-US" sz="1200" dirty="0"/>
          </a:p>
        </p:txBody>
      </p:sp>
      <p:pic>
        <p:nvPicPr>
          <p:cNvPr id="18" name="Image 3" descr="유도선 · 소실점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37688"/>
            <a:ext cx="1252728" cy="83515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85800" y="371856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유도선 · 소실점</a:t>
            </a:r>
            <a:endParaRPr lang="en-US" sz="1200" dirty="0"/>
          </a:p>
        </p:txBody>
      </p:sp>
      <p:pic>
        <p:nvPicPr>
          <p:cNvPr id="20" name="Image 4" descr="황금비 · 황금나선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256" y="2837688"/>
            <a:ext cx="1252728" cy="83515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048256" y="371856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황금비 (도전)</a:t>
            </a:r>
            <a:endParaRPr lang="en-US" sz="1200" dirty="0"/>
          </a:p>
        </p:txBody>
      </p:sp>
      <p:pic>
        <p:nvPicPr>
          <p:cNvPr id="22" name="Image 5" descr="원형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2837688"/>
            <a:ext cx="1252728" cy="83515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3410712" y="371856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원형</a:t>
            </a:r>
            <a:endParaRPr lang="en-US" sz="1200" dirty="0"/>
          </a:p>
        </p:txBody>
      </p:sp>
      <p:pic>
        <p:nvPicPr>
          <p:cNvPr id="24" name="Image 6" descr="프레임 속 프레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102608"/>
            <a:ext cx="1252728" cy="83515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85800" y="498348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프레임 속 프레임</a:t>
            </a:r>
            <a:endParaRPr lang="en-US" sz="1200" dirty="0"/>
          </a:p>
        </p:txBody>
      </p:sp>
      <p:pic>
        <p:nvPicPr>
          <p:cNvPr id="26" name="Image 7" descr="수평선 · 수직선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8256" y="4102608"/>
            <a:ext cx="1252728" cy="835152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2048256" y="498348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수평선 · 수직선</a:t>
            </a:r>
            <a:endParaRPr lang="en-US" sz="1200" dirty="0"/>
          </a:p>
        </p:txBody>
      </p:sp>
      <p:pic>
        <p:nvPicPr>
          <p:cNvPr id="28" name="Image 8" descr="S자 곡선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0712" y="4102608"/>
            <a:ext cx="1252728" cy="835152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3410712" y="498348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S자 곡선</a:t>
            </a:r>
            <a:endParaRPr lang="en-US" sz="1200" dirty="0"/>
          </a:p>
        </p:txBody>
      </p:sp>
      <p:sp>
        <p:nvSpPr>
          <p:cNvPr id="30" name="Text 18"/>
          <p:cNvSpPr txBox="1"/>
          <p:nvPr/>
        </p:nvSpPr>
        <p:spPr>
          <a:xfrm>
            <a:off x="5120640" y="1572768"/>
            <a:ext cx="6385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규칙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5120640" y="1901952"/>
            <a:ext cx="63852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크루별로 9칸 중 최대한 많이, 한 칸에 사진 한 장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가로 · 세로 · 대각선 한 줄을 채우면 빙고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같은 장소라도 구도가 다르면 OK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세로 사진 2장 이상 섞기 (숏폼 연습)</a:t>
            </a:r>
            <a:endParaRPr lang="en-US" sz="1400" dirty="0"/>
          </a:p>
        </p:txBody>
      </p:sp>
      <p:sp>
        <p:nvSpPr>
          <p:cNvPr id="32" name="Shape 20"/>
          <p:cNvSpPr/>
          <p:nvPr/>
        </p:nvSpPr>
        <p:spPr>
          <a:xfrm>
            <a:off x="5120640" y="3611880"/>
            <a:ext cx="638525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3" name="Text 21"/>
          <p:cNvSpPr txBox="1"/>
          <p:nvPr/>
        </p:nvSpPr>
        <p:spPr>
          <a:xfrm>
            <a:off x="5349240" y="3776472"/>
            <a:ext cx="5928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ChatGPT에 사진을 올리고</a:t>
            </a:r>
            <a:endParaRPr lang="en-US" sz="1100" dirty="0"/>
          </a:p>
        </p:txBody>
      </p:sp>
      <p:sp>
        <p:nvSpPr>
          <p:cNvPr id="34" name="Text 22"/>
          <p:cNvSpPr txBox="1"/>
          <p:nvPr/>
        </p:nvSpPr>
        <p:spPr>
          <a:xfrm>
            <a:off x="5349240" y="4087368"/>
            <a:ext cx="59280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이 사진은 ○○ 구도로 찍었어. 의도한 구도가 잘 보이는지 화면 속 선 · 점 · 도형 위치로 설명하고, 더 좋아지려면 폰을 어디로 옮기면 될지 한 가지만 알려줘.</a:t>
            </a:r>
            <a:endParaRPr lang="en-US" sz="1350" dirty="0"/>
          </a:p>
        </p:txBody>
      </p:sp>
      <p:sp>
        <p:nvSpPr>
          <p:cNvPr id="35" name="Shape 23"/>
          <p:cNvSpPr/>
          <p:nvPr/>
        </p:nvSpPr>
        <p:spPr>
          <a:xfrm>
            <a:off x="685800" y="56235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6" name="Text 24"/>
          <p:cNvSpPr txBox="1"/>
          <p:nvPr/>
        </p:nvSpPr>
        <p:spPr>
          <a:xfrm>
            <a:off x="960120" y="56235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빙고 사진은 드라이브 크루 폴더에. 가장 좋은 한 장이 크루 트리의 오너먼트가 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5교시 · 화면의 언어와 빛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· 구도 사진 미션 + AI 피드백 (25분)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학교 공간에서 15분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10312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☐  삼분할 × 2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☐  헤드룸 좋은 예 · 나쁜 예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☐  대칭 × 1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☐  시선 여백 좋은 예 · 나쁜 예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☐  리딩 라인 × 1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☐  탑뷰 × 1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☐  프레임 속 프레임 × 1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☐  역광 + 흰 종이 반사판 × 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72200" y="1600200"/>
            <a:ext cx="5333695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400800" y="1764792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ChatGPT에 사진을 올리고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2075688"/>
            <a:ext cx="48764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이 사진의 구도에서 좋은 점 1개, 고칠 점 2개를 알려줘. 초보자가 다음 촬영에서 바로 고칠 수 있게, 샷 크기 · 앵글 · 구도 용어를 써서.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72200" y="4023360"/>
            <a:ext cx="5333695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4652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워크북에 한 줄씩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46520" y="4572000"/>
            <a:ext cx="4785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AI가 맞게 본 것 하나: ________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AI가 놓친 것 하나: ________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760720"/>
            <a:ext cx="5333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AI는 규칙을 보고, 사람은 의도를 봅니다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RUBIT/build/.cache/s1/img07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RUBIT/build/.cache/s1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3258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06</a:t>
            </a:r>
            <a:endParaRPr lang="en-US" sz="11000" dirty="0"/>
          </a:p>
        </p:txBody>
      </p:sp>
      <p:sp>
        <p:nvSpPr>
          <p:cNvPr id="5" name="Text 1"/>
          <p:cNvSpPr txBox="1"/>
          <p:nvPr/>
        </p:nvSpPr>
        <p:spPr>
          <a:xfrm>
            <a:off x="758952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6교시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85800" y="3246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움직임 · 컷 · 소리, 그리고 장비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85800" y="44805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15:40–16:30  ·  흔들림 없이, 한 장면을 여러 컷으로, 소리까지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흔들림 잡기와 카메라 움직임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1981139" cy="20574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1310610" y="1810512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Pa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805" y="2000707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5800" y="2697480"/>
            <a:ext cx="1981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고정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3063240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Static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895539" y="1600200"/>
            <a:ext cx="1981139" cy="20574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520349" y="1810512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ArrowsAl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544" y="2000707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895539" y="2697480"/>
            <a:ext cx="1981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팬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2895539" y="3063240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Pan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105278" y="1600200"/>
            <a:ext cx="1981139" cy="20574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5730088" y="1810512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ArrowsAlt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283" y="2000707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105278" y="2697480"/>
            <a:ext cx="1981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틸트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5105278" y="3063240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Tilt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315017" y="1600200"/>
            <a:ext cx="1981139" cy="20574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7939827" y="1810512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9" name="Image 3" descr="FaCompressArrows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022" y="2000707"/>
            <a:ext cx="351130" cy="35113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15017" y="2697480"/>
            <a:ext cx="1981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다가가기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7315017" y="3063240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Push-in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524756" y="1600200"/>
            <a:ext cx="1981139" cy="20574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33" name="Shape 26"/>
          <p:cNvSpPr/>
          <p:nvPr/>
        </p:nvSpPr>
        <p:spPr>
          <a:xfrm>
            <a:off x="10149566" y="1810512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34" name="Image 4" descr="FaWalk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9761" y="2000707"/>
            <a:ext cx="351130" cy="35113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524756" y="2697480"/>
            <a:ext cx="1981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따라가기</a:t>
            </a:r>
            <a:endParaRPr lang="en-US" sz="1700" dirty="0"/>
          </a:p>
        </p:txBody>
      </p:sp>
      <p:sp>
        <p:nvSpPr>
          <p:cNvPr id="36" name="Text 28"/>
          <p:cNvSpPr txBox="1"/>
          <p:nvPr/>
        </p:nvSpPr>
        <p:spPr>
          <a:xfrm>
            <a:off x="9524756" y="3063240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Tracking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85800" y="3931920"/>
            <a:ext cx="3423818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914400" y="39319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1600200" y="3931920"/>
            <a:ext cx="2372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한 클립에 한 움직임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4383938" y="3931920"/>
            <a:ext cx="3423818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4612538" y="39319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</p:txBody>
      </p:sp>
      <p:sp>
        <p:nvSpPr>
          <p:cNvPr id="42" name="Text 34"/>
          <p:cNvSpPr txBox="1"/>
          <p:nvPr/>
        </p:nvSpPr>
        <p:spPr>
          <a:xfrm>
            <a:off x="5298338" y="3931920"/>
            <a:ext cx="2372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생각보다 두 배 천천히</a:t>
            </a:r>
            <a:endParaRPr lang="en-US" sz="1600" dirty="0"/>
          </a:p>
        </p:txBody>
      </p:sp>
      <p:sp>
        <p:nvSpPr>
          <p:cNvPr id="43" name="Shape 35"/>
          <p:cNvSpPr/>
          <p:nvPr/>
        </p:nvSpPr>
        <p:spPr>
          <a:xfrm>
            <a:off x="8082077" y="3931920"/>
            <a:ext cx="3423818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8310677" y="39319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</p:txBody>
      </p:sp>
      <p:sp>
        <p:nvSpPr>
          <p:cNvPr id="45" name="Text 37"/>
          <p:cNvSpPr txBox="1"/>
          <p:nvPr/>
        </p:nvSpPr>
        <p:spPr>
          <a:xfrm>
            <a:off x="8996477" y="3931920"/>
            <a:ext cx="2372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시작과 끝에 2초 멈추기</a:t>
            </a:r>
            <a:endParaRPr lang="en-US" sz="1600" dirty="0"/>
          </a:p>
        </p:txBody>
      </p:sp>
      <p:sp>
        <p:nvSpPr>
          <p:cNvPr id="46" name="Shape 38"/>
          <p:cNvSpPr/>
          <p:nvPr/>
        </p:nvSpPr>
        <p:spPr>
          <a:xfrm>
            <a:off x="685800" y="512064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960120" y="512064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흔들림은 자세로 먼저: 두 손, 팔꿈치는 몸에, 벽에 기대기. 앱 보정은 그다음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영화 현장은 이렇게 찍는다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1981139" cy="356616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A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697480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카메라 무빙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3246120"/>
            <a:ext cx="15239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달리 · 트럭 · 크레인 · 아크 · 리빌 · 휩 팬 · 돌리 줌 · 롱테이크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895539" y="1600200"/>
            <a:ext cx="1981139" cy="356616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169859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B</a:t>
            </a:r>
            <a:endParaRPr lang="en-US" sz="4800" dirty="0"/>
          </a:p>
        </p:txBody>
      </p:sp>
      <p:sp>
        <p:nvSpPr>
          <p:cNvPr id="18" name="Text 15"/>
          <p:cNvSpPr txBox="1"/>
          <p:nvPr/>
        </p:nvSpPr>
        <p:spPr>
          <a:xfrm>
            <a:off x="3169859" y="2697480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렌즈와 초점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169859" y="3246120"/>
            <a:ext cx="15239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화각이 감정을 바꾼다. 초점 이동으로 시선을 옮긴다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105278" y="1600200"/>
            <a:ext cx="1981139" cy="356616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379598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C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5379598" y="2697480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커버리지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379598" y="3246120"/>
            <a:ext cx="15239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한 장면을 여러 각도로. 대화 · 인터뷰 카메라 배치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15017" y="1600200"/>
            <a:ext cx="1981139" cy="356616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589337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D</a:t>
            </a:r>
            <a:endParaRPr lang="en-US" sz="4800" dirty="0"/>
          </a:p>
        </p:txBody>
      </p:sp>
      <p:sp>
        <p:nvSpPr>
          <p:cNvPr id="26" name="Text 23"/>
          <p:cNvSpPr txBox="1"/>
          <p:nvPr/>
        </p:nvSpPr>
        <p:spPr>
          <a:xfrm>
            <a:off x="7589337" y="2697480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화질과 소리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7589337" y="3246120"/>
            <a:ext cx="15239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180도 셔터 · 노출 도구 · 색 맞추기 · 조명 · 이중 녹음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524756" y="1600200"/>
            <a:ext cx="1981139" cy="356616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799076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E</a:t>
            </a:r>
            <a:endParaRPr lang="en-US" sz="4800" dirty="0"/>
          </a:p>
        </p:txBody>
      </p:sp>
      <p:sp>
        <p:nvSpPr>
          <p:cNvPr id="30" name="Text 27"/>
          <p:cNvSpPr txBox="1"/>
          <p:nvPr/>
        </p:nvSpPr>
        <p:spPr>
          <a:xfrm>
            <a:off x="9799076" y="2697480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현장 운영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9799076" y="3246120"/>
            <a:ext cx="15239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콜 순서 · 슬레이트 · 숏리스트 · 연속성 · 데이터 백업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85800" y="54406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60120" y="54406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장비는 폰이어도 일하는 방식은 현장과 똑같이. 그게 '실무'입니다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A 카메라 무빙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카메라 무빙 8가지 ①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13" name="Image 0" descr="달리 인 · 아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2533574" cy="16890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86968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DOLLY IN / OUT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86968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달리 인 · 아웃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카메라 자체가 다가가고 물러난다. 다가가면 몰입 · 긴장, 물러나면 고립 · 마무리.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86968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짐벌 들고 천천히 걷기. 줌 대신 발로.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47974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19" name="Image 1" descr="트럭 (옆으로 이동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974" y="1572768"/>
            <a:ext cx="2533574" cy="16890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649142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TRUCK · CRAB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3649142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트럭 (옆으로 이동)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3649142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피사체와 나란히 옆으로. 앞의 기둥 · 나무가 지나가며 깊이(시차)가 생긴다.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649142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전경을 하나 끼고 옆걸음. 바퀴 의자도 훌륭한 달리.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10148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25" name="Image 2" descr="페디스털 · 크레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48" y="1572768"/>
            <a:ext cx="2533574" cy="168904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11316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PEDESTAL · CRANE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411316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페디스털 · 크레인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411316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카메라 높이를 올리고 내린다. 올라가며 공간 공개, 내려오며 인물로 진입.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6411316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짐벌을 무릎 → 머리 위로. 틸트와 달리 몸 높이가 바뀐다.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972321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31" name="Image 3" descr="아크 (둘러 돌기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321" y="1572768"/>
            <a:ext cx="2533574" cy="168904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173489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ARC · ORBIT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9173489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아크 (둘러 돌기)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9173489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인물을 중심으로 원을 그리며 돈다. 결심 · 고백 · 제품 공개처럼 '중요한 순간'.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9173489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짐벌로 인물과 같은 거리를 지키며 옆걸음으로 반 바퀴.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85800" y="57150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960120" y="57150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무빙은 '왜 움직이는지'가 먼저. 이유 없는 움직임은 흔들림일 뿐입니다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A 카메라 무빙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카메라 무빙 8가지 ②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13" name="Image 0" descr="리빌 (드러내기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2533574" cy="16890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86968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REVEAL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86968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리빌 (드러내기)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기둥 · 벽 · 물건 뒤에서 나오며 주인공을 보여 준다. 궁금증 → 해소.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86968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벽 모서리나 컵 뒤에서 시작해 옆이나 위로 빠지기.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47974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19" name="Image 1" descr="휩 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974" y="1572768"/>
            <a:ext cx="2533574" cy="16890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649142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WHIP PAN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3649142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휩 팬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3649142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아주 빠른 팬으로 화면이 번지며 다음 대상으로 넘어간다. 에너지 · 장면 전환.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649142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끝 장면 휩 + 다음 장면 휩을 같은 방향으로 찍어 이으면 전환 효과.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10148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25" name="Image 2" descr="돌리 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48" y="1572768"/>
            <a:ext cx="2533574" cy="168904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11316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DOLLY ZOOM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411316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돌리 줌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411316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물러나며 줌인(또는 반대). 인물 크기는 그대로, 배경만 늘었다 줄었다. 충격 · 현기증.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6411316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뒤로 걸으며 줌인. 손으로는 어려워 짐벌 앱 기능을 쓰는 게 편하다.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972321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31" name="Image 3" descr="롱테이크 (원테이크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321" y="1572768"/>
            <a:ext cx="2533574" cy="168904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173489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LONG TAKE · ONER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9173489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롱테이크 (원테이크)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9173489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끊지 않고 한 번에 따라간다. 현장감 · 긴장 · 시간이 실제로 흐르는 느낌.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9173489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동선을 미리 걸어 보고(리허설) 짐벌로. 브이로그 오프닝에 강하다.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85800" y="57150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960120" y="57150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멋진 무빙도 한 영상에 한두 번. 많이 쓰면 효과가 사라집니다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A 카메라 무빙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폰과 짐벌로 현장 무빙 흉내 내기</a:t>
            </a:r>
            <a:endParaRPr lang="en-US" sz="28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200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  <a:gridCol w="295625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기법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장비 없이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짐벌이 있으면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현장 팁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달리 인 · 아웃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두 손 + 팔꿈치 고정, 닌자 걸음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가장 쉬운 무빙. 속도 일정하게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줌 대신 발로. 화질 손해 없음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트럭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바퀴 의자 · 카트에 앉아서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옆걸음, 짐벌 팬 모드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전경(기둥 · 화분)을 꼭 끼기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페디스털 · 크레인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무릎 높이에서 일어서며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로우 모드로 바닥 → 눈높이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틸트하지 말고 높이만 바꾸기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아크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인물과 같은 거리로 반 바퀴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팔로우 모드 + 옆걸음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인물 쪽으로 몸을 기울이기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리빌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물건 뒤에서 옆으로 빠지기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같은 방법, 더 부드럽게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첫 프레임은 완전히 가려 두기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휩 팬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손목 스냅으로 빠르게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스포츠(빠른 팬) 모드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두 장면을 같은 방향으로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돌리 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어려움(손으로 줌 조절 불가)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짐벌 앱의 돌리 줌 기능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배경이 깊은 장소에서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롱테이크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광각 0.5x + 닌자 걸음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동선 리허설 후 한 번에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실패 대비 두세 번 찍기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B 렌즈와 초점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줌과 달리는 다르다 · 돌리 줌의 원리</a:t>
            </a:r>
            <a:endParaRPr lang="en-US" sz="2800" dirty="0"/>
          </a:p>
        </p:txBody>
      </p:sp>
      <p:pic>
        <p:nvPicPr>
          <p:cNvPr id="12" name="Image 0" descr="돌리 줌 평면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760720" cy="3840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58000" y="1572768"/>
            <a:ext cx="4647895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132320" y="1728216"/>
            <a:ext cx="4099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줌 (Zoom)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2075688"/>
            <a:ext cx="4099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렌즈만 확대. 원근은 그대로라 평면적. 폰은 디지털 줌이면 화질도 손해.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858000" y="2871216"/>
            <a:ext cx="4647895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132320" y="3026664"/>
            <a:ext cx="4099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달리 (Dolly)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3374136"/>
            <a:ext cx="4099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카메라가 실제로 이동. 배경과 인물의 관계가 바뀌어 입체적.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858000" y="4169664"/>
            <a:ext cx="4647895" cy="1161288"/>
          </a:xfrm>
          <a:prstGeom prst="roundRect">
            <a:avLst>
              <a:gd name="adj" fmla="val 6299"/>
            </a:avLst>
          </a:prstGeom>
          <a:solidFill>
            <a:schemeClr val="tx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132320" y="4325112"/>
            <a:ext cx="4099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돌리 줌 (Dolly Zoom)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7132320" y="4672584"/>
            <a:ext cx="4099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</a:rPr>
              <a:t>물러나며 줌인. 인물 크기는 그대로, 배경만 바짝 다가오며 늘어난다. 충격 · 깨달음의 순간.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85800" y="56692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60120" y="56692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다가가고 싶으면 줌 버튼보다 발. 폰은 렌즈 배율(0.5x · 1x · 3x)만 바꾸고 그 사이는 걸어서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B 렌즈와 초점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렌즈가 감정을 바꾼다 · 0.5x · 1x · 3x</a:t>
            </a:r>
            <a:endParaRPr lang="en-US" sz="2800" dirty="0"/>
          </a:p>
        </p:txBody>
      </p:sp>
      <p:pic>
        <p:nvPicPr>
          <p:cNvPr id="12" name="Image 0" descr="광각 · 표준 · 망원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10820095" cy="324602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983389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0.5x 광각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880360" y="5038253"/>
            <a:ext cx="1229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WIDE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349149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공간이 넓고 깊게, 다이내믹. 가까이 대면 얼굴이 늘어난다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5788061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→ 공간 소개 · 좁은 방 · 롱테이크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383938" y="4983389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1x 표준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578498" y="5038253"/>
            <a:ext cx="1229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NORMAL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383938" y="5349149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사람 눈과 비슷한 자연스러움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383938" y="5788061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→ 브이로그 · 기본 촬영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8082077" y="4983389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2~3x 망원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10276637" y="5038253"/>
            <a:ext cx="1229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TELEPHOTO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082077" y="5349149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배경이 당겨지는 압축 · 인물 강조 · 관찰하는 시선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082077" y="5788061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→ 인물 클로즈업 · 인터뷰 B캠 · 제품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B 렌즈와 초점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초점 이동 · 시선을 옮기는 가장 영화 같은 방법</a:t>
            </a:r>
            <a:endParaRPr lang="en-US" sz="2800" dirty="0"/>
          </a:p>
        </p:txBody>
      </p:sp>
      <p:pic>
        <p:nvPicPr>
          <p:cNvPr id="12" name="Image 0" descr="초점 이동 전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6400800" cy="25945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앞사람에 초점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977640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뒷사람으로 초점 이동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1572768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RACK FOCUS · FOCUS PULL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452360" y="1847088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폰으로 하는 세 가지 방법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7452360" y="237744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45236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046720" y="2331720"/>
            <a:ext cx="3459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녹화 중 화면 탭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046720" y="2660904"/>
            <a:ext cx="345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가장 쉽다. 이동 속도는 폰이 정한다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452360" y="324612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45236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046720" y="3200400"/>
            <a:ext cx="3459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아이폰 시네마틱 모드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8046720" y="3529584"/>
            <a:ext cx="345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찍은 뒤 편집에서 초점을 옮길 수 있다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452360" y="411480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45236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046720" y="4069080"/>
            <a:ext cx="3459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수동 카메라 앱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8046720" y="4398264"/>
            <a:ext cx="345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초점 링을 직접 천천히 돌린다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효과를 키우려면 심도를 얕게: 앞 물체에 가까이, 배경은 멀리, 3x 망원으로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5샷 시퀀스: 뭘 찍을지 모를 때 꺼내는 공식</a:t>
            </a:r>
            <a:endParaRPr lang="en-US" sz="2800" dirty="0"/>
          </a:p>
        </p:txBody>
      </p:sp>
      <p:pic>
        <p:nvPicPr>
          <p:cNvPr id="12" name="Image 0" descr="손 클로즈업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2017715" cy="2697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95528" y="17099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9552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407408"/>
            <a:ext cx="2017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손 클로즈업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727448"/>
            <a:ext cx="20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무엇을 하는지</a:t>
            </a:r>
            <a:endParaRPr lang="en-US" sz="1200" dirty="0"/>
          </a:p>
        </p:txBody>
      </p:sp>
      <p:pic>
        <p:nvPicPr>
          <p:cNvPr id="17" name="Image 1" descr="얼굴 클로즈업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86395" y="1600200"/>
            <a:ext cx="2017715" cy="2697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996123" y="17099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2996123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2886395" y="4407408"/>
            <a:ext cx="2017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얼굴 클로즈업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2886395" y="4727448"/>
            <a:ext cx="20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누가, 어떤 표정으로</a:t>
            </a:r>
            <a:endParaRPr lang="en-US" sz="1200" dirty="0"/>
          </a:p>
        </p:txBody>
      </p:sp>
      <p:pic>
        <p:nvPicPr>
          <p:cNvPr id="22" name="Image 2" descr="와이드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6990" y="1600200"/>
            <a:ext cx="2017715" cy="26974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196718" y="17099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19671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086990" y="4407408"/>
            <a:ext cx="2017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와이드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086990" y="4727448"/>
            <a:ext cx="20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어디서</a:t>
            </a:r>
            <a:endParaRPr lang="en-US" sz="1200" dirty="0"/>
          </a:p>
        </p:txBody>
      </p:sp>
      <p:pic>
        <p:nvPicPr>
          <p:cNvPr id="27" name="Image 3" descr="어깨너머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287585" y="1600200"/>
            <a:ext cx="2017715" cy="269748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397313" y="17099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397313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287585" y="4407408"/>
            <a:ext cx="2017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어깨너머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287585" y="4727448"/>
            <a:ext cx="20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그 사람의 시점</a:t>
            </a:r>
            <a:endParaRPr lang="en-US" sz="1200" dirty="0"/>
          </a:p>
        </p:txBody>
      </p:sp>
      <p:pic>
        <p:nvPicPr>
          <p:cNvPr id="32" name="Image 4" descr="특이한 앵글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88180" y="1600200"/>
            <a:ext cx="2017715" cy="269748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597908" y="17099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959790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9488180" y="4407408"/>
            <a:ext cx="2017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특이한 앵글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9488180" y="4727448"/>
            <a:ext cx="20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탑뷰 · 로우앵글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85800" y="539496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960120" y="539496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컷마다 7초 이상, 두 번씩. ①과 ②는 같은 동작을 다른 크기로 → 편집에서 이어 붙이면 자연스러워요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컷을 잇는 규칙: 180도 · 30도 · B롤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/>
        </p:spPr>
      </p:sp>
      <p:sp>
        <p:nvSpPr>
          <p:cNvPr id="13" name="Shape 10"/>
          <p:cNvSpPr/>
          <p:nvPr/>
        </p:nvSpPr>
        <p:spPr>
          <a:xfrm>
            <a:off x="1051560" y="3429000"/>
            <a:ext cx="46634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1097280" y="3502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A49C"/>
                </a:solidFill>
              </a:rPr>
              <a:t>가상의 선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74520" y="3063240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sp>
        <p:nvSpPr>
          <p:cNvPr id="16" name="Shape 13"/>
          <p:cNvSpPr/>
          <p:nvPr/>
        </p:nvSpPr>
        <p:spPr>
          <a:xfrm>
            <a:off x="4160520" y="3063240"/>
            <a:ext cx="731520" cy="731520"/>
          </a:xfrm>
          <a:prstGeom prst="ellipse">
            <a:avLst/>
          </a:prstGeom>
          <a:solidFill>
            <a:srgbClr val="E6EEE9"/>
          </a:solidFill>
          <a:ln/>
        </p:spPr>
      </p:sp>
      <p:sp>
        <p:nvSpPr>
          <p:cNvPr id="17" name="Shape 14"/>
          <p:cNvSpPr/>
          <p:nvPr/>
        </p:nvSpPr>
        <p:spPr>
          <a:xfrm>
            <a:off x="2057400" y="452628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0" descr="FaVi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4311" y="4683191"/>
            <a:ext cx="289682" cy="28968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069080" y="452628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1" descr="Fa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991" y="4683191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43000" y="5257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1AE"/>
                </a:solidFill>
              </a:rPr>
              <a:t>카메라는 이쪽에서만 ✓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3081528" y="1920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2" descr="FaTi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174" y="206288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7490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A49C"/>
                </a:solidFill>
              </a:rPr>
              <a:t>넘어가면 방향이 뒤집혀 보여요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355080" y="1600200"/>
            <a:ext cx="51508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6" name="Shape 20"/>
          <p:cNvSpPr/>
          <p:nvPr/>
        </p:nvSpPr>
        <p:spPr>
          <a:xfrm>
            <a:off x="6583680" y="19659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5836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180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406640" y="182880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180도 규칙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406640" y="2240280"/>
            <a:ext cx="3916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두 사람 사이 선을 넘지 않기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355080" y="3108960"/>
            <a:ext cx="51508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1" name="Shape 25"/>
          <p:cNvSpPr/>
          <p:nvPr/>
        </p:nvSpPr>
        <p:spPr>
          <a:xfrm>
            <a:off x="6583680" y="34747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5836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30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7406640" y="333756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30도 규칙</a:t>
            </a:r>
            <a:endParaRPr lang="en-US" sz="1700" dirty="0"/>
          </a:p>
        </p:txBody>
      </p:sp>
      <p:sp>
        <p:nvSpPr>
          <p:cNvPr id="34" name="Text 28"/>
          <p:cNvSpPr txBox="1"/>
          <p:nvPr/>
        </p:nvSpPr>
        <p:spPr>
          <a:xfrm>
            <a:off x="7406640" y="3749040"/>
            <a:ext cx="3916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다시 찍을 땐 30도 이상, 또는 샷 크기를 바꾸기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6355080" y="4617720"/>
            <a:ext cx="51508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6" name="Shape 30"/>
          <p:cNvSpPr/>
          <p:nvPr/>
        </p:nvSpPr>
        <p:spPr>
          <a:xfrm>
            <a:off x="6583680" y="4983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658368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7406640" y="484632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B롤을 넉넉히</a:t>
            </a:r>
            <a:endParaRPr lang="en-US" sz="1700" dirty="0"/>
          </a:p>
        </p:txBody>
      </p:sp>
      <p:sp>
        <p:nvSpPr>
          <p:cNvPr id="39" name="Text 33"/>
          <p:cNvSpPr txBox="1"/>
          <p:nvPr/>
        </p:nvSpPr>
        <p:spPr>
          <a:xfrm>
            <a:off x="7406640" y="5257800"/>
            <a:ext cx="3916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손 · 소품 · 공간 컷. 편집에서 자른 자리를 덮어 줘요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C 커버리지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커버리지 · 한 장면을 여러 각도로 찍어 두기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86968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86968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마스터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6"/>
                </a:solidFill>
              </a:rPr>
              <a:t>MASTER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86968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</a:rPr>
              <a:t>장면 전체를 처음부터 끝까지 넓게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19629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720797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2720797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미디엄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720797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MEDIUM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2720797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두 사람 · 상반신, 관계가 보이게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53458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54626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4554626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어깨 너머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554626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OVER THE SHOULDER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554626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상대 어깨 너머로 말하는 사람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87288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388456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6388456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클로즈업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388456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CLOSE-UP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388456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표정 · 리액션, 가장 감정적인 컷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021117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2285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</a:t>
            </a:r>
            <a:endParaRPr lang="en-US" sz="3000" dirty="0"/>
          </a:p>
        </p:txBody>
      </p:sp>
      <p:sp>
        <p:nvSpPr>
          <p:cNvPr id="34" name="Text 31"/>
          <p:cNvSpPr txBox="1"/>
          <p:nvPr/>
        </p:nvSpPr>
        <p:spPr>
          <a:xfrm>
            <a:off x="8222285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인서트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222285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INSERT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8222285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손 · 컵 · 화면처럼 행동의 디테일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854946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bg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056114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</a:t>
            </a:r>
            <a:endParaRPr lang="en-US" sz="3000" dirty="0"/>
          </a:p>
        </p:txBody>
      </p:sp>
      <p:sp>
        <p:nvSpPr>
          <p:cNvPr id="39" name="Text 36"/>
          <p:cNvSpPr txBox="1"/>
          <p:nvPr/>
        </p:nvSpPr>
        <p:spPr>
          <a:xfrm>
            <a:off x="10056114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컷어웨이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056114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CUTAWAY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10056114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장면 밖의 것: 창밖 · 시계 · 주변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68680" y="4892040"/>
            <a:ext cx="10454335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685800" y="4983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넓게 → 좁게 (조명 · 세팅을 덜 바꾸는 순서)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편집은 찍어 둔 것 안에서만 할 수 있습니다. 커버리지는 편집자를 위한 보험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C 커버리지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대화 장면 카메라 배치 · 다섯 자리</a:t>
            </a:r>
            <a:endParaRPr lang="en-US" sz="2800" dirty="0"/>
          </a:p>
        </p:txBody>
      </p:sp>
      <p:pic>
        <p:nvPicPr>
          <p:cNvPr id="12" name="Image 0" descr="대화 장면 카메라 배치 평면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760720" cy="3840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58000" y="1645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424928" y="1591056"/>
            <a:ext cx="4080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마스터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7424928" y="1883664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두 사람 전체, 장면 전부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58000" y="23042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424928" y="2249424"/>
            <a:ext cx="4080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B 어깨 너머로 A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424928" y="2542032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숏 (Shot)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858000" y="29626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85800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424928" y="2907792"/>
            <a:ext cx="4080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 어깨 너머로 B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424928" y="3200400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리버스 숏 (Reverse Shot)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858000" y="3621024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85800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424928" y="3566160"/>
            <a:ext cx="4080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 클로즈업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3858768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표정 · 리액션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858000" y="4279392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85800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7424928" y="4224528"/>
            <a:ext cx="4080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B 클로즈업</a:t>
            </a:r>
            <a:endParaRPr lang="en-US" sz="1450" dirty="0"/>
          </a:p>
        </p:txBody>
      </p:sp>
      <p:sp>
        <p:nvSpPr>
          <p:cNvPr id="32" name="Text 28"/>
          <p:cNvSpPr txBox="1"/>
          <p:nvPr/>
        </p:nvSpPr>
        <p:spPr>
          <a:xfrm>
            <a:off x="7424928" y="4517136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표정 · 리액션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858000" y="4937760"/>
            <a:ext cx="4647895" cy="502920"/>
          </a:xfrm>
          <a:prstGeom prst="roundRect">
            <a:avLst>
              <a:gd name="adj" fmla="val 14545"/>
            </a:avLst>
          </a:prstGeom>
          <a:solidFill>
            <a:srgbClr val="F6E3E1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040880" y="4937760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빨간 점선 = 180도 선. 카메라는 한쪽에만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685800" y="56692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960120" y="56692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2와 3은 거울처럼: 같은 거리 · 높이 · 배율로 찍어야 편집이 매끄럽습니다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C 커버리지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인터뷰 실무 · 카메라 두 대로 찍기</a:t>
            </a:r>
            <a:endParaRPr lang="en-US" sz="2800" dirty="0"/>
          </a:p>
        </p:txBody>
      </p:sp>
      <p:pic>
        <p:nvPicPr>
          <p:cNvPr id="12" name="Image 0" descr="인터뷰 두 대 카메라 평면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600200"/>
            <a:ext cx="464789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A캠 와이드 + B캠 타이트(45도, 3x)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인터뷰이는 카메라 옆 인터뷰어를 본다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벽에서 1.5m 이상 떨어져 앉기(배경 깊이 · 그림자 없애기)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창문(금색)을 얼굴 45도 앞쪽에: 키 라이트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두 폰 모두 같은 화이트밸런스 · fps · 해상도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시작 전 손뼉 한 번: 두 카메라 · 녹음 싱크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질문 끝나고 1초 쉬고 대답(편집 여유)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85800" y="56692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60120" y="56692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B캠이 있으면 말을 잘라도 티가 나지 않습니다. 폰 두 대면 충분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C 커버리지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편집을 위한 촬영 · 현장에서 챙기는 네 가지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2499284" cy="3611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액션 겹쳐 찍기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OVERLAPPING ACTION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3154680"/>
            <a:ext cx="19963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같은 동작을 모든 각도에서 처음부터 끝까지. 편집에서 동작 중간에 잘라 이으면 컷이 사라진다(컷 온 액션).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59404" y="1600200"/>
            <a:ext cx="2499284" cy="3611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733724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3733724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핸들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733724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HANDLES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733724" y="3154680"/>
            <a:ext cx="19963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'액션' 전 2~3초, '컷' 후 2~3초 그대로 두기. 전환 · 속도 조절에 쓸 여유.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33008" y="1600200"/>
            <a:ext cx="2499284" cy="3611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07328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03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507328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룸톤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507328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ROOM TONE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3154680"/>
            <a:ext cx="19963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모두 멈추고 그 장소의 소리만 30초 이상. 대사 사이 빈 곳을 자연스럽게 메운다.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006611" y="1600200"/>
            <a:ext cx="2499284" cy="3611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280931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04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280931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B롤 넉넉히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9280931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B-ROLL · CUTAWAYS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280931" y="3154680"/>
            <a:ext cx="19963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손 · 소품 · 공간 · 창밖. 말이 길어질 때 덮을 그림. 필요하다 싶은 양의 두 배.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'나중에 편집에서 살리자'는 없습니다. 편집할 재료는 현장에서만 생깁니다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소리는 영상의 절반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2499284" cy="32918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RulerHorizon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06764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한 뼘 거리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3063240"/>
            <a:ext cx="19506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폰과 입 사이 한 뼘. 멀수록 방 울림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459404" y="1645920"/>
            <a:ext cx="2499284" cy="32918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733724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VolumeM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25" y="206764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733724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조용한 자리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3733724" y="3063240"/>
            <a:ext cx="19506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에어컨 · 냉장고 · 복도 소리 피하기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233008" y="1645920"/>
            <a:ext cx="2499284" cy="32918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6507328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729" y="20676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507328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룸톤 10초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507328" y="3063240"/>
            <a:ext cx="19506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끝에 말없이 10초 녹음 → 편집에서 빈 곳 메꾸기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9006611" y="1645920"/>
            <a:ext cx="2499284" cy="32918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9280931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9" name="Image 3" descr="FaTi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333" y="2067641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280931" y="2633472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현장음 살리기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280931" y="3063240"/>
            <a:ext cx="19506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발소리 · 물소리. 음악으로 다 덮지 않기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685800" y="52578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60120" y="52578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흐린 화면은 참아도, 안 들리는 소리는 못 참는다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D 화질 · 색 · 빛 · 소리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노출 실무 · 180도 셔터와 모니터링 도구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3931920" cy="36576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6"/>
                </a:solidFill>
              </a:rPr>
              <a:t>180° SHUTTER RULE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103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셔터 = 1 / (fps × 2)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24fps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→  1/50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30fps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→  1/60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60fps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242316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→  1/120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572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</a:rPr>
              <a:t>밝은 야외 → ND 필터로 빛을 줄여 셔터 지키기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892040" y="1600200"/>
            <a:ext cx="6613855" cy="811530"/>
          </a:xfrm>
          <a:prstGeom prst="roundRect">
            <a:avLst>
              <a:gd name="adj" fmla="val 9014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166360" y="1709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지브라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16636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ZEBRA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1600200"/>
            <a:ext cx="42821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하얗게 날아갈 곳에 빗금 표시. 얼굴엔 빗금이 살짝 걸리기 직전까지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92040" y="2548890"/>
            <a:ext cx="6613855" cy="811530"/>
          </a:xfrm>
          <a:prstGeom prst="roundRect">
            <a:avLst>
              <a:gd name="adj" fmla="val 9014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166360" y="265861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폴스 컬러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166360" y="300609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FALSE COLOR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995160" y="2548890"/>
            <a:ext cx="42821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밝기를 색으로 표시. 피부가 같은 색으로 나오게 맞추기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892040" y="3497580"/>
            <a:ext cx="6613855" cy="811530"/>
          </a:xfrm>
          <a:prstGeom prst="roundRect">
            <a:avLst>
              <a:gd name="adj" fmla="val 9014"/>
            </a:avLst>
          </a:prstGeom>
          <a:solidFill>
            <a:schemeClr val="bg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166360" y="36073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포커스 피킹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166360" y="39547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FOCUS PEAKING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95160" y="3497580"/>
            <a:ext cx="42821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초점 맞은 테두리에 색 표시. 수동 초점의 필수품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892040" y="4446270"/>
            <a:ext cx="6613855" cy="811530"/>
          </a:xfrm>
          <a:prstGeom prst="roundRect">
            <a:avLst>
              <a:gd name="adj" fmla="val 9014"/>
            </a:avLst>
          </a:prstGeom>
          <a:solidFill>
            <a:schemeClr val="bg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166360" y="455599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히스토그램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166360" y="4903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HISTOGRAM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995160" y="4446270"/>
            <a:ext cx="42821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밝기 분포 그래프. 오른쪽 벽에 붙으면 하늘 · 창이 날아감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수동 앱: 갤럭시 '프로 동영상' · 무료 Blackmagic Camera(아이폰, 일부 갤럭시 · 픽셀)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D 화질 · 색 · 빛 · 소리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색 실무 · 고정하고, 맞추고, 남겨 두기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2499284" cy="33832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고정하기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LOCK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3154680"/>
            <a:ext cx="19963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화이트밸런스 · 노출 · 초점을 잠그고 찍기. 컷 중간에 색이 변하지 않게.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59404" y="1600200"/>
            <a:ext cx="2499284" cy="33832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733724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3733724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맞추기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733724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MATCH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733724" y="3154680"/>
            <a:ext cx="19963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두 카메라는 같은 설정. 시작할 때 흰 종이 · 회색 카드를 함께 찍기.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33008" y="1600200"/>
            <a:ext cx="2499284" cy="338328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07328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03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507328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남겨 두기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507328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LOG &amp; LUT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3154680"/>
            <a:ext cx="19963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</a:rPr>
              <a:t>Log로 밋밋하게 찍고 편집에서 LUT로 색 입히기. 보정할 시간이 있을 때만.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006611" y="1600200"/>
            <a:ext cx="2499284" cy="33832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280931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04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280931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같은 빛에서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280931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LIGHT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280931" y="3154680"/>
            <a:ext cx="19963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한 장면은 같은 시간대에. 해가 움직이면 컷마다 색이 달라진다.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85800" y="52578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60120" y="52578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아마추어 티의 1순위는 컷마다 바뀌는 색. 화이트밸런스부터 고정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D 화질 · 색 · 빛 · 소리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빛 실무 · 현장 조명팀이 쓰는 다섯 가지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2003085" cy="3566160"/>
          </a:xfrm>
          <a:prstGeom prst="roundRect">
            <a:avLst>
              <a:gd name="adj" fmla="val 3652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87452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WindowMaximi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02192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587752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모티베이티드 빛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3017520"/>
            <a:ext cx="145444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MOTIVATED LIGHT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화면 속 창문 · 스탠드 쪽에서 빛이 오게. 빛에 '이유'가 있으면 자연스럽다.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890053" y="1600200"/>
            <a:ext cx="2003085" cy="3566160"/>
          </a:xfrm>
          <a:prstGeom prst="roundRect">
            <a:avLst>
              <a:gd name="adj" fmla="val 3652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164373" y="187452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Adju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774" y="202192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164373" y="2587752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네거티브 필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164373" y="3017520"/>
            <a:ext cx="145444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NEGATIVE FILL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검은 천 · 어두운 옷으로 한쪽 빛을 막기. 빛을 빼서 입체감을.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94305" y="1600200"/>
            <a:ext cx="2003085" cy="3566160"/>
          </a:xfrm>
          <a:prstGeom prst="roundRect">
            <a:avLst>
              <a:gd name="adj" fmla="val 3652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5368625" y="187452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Su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027" y="202192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368625" y="2587752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림 · 역광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368625" y="3017520"/>
            <a:ext cx="145444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RIM · BACKLIGHT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뒤에서 오는 빛으로 머리 · 어깨 윤곽. 배경과 인물이 분리된다.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298558" y="1600200"/>
            <a:ext cx="2003085" cy="3566160"/>
          </a:xfrm>
          <a:prstGeom prst="roundRect">
            <a:avLst>
              <a:gd name="adj" fmla="val 3652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7572878" y="187452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9" name="Image 3" descr="FaLightbul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279" y="2021921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572878" y="2587752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실용 조명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72878" y="3017520"/>
            <a:ext cx="145444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PRACTICALS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화면 안의 스탠드 · 전구 · 모니터. 분위기와 깊이를 동시에.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502811" y="1600200"/>
            <a:ext cx="2003085" cy="3566160"/>
          </a:xfrm>
          <a:prstGeom prst="roundRect">
            <a:avLst>
              <a:gd name="adj" fmla="val 3652"/>
            </a:avLst>
          </a:prstGeom>
          <a:solidFill>
            <a:schemeClr val="bg2"/>
          </a:solidFill>
          <a:ln/>
        </p:spPr>
      </p:sp>
      <p:sp>
        <p:nvSpPr>
          <p:cNvPr id="33" name="Shape 26"/>
          <p:cNvSpPr/>
          <p:nvPr/>
        </p:nvSpPr>
        <p:spPr>
          <a:xfrm>
            <a:off x="9777131" y="187452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34" name="Image 4" descr="FaCloudSu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532" y="2021921"/>
            <a:ext cx="272125" cy="27212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777131" y="2587752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매직아워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9777131" y="3017520"/>
            <a:ext cx="145444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GOLDEN · BLUE HOUR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해 뜬 직후 · 해 지기 직전의 부드러운 금빛, 해 진 직후의 푸른빛.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85800" y="54406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960120" y="54406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조명은 더하기만이 아니라 빼기. 흰 종이(반사)와 검은 천(네거티브 필)이 기본 장비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D 화질 · 색 · 빛 · 소리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소리 실무 · 녹음부가 지키는 다섯 가지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572768"/>
            <a:ext cx="10820095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886968" y="165506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6968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15727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이중 녹음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1572768"/>
            <a:ext cx="7025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핀마이크 + 폰 녹음 동시에. 하나가 끊겨도 산다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2304288"/>
            <a:ext cx="10820095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968" y="238658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86968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23042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마이크는 가까이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304288"/>
            <a:ext cx="7025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입에서 한 뼘. 거리가 두 배면 잡음이 확 늘어난다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" y="3035808"/>
            <a:ext cx="10820095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886968" y="31181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8696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303580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레벨 -12dB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035808"/>
            <a:ext cx="7025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가장 큰 말소리가 -12dB 근처. 0dB에 닿으면 깨진다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85800" y="3767328"/>
            <a:ext cx="10820095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8" name="Shape 25"/>
          <p:cNvSpPr/>
          <p:nvPr/>
        </p:nvSpPr>
        <p:spPr>
          <a:xfrm>
            <a:off x="886968" y="384962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86968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37673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룸톤 30초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3767328"/>
            <a:ext cx="7025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모두 멈추고 그 공간 소리만. 편집의 빈틈을 메운다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85800" y="4498848"/>
            <a:ext cx="10820095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33" name="Shape 30"/>
          <p:cNvSpPr/>
          <p:nvPr/>
        </p:nvSpPr>
        <p:spPr>
          <a:xfrm>
            <a:off x="886968" y="458114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86968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554480" y="449884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와일드 트랙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498848"/>
            <a:ext cx="7025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소리만 따로: 문 소리 · 발소리 · 대사 한 번 더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85800" y="54406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60120" y="54406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흐린 화면은 참아도 깨진 소리는 못 참습니다. 녹음은 두 군데에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E 현장 운영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현장의 약속 · 촬영 시작 콜 순서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조감독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롤 사운드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Roll Sound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51122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388282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녹음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388282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스피드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388282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Speed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816444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953604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조감독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953604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롤 카메라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953604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Roll Camera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381767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18927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촬영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518927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롤링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518927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Rolling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947089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084249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촬영부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84249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마커!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7084249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3CE"/>
                </a:solidFill>
              </a:rPr>
              <a:t>Marker · 슬레이트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512411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tx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649571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감독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649571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액션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8649571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3CE"/>
                </a:solidFill>
              </a:rPr>
              <a:t>Action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077733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214893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감독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214893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컷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0214893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Cut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68580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우리 크루 버전 (폰 촬영)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685800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감독 "녹음!"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2251122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42562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녹음 "돌아요"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3816444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907884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감독 "카메라!"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5381767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473207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촬영 "돌아요"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6947089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038529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슬레이트 손뼉 짝!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8512411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603851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2초 쉬고 "액션"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10077733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169173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끝나고 2초 뒤 "컷"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685800" y="512064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960120" y="512064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콜 순서를 지키면 '찍었는데 소리가 없다', '앞부분이 잘렸다'가 사라집니다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E 현장 운영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슬레이트와 숏리스트 · 무엇을 몇 번째로 찍었나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3840480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41732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205740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269748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33756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397764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" y="2194560"/>
            <a:ext cx="3840480" cy="2743200"/>
          </a:xfrm>
          <a:prstGeom prst="rect">
            <a:avLst/>
          </a:prstGeom>
          <a:solidFill>
            <a:srgbClr val="1B211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2377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SCENE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263347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</a:t>
            </a:r>
            <a:endParaRPr lang="en-US" sz="4400" dirty="0"/>
          </a:p>
        </p:txBody>
      </p:sp>
      <p:sp>
        <p:nvSpPr>
          <p:cNvPr id="22" name="Text 19"/>
          <p:cNvSpPr txBox="1"/>
          <p:nvPr/>
        </p:nvSpPr>
        <p:spPr>
          <a:xfrm>
            <a:off x="2057400" y="2377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SHOT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057400" y="263347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4</a:t>
            </a:r>
            <a:endParaRPr lang="en-US" sz="4400" dirty="0"/>
          </a:p>
        </p:txBody>
      </p:sp>
      <p:sp>
        <p:nvSpPr>
          <p:cNvPr id="24" name="Text 21"/>
          <p:cNvSpPr txBox="1"/>
          <p:nvPr/>
        </p:nvSpPr>
        <p:spPr>
          <a:xfrm>
            <a:off x="3246120" y="2377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TAKE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246120" y="263347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</a:t>
            </a:r>
            <a:endParaRPr lang="en-US" sz="44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" y="3657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</a:rPr>
              <a:t>PROD  카페 릴스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</a:rPr>
              <a:t>DIR  ○○○   CAM  ○○○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</a:rPr>
              <a:t>DATE  2026. 10. 22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5047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폰 현장: 종이에 번호 + 손뼉 '짝'</a:t>
            </a:r>
            <a:endParaRPr lang="en-US" sz="12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45920"/>
          <a:ext cx="6659575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011680"/>
                <a:gridCol w="1325880"/>
                <a:gridCol w="2133295"/>
                <a:gridCol w="502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씬-컷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크기 · 앵글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무빙 · 기법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1-1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익스트림 클로즈업 · 탑뷰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고정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라떼아트가 그려지는 잔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1-2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미디엄 · 아이레벨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달리 인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바리스타가 잔을 건넨다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1-3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와이드 · 하이앵글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페디스털 다운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비 오는 창가와 카페 전경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1-4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클로즈업 · 3x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초점 이동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컵 → 손님의 미소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1-5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인서트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고정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원두를 가는 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1-6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와이드 · 외부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리빌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간판 뒤에서 나오는 카페 외관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좋은 테이크는 찍자마자 '하트'. 편집 때 OK컷만 바로 찾습니다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E 현장 운영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연속성과 데이터 · 현장이 끝나도 끝이 아니다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5272888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178308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CONTINUITY · 연속성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05740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컷이 바뀌어도 세상은 그대로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651760"/>
            <a:ext cx="46328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컵 · 물 높이 · 소품 위치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어느 손으로 들었나, 어느 쪽을 보나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머리카락 · 옷깃 · 소매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빛의 방향 · 창밖 날씨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매 컷 끝나면 기록 담당이 사진 한 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33008" y="1600200"/>
            <a:ext cx="5272888" cy="36576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53048" y="178308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6"/>
                </a:solidFill>
              </a:rPr>
              <a:t>DATA · 3-2-1 백업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553048" y="205740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원본은 세 군데에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553048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7147408" y="265176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사본 세 개 (원본 포함)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553048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7147408" y="320040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서로 다른 저장 장치 두 종류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553048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7147408" y="374904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한 개는 다른 장소 (클라우드)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553048" y="443484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파일명: 날짜_장면_컷_테이크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예) 1022_카페_03_T2.mp4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폰 → 드라이브 크루 폴더 → 내 PC. 수업 끝나기 전에 업로드 확인까지가 촬영입니다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현장 용어 사전 · 오늘부터 우리끼리 쓰는 말</a:t>
            </a:r>
            <a:endParaRPr lang="en-US" sz="28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5272888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355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용어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뜻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스탠바이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촬영 준비 완료, 모두 제자리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롤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녹화 · 녹음 시작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슬레이트 · 마커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번호판 + 딱 소리로 싱크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액션 / 컷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연기 시작 / 멈춤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테이크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같은 컷을 찍은 횟수(T1, T2…)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킵 · OK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쓸 수 있는 컷, 보관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NG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다시 찍기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픽업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앞부분 빼고 중간부터 다시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554480"/>
          <a:ext cx="5272888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355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용어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뜻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마스터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장면 전체를 넓게 한 번에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인서트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손 · 소품 같은 디테일 컷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커버리지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여러 각도로 확보한 컷 묶음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셋업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카메라 위치를 바꾸는 것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블로킹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배우 동선과 위치 정하기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마크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배우가 설 자리에 붙인 테이프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룸톤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그 공간의 조용한 소리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콜시트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그날의 촬영 일정표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강사 장비 체험: 언제 쓰면 좋은가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342381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06764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6334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삼각대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3063240"/>
            <a:ext cx="28751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고정 샷 · 혼자 찍는 토크 · 타임랩스. 미니 삼각대도 충분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383938" y="1645920"/>
            <a:ext cx="342381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4658258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Micro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60" y="206764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58258" y="26334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무선 핀마이크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658258" y="3063240"/>
            <a:ext cx="28751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인터뷰 · 토크 · 내레이션. 폰 마이크와 같은 문장으로 비교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8082077" y="1645920"/>
            <a:ext cx="342381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8356397" y="19202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Run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798" y="20676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56397" y="26334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짐벌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356397" y="3063240"/>
            <a:ext cx="28751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걷거나 따라가며 찍을 때. 무겁고 세팅 시간이 들어요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685800" y="52578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60120" y="52578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크루별로 2분씩 돌려 써 보기. 장비는 사기 전에 자세부터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· 학교 공간에서 5샷 시퀀스 (20분)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짝이 행동하고, 나는 찍고 → 바꾸기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10312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① 손 클로즈업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② 얼굴 클로즈업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③ 와이드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④ 어깨너머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⑤ 특이한 앵글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컷마다 7초 이상 · 두 번씩 · 앞뒤 2초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모든 컷 AE/AF 잠금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20840" y="1600200"/>
            <a:ext cx="4785055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95160" y="1755648"/>
            <a:ext cx="4236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행동 예시 (내 아이템이면 더 좋아요)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2148840"/>
            <a:ext cx="4236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디저트 포장하기 · 화장품 바르기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노트북으로 작업하기 · 커피 내리기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반려견 사진 넘겨 보기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720840" y="3931920"/>
            <a:ext cx="4785055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995160" y="4069080"/>
            <a:ext cx="4236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크루 기록 담당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4480560"/>
            <a:ext cx="4236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크루가 촬영하는 모습을 찍어 두기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→ 6회차 우리 반 브이로그 재료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움직임 · 컷 · 소리, 그리고 장비  · 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· 우리 크루 미니 촬영 현장 (20분)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572768"/>
            <a:ext cx="200308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847088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Bullho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1994489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560320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감독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2990088"/>
            <a:ext cx="14544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콜 순서 진행 · OK 판단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890053" y="1572768"/>
            <a:ext cx="200308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164373" y="1847088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774" y="1994489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164373" y="2560320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촬영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164373" y="2990088"/>
            <a:ext cx="14544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숏리스트대로 · AE/AF 잠금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94305" y="1572768"/>
            <a:ext cx="200308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5368625" y="1847088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Micro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027" y="1994489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368625" y="2560320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368625" y="2990088"/>
            <a:ext cx="14544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두 번째 폰 · 룸톤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298558" y="1572768"/>
            <a:ext cx="200308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7572878" y="1847088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9" name="Image 3" descr="FaClipboardLi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279" y="1994489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572878" y="2560320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슬레이트 · 기록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72878" y="2990088"/>
            <a:ext cx="14544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손뼉 · 번호 · 연속성 사진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502811" y="1572768"/>
            <a:ext cx="200308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33" name="Shape 26"/>
          <p:cNvSpPr/>
          <p:nvPr/>
        </p:nvSpPr>
        <p:spPr>
          <a:xfrm>
            <a:off x="9777131" y="1847088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34" name="Image 4" descr="FaUserFrien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532" y="1994489"/>
            <a:ext cx="272125" cy="27212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777131" y="2560320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배우 2명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9777131" y="2990088"/>
            <a:ext cx="14544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마크 지키기 · 같은 동작 반복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685800" y="3749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찍을 것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685800" y="40690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마스터 1  ·  어깨 너머 2 (숏 · 리버스)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인서트 1 (컵 · 손)  ·  룸톤 30초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모든 테이크 앞뒤 2초, 콜 순서대로</a:t>
            </a:r>
            <a:endParaRPr lang="en-US" sz="1400" dirty="0"/>
          </a:p>
        </p:txBody>
      </p:sp>
      <p:sp>
        <p:nvSpPr>
          <p:cNvPr id="39" name="Shape 31"/>
          <p:cNvSpPr/>
          <p:nvPr/>
        </p:nvSpPr>
        <p:spPr>
          <a:xfrm>
            <a:off x="6537960" y="3703320"/>
            <a:ext cx="4967935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40" name="Text 32"/>
          <p:cNvSpPr txBox="1"/>
          <p:nvPr/>
        </p:nvSpPr>
        <p:spPr>
          <a:xfrm>
            <a:off x="6766560" y="3867912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ChatGPT에 숏리스트를 붙여 넣고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6766560" y="4178808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우리 크루가 찍은 대화 장면 숏리스트야. 편집할 때 빠진 컷이 있는지, 180도 선을 넘은 컷이 있는지 확인하고, 추가로 찍으면 좋을 컷 2개를 추천해 줘.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685800" y="553212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960120" y="553212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오늘 찍은 장면은 3회차 CapCut 첫 편집 재료가 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RUBIT/build/.cache/s1/img08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RUBIT/build/.cache/s1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13258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07</a:t>
            </a:r>
            <a:endParaRPr lang="en-US" sz="11000" dirty="0"/>
          </a:p>
        </p:txBody>
      </p:sp>
      <p:sp>
        <p:nvSpPr>
          <p:cNvPr id="5" name="Text 1"/>
          <p:cNvSpPr txBox="1"/>
          <p:nvPr/>
        </p:nvSpPr>
        <p:spPr>
          <a:xfrm>
            <a:off x="758952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7교시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85800" y="3246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촬영 리뷰와 공유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85800" y="44805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16:40–17:30  ·  보고, 고르고, 남기기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7교시 · 촬영 리뷰와 공유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크루 리뷰: 찍고, 보고, 고르기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10820095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886968" y="18105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696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1600200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드라이브에 올리기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1600200"/>
            <a:ext cx="66595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크루 폴더 → 내 이름 → 1회차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2606040"/>
            <a:ext cx="10820095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968" y="281635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86968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2606040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크루에게 보여 주기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2606040"/>
            <a:ext cx="66595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첫 시청자가 먼저 칭찬 1 + 제안 1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" y="3611880"/>
            <a:ext cx="10820095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886968" y="382219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8696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3611880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체크하기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663440" y="3611880"/>
            <a:ext cx="66595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세로 · 흔들림 · 밝기 출렁임 · 초점 · 소리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85800" y="4617720"/>
            <a:ext cx="10820095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8" name="Shape 25"/>
          <p:cNvSpPr/>
          <p:nvPr/>
        </p:nvSpPr>
        <p:spPr>
          <a:xfrm>
            <a:off x="886968" y="482803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86968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4617720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크루 베스트 컷 고르기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663440" y="4617720"/>
            <a:ext cx="665957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2회차 첫 업로드 재료 + 크루 이름 정하기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576072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편집은 3회차부터. 오늘은 보고 고르는 눈을 기르는 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7교시 · 촬영 리뷰와 공유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오늘 배운 다섯 가지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10820095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886968" y="17465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6968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16002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제작 공정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931920" y="1600200"/>
            <a:ext cx="7391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기획 → 프리프로덕션 → 촬영 → 편집 → 마스터링 → 발행 → 분석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2468880"/>
            <a:ext cx="10820095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968" y="261518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86968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24688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노출과 색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2468880"/>
            <a:ext cx="7391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조리개 · 셔터 · ISO + 화이트밸런스. 조리개는 숫자가 작을수록 밝다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" y="3337560"/>
            <a:ext cx="10820095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886968" y="348386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86968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33375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영상 세팅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3931920" y="3337560"/>
            <a:ext cx="7391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1080p 30fps · 셔터 2배 · HDR과 HEVC 끄기 · AE/AF 잠금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85800" y="4206240"/>
            <a:ext cx="10820095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8" name="Shape 25"/>
          <p:cNvSpPr/>
          <p:nvPr/>
        </p:nvSpPr>
        <p:spPr>
          <a:xfrm>
            <a:off x="886968" y="435254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8696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42062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화면의 언어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3931920" y="4206240"/>
            <a:ext cx="7391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샷 크기 · 앵글 · 구도 · 빛. 영어 이름은 4회차 AI 프롬프트가 된다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85800" y="5074920"/>
            <a:ext cx="10820095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33" name="Shape 30"/>
          <p:cNvSpPr/>
          <p:nvPr/>
        </p:nvSpPr>
        <p:spPr>
          <a:xfrm>
            <a:off x="886968" y="522122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86968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554480" y="50749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컷과 소리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3931920" y="5074920"/>
            <a:ext cx="7391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5샷 시퀀스 · 180도 · 30도 · B롤 · 한 뼘 거리 · 룸톤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7교시 · 촬영 리뷰와 공유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다음 시간까지 · 10/30 (금)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85800" y="2103120"/>
            <a:ext cx="3423818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23774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5" name="Image 0" descr="FaBook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524841"/>
            <a:ext cx="272125" cy="27212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60120" y="30906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콘텐츠 10편 저장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352044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인스타 · 유튜브 · 틱톡 어디든. 왜 좋은지 한 줄씩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383938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4383938" y="2103120"/>
            <a:ext cx="3423818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20" name="Shape 16"/>
          <p:cNvSpPr/>
          <p:nvPr/>
        </p:nvSpPr>
        <p:spPr>
          <a:xfrm>
            <a:off x="4658258" y="23774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1" name="Image 1" descr="Fa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60" y="2524841"/>
            <a:ext cx="272125" cy="27212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658258" y="30906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만들고 싶은 채널 한 줄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4658258" y="352044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누구에게, 무엇을 보여 주고 싶은지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8082077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8082077" y="2103120"/>
            <a:ext cx="3423818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26" name="Shape 21"/>
          <p:cNvSpPr/>
          <p:nvPr/>
        </p:nvSpPr>
        <p:spPr>
          <a:xfrm>
            <a:off x="8356397" y="237744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7" name="Image 2" descr="FaDownlo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798" y="2524841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56397" y="309067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CapCut PC 설치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8356397" y="352044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오늘 못 한 사람만, 안내대로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685800" y="534924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60120" y="534924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선택: 5샷 시퀀스를 내 아이템으로 하나 더  ·  제출은 드라이브 '1회차 과제'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7교시 · 촬영 리뷰와 공유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2회차 예고 · 기획하는 머리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10820095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51560" y="17830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10월 30일, 우리는 각자 채널을 엽니다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56032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강사도 같은 날, 여러분과 함께 새 채널을 엽니다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5800" y="3886200"/>
            <a:ext cx="1574749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0392" y="3959352"/>
            <a:ext cx="1300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" y="4224528"/>
            <a:ext cx="1300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아이템 찾기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2287981" y="4370832"/>
            <a:ext cx="219456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534869" y="3886200"/>
            <a:ext cx="1574749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699461" y="3959352"/>
            <a:ext cx="1300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699461" y="4224528"/>
            <a:ext cx="1300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레퍼런스 해부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137050" y="4370832"/>
            <a:ext cx="219456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383938" y="3886200"/>
            <a:ext cx="1574749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48530" y="3959352"/>
            <a:ext cx="1300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48530" y="4224528"/>
            <a:ext cx="1300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채널 콘셉트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5986120" y="4370832"/>
            <a:ext cx="219456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233008" y="3886200"/>
            <a:ext cx="1574749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397600" y="3959352"/>
            <a:ext cx="1300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397600" y="4224528"/>
            <a:ext cx="1300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기획안 · 대본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7835189" y="4370832"/>
            <a:ext cx="219456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082077" y="3886200"/>
            <a:ext cx="1574749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46669" y="3959352"/>
            <a:ext cx="1300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246669" y="4224528"/>
            <a:ext cx="1300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스토리보드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9684258" y="4370832"/>
            <a:ext cx="219456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931146" y="3886200"/>
            <a:ext cx="1574749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095738" y="3959352"/>
            <a:ext cx="1300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06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095738" y="4224528"/>
            <a:ext cx="1300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채널 개설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685800" y="52578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60120" y="52578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오늘 고른 크루 베스트 컷이 여러분 채널의 첫 영상이 될 수도 있어요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RUBIT/build/.cache/s1/img01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RUBIT/build/.cache/s1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23317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AI는 장비,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연출은 당신</a:t>
            </a:r>
            <a:endParaRPr 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85800" y="4206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오늘 기른 '보는 눈'이 6번의 수업 내내 모든 것의 바닥이 됩니다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w Tree">
  <a:themeElements>
    <a:clrScheme name="Crew Tree">
      <a:dk1>
        <a:srgbClr val="1B211E"/>
      </a:dk1>
      <a:lt1>
        <a:srgbClr val="FFFFFF"/>
      </a:lt1>
      <a:dk2>
        <a:srgbClr val="121816"/>
      </a:dk2>
      <a:lt2>
        <a:srgbClr val="F3F6F4"/>
      </a:lt2>
      <a:accent1>
        <a:srgbClr val="D6A23C"/>
      </a:accent1>
      <a:accent2>
        <a:srgbClr val="1F5A43"/>
      </a:accent2>
      <a:accent3>
        <a:srgbClr val="B8473E"/>
      </a:accent3>
      <a:accent4>
        <a:srgbClr val="3B6F97"/>
      </a:accent4>
      <a:accent5>
        <a:srgbClr val="6E7A74"/>
      </a:accent5>
      <a:accent6>
        <a:srgbClr val="F2E3B8"/>
      </a:accent6>
      <a:hlink>
        <a:srgbClr val="3B6F97"/>
      </a:hlink>
      <a:folHlink>
        <a:srgbClr val="6E4E8E"/>
      </a:folHlink>
    </a:clrScheme>
    <a:fontScheme name="Crew Tre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91</Slides>
  <Notes>91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촬영편집 1회차 — 보는 눈</dc:title>
  <dc:subject>PptxGenJS Presentation</dc:subject>
  <dc:creator>촬영편집 강사</dc:creator>
  <cp:lastModifiedBy>촬영편집 강사</cp:lastModifiedBy>
  <cp:revision>1</cp:revision>
  <dcterms:created xsi:type="dcterms:W3CDTF">2026-10-21T17:31:49Z</dcterms:created>
  <dcterms:modified xsi:type="dcterms:W3CDTF">2026-10-21T17:31:49Z</dcterms:modified>
</cp:coreProperties>
</file>