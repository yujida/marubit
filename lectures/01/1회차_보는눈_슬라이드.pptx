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52794c5-fa98-c11e-f8a9-f3a84b6a739f}">
          <p14:sldIdLst>
            <p14:sldId id="256"/>
            <p14:sldId id="257"/>
          </p14:sldIdLst>
        </p14:section>
        <p14:section name="1교시 OT와 과정 지도" id="{eaa7c7bc-ed9a-d1a1-edda-ef789e9e8f9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2교시 영상 콘텐츠, 지금 어떻게 만들어지나" id="{f071a89b-faa3-5fcd-32a9-a15aeeb9dc6d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교시 카메라의 원리 ① 사진" id="{9440cb28-8a6c-8d15-23c8-8fd2aed5d2f0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교시 카메라의 원리 ② 영상" id="{c0cefc88-9a74-b87c-3571-57230d3d45e9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교시 화면의 언어와 빛" id="{6200ee4c-8804-ff32-e284-ba04bb328747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6교시 움직임 · 컷 · 소리, 그리고 장비" id="{19a4c531-8e0f-276c-5304-c3b4f00402ea}">
          <p14:sldIdLst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7교시 촬영 리뷰와 공유" id="{b4a4f5dd-fdc3-bdbd-3a8c-b03f5ee1dcdd}">
          <p14:sldIdLst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시작 전] 입장하는 대로 크루 자리로 안내합니다(크루 편성표를 책상 위에).
첫 멘트: "오늘부터 6번, 여러분은 각자 자기 채널 하나를 키웁니다. 첫날인 오늘은 '보는 눈'을 만드는 날이에요."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흐름을 30초 안에. "오전엔 큰 그림, 오후엔 카메라 원리와 실습." 매 교시 50분 수업 + 10분 휴식, 점심 11:50–12:40.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[10:00–10:50] 목표: 과정 전체 그림 + 크루 결성 + 수업 도구 세팅 + 첫 기획 연습(한 줄 소개).
시간: 과정 지도 10분 → 크루 10분 → 세팅 15분 → 한 줄 소개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[10:02] 과정 전체를 크리스마스 트리 한 그루로.
- 화분(1회): 보는 눈. 카메라와 화면의 언어가 모든 것의 바닥.
- 줄기(2회 + 3주 과제): 내 채널 기획안. 2회차에 유튜브 채널을 엽니다.
- 오너먼트(3·4회): 숏폼, 브이로그, 정보성, 스트리머형, AI 영상을 하나씩.
- 별(5회): 브랜딩과 후킹으로 대표작 리뉴얼.
- 점등식(6회 12/10): 우리끼리 채널을 처음부터 다시 보는 상영회.
"연습용으로 만들고 버리는 영상은 없습니다. 전부 여러분 채널에 남아요."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[10:05] 결과물을 숫자로 약속합니다. "수료할 때 각자 유튜브 채널 하나, 영상 7편 이상, 기획안, 제작 노트가 남습니다. 취업 포트폴리오로 바로 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[10:07] 수업이 끝날 때마다 단톡방과 드라이브로 나눠 주는 것들. "복습은 이걸로 하시면 됩니다. 놓친 부분이 있어도 괜찮아요."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[10:08] 과정 전체의 원칙. ChatGPT와 CapCut 유료 계정을 끝까지 쓰되, 결정과 책임은 사람에게.
매 실습마다 워크북에 "AI가 한 것 / 내가 고친 것"을 한 줄씩 → 6회차 제작 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[10:10] "영상은 각자 만들고, 배우는 건 같이. 누구도 뒤처지지 않게, 누구도 혼자 달리지 않게."
4개 크루(5~6명), 경험자와 입문자가 섞여 있고 짝이 정해져 있습니다. 역할은 2회차부터 명단 순서로 한 칸씩 돌아갑니다.
막힘 규칙: 3분 막히면 짝 → 5분 더 막히면 기술 도우미 → 그래도 안 되면 "강사 호출 카드".
개인 순위는 없습니다. 매 회차 목표는 "크루 전원 완료".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[10:13] 크루별 인사(이름 + 만들고 싶은 것 한 마디). 크루 이름은 7교시 전까지 크루가 직접 짓기(예: 별 · 종 · 방울 · 리본).
괄호는 1회차 역할. 설문 자기평가로 짠 1차 편성이라 오늘 실습을 보고 1~2명 조정할 수 있다고 미리 말해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[10:20–10:35] 크루장이 전원 완료를 확인하고 손을 듭니다. 기술 도우미는 막힌 사람부터.
- 단톡방: QR 또는 링크. 공지 · 과제 · 질문용.
- 구글 드라이브: 공유 폴더 → 크루 폴더 → 내 이름 폴더. 오늘 찍은 건 7교시에 여기로.
- CapCut PC: PC마다 설치 상태가 다릅니다. 실행해 보고 안 되면 설치 안내대로(못 하면 과제로).
- 유료 계정: ChatGPT와 CapCut 로그인 확인(10/21부터 사용 가능).
- 촬영 동의: 수업 장면을 찍어 6회차 브이로그에 쓰는 것에 대한 동의. 원하지 않으면 얼굴 없이 찍는다고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[10:35–10:50] 오늘의 첫 기획 연습이자 2회차 채널 소개글의 초안. "나를 모르는 사람 기준"은 2회차 기획 원칙 1번이기도 합니다.
진행: 3분 쓰기 → 짝에게 읽기("보고 싶다 / 아니다") → 3번 고쳐 쓰기 → 크루 안에서 발표.
AI는 후보만. 내 이야기와 맞는 단어만 가져오기(워크북 p.2). 말하기가 부담인 사람은 글로 보여줘도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[11:00–11:50] 목표: 영상 콘텐츠의 지형(형식 · 유형 · 플랫폼)과 프로의 제작 공정 7단계를 "카페 30초 릴스" 한 편으로 이해하기. AI가 각 단계에 들어가는 자리를 보며 6회 과정을 미리 보기.
시간: 도입 3분 → 콘텐츠 지도 10분 → 공정 7단계 5분 → 카페 릴스 따라가기 15분 → 프로덕션 vs 1인 + AI 9분 → 마스터링 · 규격 6분 → 정리 2분.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[11:00] 크루별로 세어 보고 가장 많은 사람 손들기. 대부분 수십 편이 나옵니다.
"우리는 이미 영상을 아주 많이 '보는' 사람입니다. 오늘부터는 '만드는 사람의 눈'으로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[11:03–11:13] 형식(숏폼 · 롱폼 · 라이브)과 유형을 한 장에. ●는 그 형식에서 흔히 보이는 조합이라는 뜻의 대략적인 지도입니다(정답표가 아님).
질문: "여러분이 저장해 둔 영상은 어느 칸에 많나요?"
4회차에 브이로그 · 정보성 · 스트리머형 · AI 영상을 각자 기획안에 오너먼트로 답니다. 브랜디드는 5회차 마케팅과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[11:13] 같은 영상도 어디에 올리느냐에 따라 역할이 다릅니다. 이 과정의 기록은 유튜브 채널에 쌓고, 사업 홍보가 목적인 분은 인스타그램 · 틱톡 동시 업로드를 권합니다.
(플랫폼 정책과 기능은 자주 바뀌니 성격 위주로 설명하세요.)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[11:15] 프로는 이 7단계를 거칩니다. 6번의 수업도 이 순서로 갑니다. 오늘은 3단계 '촬영'의 기초.
기획(누구에게·무엇을·왜) → 프리프로덕션(대본·콘티·장소·소품) → 촬영(빛·소리·샷) → 편집 → 마스터링(음량·색·규격·검수) → 발행(제목·썸네일·공개) → 분석(지표 → 다음 기획).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[11:20–11:28] 가상의 예시: 동네 카페 사장님이 직접 올리는 "비 오는 날 시그니처 라떼" 30초 릴스.
1) 기획: 누구에게(근처 직장인 20~30대) · 무엇을(비 오는 날 창가 자리와 라떼) · 왜(저장하고 찾아오게). 한 줄로: "비 오는 날, 여기 창가 자리 하나면 충분해요."
2) 프리프로덕션: 6컷 콘티(왼쪽 그림), 샷 리스트, 촬영 시간대(오전 창가빛), 소품(우산, 젖은 창).
3) 촬영: 5샷 시퀀스 + B롤(빗방울, 김 오르는 컵), 우유 붓는 장면은 60fps로 슬로 재료, 마지막에 룸톤 10초.
수강생 아이템(디저트 · 뷰티샵 · MD 상품)으로 바꿔 생각해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[11:28–11:35]
4) 편집: 0~3초 훅(우유가 퍼지는 슬로) → 3~24초 본론(창가 · 손 · 표정) → 24~30초 마무리(간판 + "저장해 두세요"). 자막 3역할, 음악 30~50%.
5) 마스터링: 목소리 &gt; 음악, 컷마다 색 통일, 자막 오탈자, 1080×1920 내보내기.
6) 발행: 커버 한 장, 캡션 첫 줄 = 훅 문장, 해시태그 2~3개, 위치 태그, AI를 썼다면 표시.
7) 분석: 3초에서 몇 명이 넘겼나, 저장은 몇 개인가 → "다음 편은 디저트로" 같은 다음 기획.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[11:35–11:39] 프로 현장은 역할을 나눠 맡고, 1인 크리에이터는 같은 역할을 혼자 합니다. 그래서 1인 크리에이터에게 AI는 '팀원'입니다.
"역할은 똑같습니다. 사람 수만 다를 뿐이에요."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[11:39–11:44] 7단계마다 AI가 거드는 일과 사람이 남는 일. 맨 오른쪽 칸은 이 과정에서 그 단계를 깊게 다루는 회차입니다. 6번의 수업 예고편으로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[11:44–11:47] 프로가 반드시 하는 단계. 직접 해 보는 건 5회차, 오늘은 "편집이 끝이 아니다"만.
- 소리: 유튜브는 재생할 때 음량을 일정하게 맞춥니다(흔히 약 -14 LUFS로 알려짐). 무작정 키우지 말고, 목소리가 음악보다 항상 크게.
- 색 · 밝기: 클립마다 톤을 맞추기. 자막: 오탈자, 잘린 글자, 버튼에 가리는 위치. 내보내기 규격. 최종 검수: 소리 켜고 한 번, 끄고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[11:47–11:50] 우리 수업의 기본은 세로 9:16, 1080×1920. 롱폼(브이로그 등)은 16:9. 세로 영상은 위 · 아래 · 오른쪽에 버튼과 캡션이 덮입니다(5교시에 다시). 길이 제한은 플랫폼이 자주 바꾸니 업로드할 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[11:50] 점심 전 안내: 폰 충전, 저장공간 10GB 이상. 오후엔 폰을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[12:40–13:30] 목표: 노출 삼각형 · 화이트밸런스 · 초점과 심도 · 폰 렌즈를 이해하고 프로 모드로 바꿔 보기. 개념 25분 → 실습 25분. 디자인 전공자가 많으니 원리는 짧게, 예시는 사진으로.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[12:42] 밝기는 세 가지가 함께 정합니다. 하나로 밝게 만들면 나머지 둘 중 하나가 대가를 치러요.
조리개: 구멍 크기 → 배경 흐림 / 셔터스피드: 빛을 받는 시간 → 움직임 / ISO: 감도 → 노이즈.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[12:47] 숫자 방향을 헷갈려 하는 분이 많아요. "조리개는 숫자가 작을수록 밝다"만 확실히.
폰 조리개는 대부분 고정 → 배경 흐림은 '인물 모드'가 소프트웨어로 흉내. 대상에 가까이, 배경은 멀리.
어두우면 ISO가 올라가 노이즈 → 해결은 설정이 아니라 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[12:55] 같은 흰 종이도 전구 아래선 노랗게, 그늘에선 파랗게 찍힙니다(사진은 한 장을 세 가지 빛 색으로 바꿔 본 것).
자동 화이트밸런스는 찍는 도중 색이 바뀔 수 있어요 → 영상은 고정이 안전. 색이 다른 빛(창가 + 형광등)을 섞지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[13:00] 초점은 '보여주고 싶은 곳'에. 사람이면 눈. 심도는 선명한 범위: 얕으면 주인공만(감성), 깊으면 전부(정보).
렌즈: 0.5x는 넓지만 가장자리가 휘고 가까운 얼굴이 커 보임. 인물은 1x~3x로 조금 떨어져서. 배율 사이 디지털 줌은 화질 저하 → "줌 말고 발로."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[13:05–13:30] 짝끼리. 경험자가 설정 화면을 먼저 찾아 주세요.
갤럭시: 카메라 → 더보기 → 프로 / 프로 동영상. 아이폰: 기본 카메라는 노출 조절 위주 → 무료 수동 촬영 앱(예: Blackmagic Camera). 부담이면 인물 모드 · 노출 슬라이더로.
찍은 사진은 드라이브 '1회차/3교시'. 메뉴 이름은 기종 · 버전마다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[13:40–14:30] 목표: 프레임레이트 · 셔터 2배 규칙 · 해상도를 이해하고, 편집에서 문제없는 폰 세팅을 함께 끝내기. 개념 20분 → 함께 세팅 15분 → 비교 촬영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[13:42] 24fps 영화 같은 느낌 / 30fps SNS 기본 · 우리 수업 기본 / 60fps 매끄러운 움직임, 편집에서 절반 속도로 늦추면 부드러운 슬로모션. 선의 촘촘함이 1초에 담기는 장면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[13:48] 영상의 셔터는 프레임의 2배 정도가 기준. 훨씬 빠르면 움직임이 뚝뚝 끊겨 보여요. 30fps → 1/60, 60fps → 1/120.
실내 형광등 · LED 아래서 화면에 줄이 흐르면 셔터를 1/60이나 1/120으로(한국 전기는 60Hz). 밖이 너무 밝을 때 프로는 ND 필터를 쓰지만, 폰은 자동이 알아서 처리하니 크게 걱정하지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[13:53] 편집에서 생길 문제를 촬영 단계에서 막는 법.
- HDR 동영상(아이폰 'HDR 비디오', 갤럭시 'HDR10+'): 폰에선 화려해도 편집 · 다른 화면에서 색이 틀어져 보일 수 있어요 → 끄기.
- HEVC(고효율, H.265): 일부 PC에서 편집이 끊김 → 아이폰 '가장 호환성 높은 포맷', 갤럭시 '고효율 동영상' 끄기.
- 4K: 파일이 1080p의 약 4배, PC가 느려짐 → 수업 기본은 1080p. 메뉴 이름은 기종마다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[13:58–14:13] 화면을 보면서 한 단계씩. 크루장은 전원 완료 확인.
아이폰: 설정 → 카메라 → 비디오 녹화 → 1080p 30fps / 같은 화면 'HDR 비디오' 끄기 / 포맷 → '가장 호환성 높은 포맷' / 격자 켜기.
갤럭시: 동영상 → 상단 해상도 FHD 30 / 설정 → 고급 동영상 옵션 → 고효율 동영상 · HDR10+ 끄기 / 수직 · 수평 안내선 켜기.
공통: 렌즈 닦기, 저장공간 10GB 이상, 방해 금지, 기본은 세로로.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[14:13] 잠그지 않으면 찍는 도중 밝기와 초점이 출렁입니다. 프로 영상과 아마추어 영상의 가장 쉬운 차이.
1) 찍을 대상을 길게 누르기 2) 잠금 표시(아이폰 AE/AF 잠금, 갤럭시 자물쇠) 3) 밝기 막대를 위아래로.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[14:15–14:30] 짝끼리. 같은 장면을 두 번씩. 드라이브 '1회차/4교시'.
30fps vs 60fps: 머리 넘기기, 물 따르기. 60fps는 3회차 편집에서 슬로모션으로 씁니다. 잠금 없이 vs 잠금: 창가를 지나가며.
경험자 도전: 갤럭시 프로 동영상으로 셔터 1/60 vs 1/1000.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[14:40–15:30] 목표: 샷 크기 · 앵글 · 구도 · 빛을 영어 용어와 함께(4회차 AI 프롬프트 어휘). 개념 25분 → 학교 공간 구도 미션 15분 → ChatGPT 피드백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[14:42] 영어 이름도 함께. 4회차에 이 단어가 그대로 AI 영상 프롬프트가 됩니다.
연결 공식: 어디서(와이드) → 누가 무엇을(미디엄) → 어떤 감정으로(클로즈업). 같은 크기를 연달아 붙이면 화면이 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[14:48] 카메라 높이가 감정을 만듭니다. 하이앵글 작고 귀엽게 / 아이레벨 자연스럽게(기본) / 로우앵글 크고 당당하게 / 탑뷰 음식 · 책상 · 손 작업(정보성 · 요리의 기본). 더치 앵글(기울이기)은 가끔만.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[14:52] 격자는 오전 세팅에서 켜 둔 그대로.
삼분할: 선이 만나는 네 점에 주인공, 눈은 위쪽 선에. 리딩 라인: 길 · 난간 · 복도의 선이 주인공을 가리키게. 프레임 속 프레임: 문 · 창문으로 한 번 더 감싸기. 대칭: 복도 · 건물 정면은 가운데.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[14:56] 비우는 것도 구도입니다.
헤드룸: 머리 위는 손가락 한두 개만큼. 시선 여백: 보는 쪽 · 가는 쪽에 공간. 세로 안전 영역: 9:16의 위 · 아래 · 오른쪽은 버튼 · 캡션 · 프로필 자리 → 얼굴과 자막은 가운데 쪽. 수직선: 문틀 · 건물 세로선을 화면과 나란히.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 같은 얼굴도 빛의 방향에 따라 다른 사람이 됩니다. 순광 밝고 선명 / 측광 입체감과 분위기 / 역광 얼굴이 어두움 → 흰 종이 반사판 / 그늘 부드럽고 고르게. 역광은 6교시에 강사 장비와 흰 종이로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[15:03] 프로의 기본 조명. 키(주 조명, 45도) + 필(반대쪽에서 그림자 채움) + 백(뒤에서 윤곽). 폰으로는 창문 = 키, 흰 종이 · 흰 벽 = 필, 뒤쪽 스탠드 = 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[15:05–15:30] 학교 공간에서 15분, 돌아와서 ChatGPT 피드백 10분. 짝끼리 서로 모델이 되어 주기. 다른 사람이 나오면 동의 받기.
가장 자신 있는 1장을 ChatGPT에 올려 피드백. 워크북에 "AI가 맞게 본 것 하나 / 놓친 것 하나" → AI는 규칙을 보고, 사람은 의도를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[15:40–16:30] 목표: 안정 · 무빙 · 컷의 문법 · 녹음 기초 + 강사 장비 체험 + 5샷 시퀀스 촬영. 개념 20분 → 장비 시연 · 체험 10분 → 5샷 촬영 20분.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[15:42] 흔들림은 자세로 먼저, 앱 보정은 그다음(보정은 화면을 잘라내서 화질이 떨어져요). 두 손, 팔꿈치는 몸에, 벽 · 기둥에 기대기. 걸을 땐 무릎을 살짝 굽히고 발뒤꿈치부터.
무빙 5가지와 영어 이름(4회차 프롬프트 어휘). 세 가지 약속: 한 클립에 한 움직임, 두 배 천천히, 시작과 끝 2초 멈추기.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[15:47] 한 장면을 다섯 컷으로 찍으면 편집할 재료가 생깁니다(다큐 · 뉴스 촬영의 기본 공식).
1 손 클로즈업 2 얼굴 클로즈업 3 와이드 4 어깨너머 5 특이한 앵글. 컷마다 7초 이상, 두 번씩. ①과 ②는 같은 동작을 다른 크기로 → 편집에서 '동작 연결'.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[15:52] 편집에서 어색해지는 이유는 대부분 촬영 때 생깁니다.
180도 규칙: 두 사람 사이 가상의 선, 카메라는 한쪽에만. 넘으면 방향이 뒤집혀 보여요. 30도 규칙: 다시 찍을 땐 각도 30도 이상 또는 샷 크기 바꾸기(아니면 점프컷). B롤: 손 · 소품 · 공간 컷, 편집에서 자른 자리를 덮어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[15:56] 시청자는 흐린 화면은 참아도 안 들리는 소리는 못 참습니다.
폰과 입 사이 한 뼘 / 에어컨 · 냉장고 · 복도 소리 피하기 / 끝에 룸톤 10초(편집에서 빈 곳 메꾸기) / 현장음 살리기(음악으로 다 덮지 않기). 이어폰 마이크나 핀마이크가 있으면 훨씬 깨끗합니다.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[16:00–16:10] 강사 장비를 보여 주고 크루별로 2분씩 돌려 쓰기(나머지 크루는 5샷 시퀀스 계획).
삼각대: 고정 샷 · 혼자 찍는 토크 · 타임랩스. 무선 핀마이크: 인터뷰 · 토크 · 내레이션(폰 마이크와 같은 문장으로 비교). 짐벌: 걷거나 따라가며, 대신 무겁고 세팅 시간이 들어요. "사기 전에 자세부터."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[16:10–16:30] 짝 중 한 사람이 행동하고 한 사람이 찍기 → 바꾸기. 행동은 내 아이템과 관련 있으면 더 좋아요. 컷마다 7초 이상, 두 번씩, 앞뒤 2초 멈춤, 모두 AE/AF 잠금. 크루 기록 담당은 이 장면을 찍어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[16:40–17:30] 목표: 오늘 찍은 것을 드라이브에 모으고, 크루 리뷰로 '고르는 눈'을 기르고, 크루 베스트 컷 선정. 업로드 10분 → 크루 리뷰 20분 → 베스트 컷 공유 10분 → 정리 · 과제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1) 드라이브: 공유 폴더 → 크루 폴더 → 내 이름 → 1회차(파일이 크면 폰 앱에서 바로) 2) 한 사람씩 5샷 시퀀스를 크루에게, 첫 시청자가 먼저 칭찬 1 + 제안 1 3) 체크: 세로 · 흔들림 · 밝기 출렁임 · 초점 · 소리 4) 크루 베스트 컷 1개 → 2회차 첫 업로드 재료. 크루 이름도 이때.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[17:10] 한 줄씩 짚고, 크루에서 "오늘 제일 기억에 남는 것"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[17:15] 과제는 단톡방에도. 제출은 드라이브 '1회차 과제'.
1) 마음에 드는 콘텐츠 10편 저장 + 왜 좋은지 한 줄씩 → 2회차 레퍼런스 해부 재료. 2) "내가 만들고 싶은 채널" 한 줄. 3) CapCut PC 설치가 안 된 사람은 안내대로. 선택: 5샷 시퀀스를 내 아이템으로 하나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[17:20] 2회차: 아이템 찾기 → 레퍼런스 해부 → 채널 콘셉트 → 기획안 · 대본 → 스토리보드 → 그리고 유튜브 채널을 엽니다. 강사도 같은 날 새 채널을 엽니다. "오늘 고른 베스트 컷이 첫 영상이 될 수도 있어요."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[17:25] 마무리 인사. 크루장은 크루 전원이 드라이브 업로드를 마쳤는지 확인하고 해산. 크루 트리 현황판에 첫 오너먼트(베스트 컷) 붙이기.
수업 후: 요약 영상(진행안의 대본), 단톡방에 핸드북 1장 · 치트시트 · 과제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AI콘텐츠 크리에이터 실무 · 촬영편집 1회차 — 보는 눈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AI콘텐츠 크리에이터 실무 · 촬영편집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1회차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보는 눈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프로처럼 보고, 정석대로 찍는 날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2026. 10. 22 (목)  ·  10:00–17:30  ·  1공학관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1회차 · 보는 눈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1645920"/>
            <a:ext cx="3108960" cy="434340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1920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10:00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– 17:30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204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7교시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50분 수업 + 10분 휴식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점심 11:50–12:40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오전 큰 그림 → 오후 카메라와 실습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69080" y="1645920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645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10:00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OT · 크루 · 세팅 · 한 줄 자기소개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012680" y="164592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줄 소개, 크루와 짝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069080" y="2267712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22677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26771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11:00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영상 콘텐츠, 지금 어떻게 만들어지나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012680" y="226771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제작 공정 지도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069080" y="2889504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51960" y="28895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28895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12:40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① 사진: 노출 · 색 · 초점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0012680" y="2889504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설정별 비교 사진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069080" y="3511296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251960" y="35112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3511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13:40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35112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② 영상: 프레임 · 셔터 · 세팅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10012680" y="3511296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내 폰 세팅 완료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069080" y="4133088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251960" y="41330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1330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14:40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4133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화면의 언어와 빛: 샷 · 앵글 · 구도 · 조명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10012680" y="4133088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구도 사진 + AI 피드백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069080" y="4754880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251960" y="4754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617720" y="4754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15:40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0" y="4754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움직임 · 컷 · 소리 + 장비 체험</a:t>
            </a:r>
            <a:endParaRPr lang="en-US" sz="1450" dirty="0"/>
          </a:p>
        </p:txBody>
      </p:sp>
      <p:sp>
        <p:nvSpPr>
          <p:cNvPr id="39" name="Text 36"/>
          <p:cNvSpPr txBox="1"/>
          <p:nvPr/>
        </p:nvSpPr>
        <p:spPr>
          <a:xfrm>
            <a:off x="10012680" y="475488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5샷 시퀀스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069080" y="5376672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51960" y="5376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376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16:40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촬영 리뷰 · 크루 베스트 컷 · 과제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0" y="537667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베스트 컷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2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01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1교시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OT와 과정 지도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10:00–10:50  ·  우리가 6번 동안 무엇을 키우는지, 누구와 함께 가는지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6번의 수업, 나무 한 그루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2148840" y="2057400"/>
            <a:ext cx="1828800" cy="1280160"/>
          </a:xfrm>
          <a:prstGeom prst="triangle">
            <a:avLst/>
          </a:prstGeom>
          <a:solidFill>
            <a:srgbClr val="2E7D57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7360" y="2697480"/>
            <a:ext cx="2651760" cy="1508760"/>
          </a:xfrm>
          <a:prstGeom prst="triangle">
            <a:avLst/>
          </a:prstGeom>
          <a:solidFill>
            <a:srgbClr val="2A7050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3429000"/>
            <a:ext cx="3474720" cy="1600200"/>
          </a:xfrm>
          <a:prstGeom prst="triangle">
            <a:avLst/>
          </a:prstGeom>
          <a:solidFill>
            <a:srgbClr val="25654A"/>
          </a:solidFill>
          <a:ln/>
        </p:spPr>
      </p:sp>
      <p:sp>
        <p:nvSpPr>
          <p:cNvPr id="16" name="Shape 13"/>
          <p:cNvSpPr/>
          <p:nvPr/>
        </p:nvSpPr>
        <p:spPr>
          <a:xfrm>
            <a:off x="2880360" y="5029200"/>
            <a:ext cx="365760" cy="320040"/>
          </a:xfrm>
          <a:prstGeom prst="rect">
            <a:avLst/>
          </a:prstGeom>
          <a:solidFill>
            <a:srgbClr val="8A7A62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2423160" y="5349240"/>
            <a:ext cx="1280160" cy="457200"/>
          </a:xfrm>
          <a:prstGeom prst="trapezoid">
            <a:avLst/>
          </a:prstGeom>
          <a:solidFill>
            <a:schemeClr val="accent3"/>
          </a:solidFill>
          <a:ln/>
        </p:spPr>
      </p:sp>
      <p:sp>
        <p:nvSpPr>
          <p:cNvPr id="18" name="Shape 15"/>
          <p:cNvSpPr/>
          <p:nvPr/>
        </p:nvSpPr>
        <p:spPr>
          <a:xfrm>
            <a:off x="2761488" y="1737360"/>
            <a:ext cx="603504" cy="566928"/>
          </a:xfrm>
          <a:prstGeom prst="star5">
            <a:avLst/>
          </a:prstGeom>
          <a:solidFill>
            <a:schemeClr val="accent1"/>
          </a:solidFill>
          <a:ln/>
        </p:spPr>
      </p:sp>
      <p:sp>
        <p:nvSpPr>
          <p:cNvPr id="19" name="Shape 16"/>
          <p:cNvSpPr/>
          <p:nvPr/>
        </p:nvSpPr>
        <p:spPr>
          <a:xfrm>
            <a:off x="2926080" y="29260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Shape 17"/>
          <p:cNvSpPr/>
          <p:nvPr/>
        </p:nvSpPr>
        <p:spPr>
          <a:xfrm>
            <a:off x="2377440" y="374904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1" name="Shape 18"/>
          <p:cNvSpPr/>
          <p:nvPr/>
        </p:nvSpPr>
        <p:spPr>
          <a:xfrm>
            <a:off x="3474720" y="3794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1874520" y="457200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3931920" y="45262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4" name="Shape 21"/>
          <p:cNvSpPr/>
          <p:nvPr/>
        </p:nvSpPr>
        <p:spPr>
          <a:xfrm>
            <a:off x="2880360" y="448056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0" y="1600200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5870448" y="18562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3093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별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1709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5회 · 12/1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0208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브랜딩 · 후킹으로 대표작 리뉴얼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0" y="2505456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70448" y="27614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30936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오너먼트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26151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3·4회 · 11/19 · 11/26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2926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숏폼 · 브이로그 · 정보성 · 스트리머형 · AI 영상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0" y="3410712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6" name="Shape 33"/>
          <p:cNvSpPr/>
          <p:nvPr/>
        </p:nvSpPr>
        <p:spPr>
          <a:xfrm>
            <a:off x="5870448" y="3666744"/>
            <a:ext cx="274320" cy="274320"/>
          </a:xfrm>
          <a:prstGeom prst="ellipse">
            <a:avLst/>
          </a:prstGeom>
          <a:solidFill>
            <a:srgbClr val="8A7A6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309360" y="35021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줄기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58952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2회 · 10/30 + 3주 과제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3831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 기획안 · 채널 개설 · 스토리보드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0" y="4315968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1" name="Shape 38"/>
          <p:cNvSpPr/>
          <p:nvPr/>
        </p:nvSpPr>
        <p:spPr>
          <a:xfrm>
            <a:off x="5870448" y="457200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309360" y="44074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화분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589520" y="4425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1회 · 오늘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473659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보는 눈: 촬영 이론 + 프로의 제작 공정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669280" y="5221224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0448" y="547725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0936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점등식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7589520" y="5330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6회 · 12/10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309360" y="56418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채널을 처음부터 다시 보는 상영회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12월 10일, 여러분 손에 남는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채널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내 유튜브 채널. 2회차에 열고 매 회차 영상이 쌓여요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79444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7+</a:t>
            </a:r>
            <a:endParaRPr lang="en-US" sz="6400" dirty="0"/>
          </a:p>
        </p:txBody>
      </p:sp>
      <p:sp>
        <p:nvSpPr>
          <p:cNvPr id="18" name="Text 15"/>
          <p:cNvSpPr txBox="1"/>
          <p:nvPr/>
        </p:nvSpPr>
        <p:spPr>
          <a:xfrm>
            <a:off x="3779444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영상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779444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숏폼부터 브이로그, AI 영상, 대표작까지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553048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2" name="Text 19"/>
          <p:cNvSpPr txBox="1"/>
          <p:nvPr/>
        </p:nvSpPr>
        <p:spPr>
          <a:xfrm>
            <a:off x="6553048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기획안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누구에게, 무엇을, 왜. 스토리보드 포함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326651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6" name="Text 23"/>
          <p:cNvSpPr txBox="1"/>
          <p:nvPr/>
        </p:nvSpPr>
        <p:spPr>
          <a:xfrm>
            <a:off x="9326651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제작 노트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326651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사람이 한 것 / AI가 도운 것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연습용으로 만들고 버리는 영상은 없습니다. 전부 여러분 채널에 남아 6회차에 처음부터 다시 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매 회차 받아 가는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전자책 한 장씩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내용 + 더 깊은 설명 + 실무 팁. 6회차에 한 권으로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ag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프롬프트북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그대로 복사하는 완성형 + 내 것으로 채우는 빈칸형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Play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요약 영상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다음 날 1~2분, 그날 핵심 3가지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F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양식 · 치트시트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 세팅표, 촬영 용어집, 기획안, 스토리보드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48920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48920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전자책 · 프롬프트북 · 요약 영상 · 양식은 매 회차 끝에 단톡방과 드라이브로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AI는 장비, 연출은 사람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33008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086661"/>
            <a:ext cx="307238" cy="30723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53048" y="1920240"/>
            <a:ext cx="640080" cy="64008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7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68" y="20866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사람의 몫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376008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AI의 몫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정하기 — 무엇을, 누구에게, 왜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현장 — 진짜 장소 · 사람 · 감정을 찍기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고르기 — 고르고, 버리고, 순서 정하기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책임 — 초상권 · 저작권 · AI 표시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598768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초안 — 아이디어 · 대본 · 자막 · 캡션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반복 작업 — 받아쓰기 · 보정 · 잡음 제거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불가능한 장면 — 찍을 수 없는 장면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두 번째 의견 — 구도 · 흐름 피드백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매 실습마다 워크북에 "AI가 한 것 / 내가 고친 것" 한 줄 → 6회차 제작 노트가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영상은 각자, 배움은 크루로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크루장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시간 · 진행 체크, 크루 전원 완료 확인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기술 도우미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CapCut · AI 질문 1차 해결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Vi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기록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촬영 → 6회차 브이로그 재료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첫 시청자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영상을 먼저 보고 칭찬 1 + 제안 1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68580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86868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686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3분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155448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짝에게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395020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452628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470916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470916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+5분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539496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기술 도우미</a:t>
            </a:r>
            <a:endParaRPr lang="en-US" sz="1600" dirty="0"/>
          </a:p>
        </p:txBody>
      </p:sp>
      <p:sp>
        <p:nvSpPr>
          <p:cNvPr id="42" name="Shape 35"/>
          <p:cNvSpPr/>
          <p:nvPr/>
        </p:nvSpPr>
        <p:spPr>
          <a:xfrm>
            <a:off x="779068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36676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44" name="Shape 37"/>
          <p:cNvSpPr/>
          <p:nvPr/>
        </p:nvSpPr>
        <p:spPr>
          <a:xfrm>
            <a:off x="8549640" y="477316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8549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그래도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강사 호출 카드</a:t>
            </a:r>
            <a:endParaRPr lang="en-US" sz="1600" dirty="0"/>
          </a:p>
        </p:txBody>
      </p:sp>
      <p:sp>
        <p:nvSpPr>
          <p:cNvPr id="47" name="Text 40"/>
          <p:cNvSpPr txBox="1"/>
          <p:nvPr/>
        </p:nvSpPr>
        <p:spPr>
          <a:xfrm>
            <a:off x="685800" y="57150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개인 순위는 없습니다. 매 회차 목표는 "크루 전원 완료"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크루를 소개합니다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1645920"/>
            <a:ext cx="249928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1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59404" y="1645920"/>
            <a:ext cx="2499284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33724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510964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6233008" y="1645920"/>
            <a:ext cx="2499284" cy="7315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7328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284568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9006611" y="1645920"/>
            <a:ext cx="2499284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280931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10058171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8064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크루 이름은 오늘 7교시 전까지 크루가 직접 짓습니다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함께 세팅해요 · 15분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7056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단톡방 입장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공지 · 과제 · 질문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895539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895539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3169859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GoogleDr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57056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169859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드라이브 폴더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169859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폴더 → 내 이름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5105278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105278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5379598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esk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57056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79598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CapCut 확인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379598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PC에서 실행되는지, 안 되면 안내대로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315017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315017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89337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3" name="Image 3" descr="Fa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570561"/>
            <a:ext cx="272125" cy="2721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89337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계정 로그인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7589337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ChatGPT · CapCut 유료 계정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9524756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7" name="Shape 30"/>
          <p:cNvSpPr/>
          <p:nvPr/>
        </p:nvSpPr>
        <p:spPr>
          <a:xfrm>
            <a:off x="9524756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8" name="Shape 31"/>
          <p:cNvSpPr/>
          <p:nvPr/>
        </p:nvSpPr>
        <p:spPr>
          <a:xfrm>
            <a:off x="9799076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9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570561"/>
            <a:ext cx="272125" cy="27212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99076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 동의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9799076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→ 6회차 브이로그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크루장은 크루 전원이 끝나면 손을 들어 주세요. 기술 도우미는 막힌 사람부터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기획: 이름 대신, 나를 설명하는 한 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082009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645920"/>
            <a:ext cx="10820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___ 한   ___ 의   ___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이런 느낌으로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10년 만에 다시 출근하는 엄마의 첫 출근 준비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요리 30년 차가 처음 찍는 유튜브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퇴근 후 30분, 동네를 걷는 직장인의 산책 기록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3154680"/>
            <a:ext cx="5333695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400800" y="33192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이렇게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630168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나는 [하는 일]이고 [좋아하는 것]을 좋아해. 이름 없이 나를 소개하는 한 줄 후보 10개를 줘. 처음 보는 사람이 "보고 싶다"고 느끼게.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3분 쓰기 → 짝에게 읽기 → 3번 고쳐 쓰기. 최종 한 줄은 내가 고릅니다 (워크북 p.2)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3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02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2교시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콘텐츠, 지금 어떻게 만들어지나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11:00–11:50  ·  우리가 매일 보는 영상의 지도와, 한 편이 만들어지는 과정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오늘 아침부터 지금까지,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몇 편 보셨나요?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숏폼 하나를 1편으로 셉니다. 크루에서 가장 많이 본 사람은?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 콘텐츠 지도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유형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숏폼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롱폼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라이브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이 과정에서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브이로그 · 일상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정보성 · 하우투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리뷰 · 언박싱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 (라이브커머스)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토크 · 리액션 · 스트리머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AI 영상 · 숏드라마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브랜디드 · 광고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046720" y="1645920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321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숏폼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14884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15~90초 세로 영상. 쇼츠 · 릴스 · 틱톡. 발견되는 곳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2862072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2104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롱폼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3364992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몇 분 이상 가로 영상. 깊이와 신뢰가 쌓이는 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4078224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21040" y="4215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라이브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4581144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실시간 방송. 소통과 판매(라이브커머스)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5440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● 그 형식에서 흔한 조합 (대략적인 지도)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성격이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5840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20985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유튜브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1005840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검색과 추천이 함께 일하고, 영상이 오래 쌓이는 곳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롱폼 · 쇼츠 · 라이브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0584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수업의 기록 채널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383938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3978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3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286" y="209854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72658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인스타그램</a:t>
            </a:r>
            <a:endParaRPr lang="en-US" sz="2100" dirty="0"/>
          </a:p>
        </p:txBody>
      </p:sp>
      <p:sp>
        <p:nvSpPr>
          <p:cNvPr id="25" name="Text 20"/>
          <p:cNvSpPr txBox="1"/>
          <p:nvPr/>
        </p:nvSpPr>
        <p:spPr>
          <a:xfrm>
            <a:off x="4703978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관계와 브랜드의 얼굴. 팔로워와 가까운 곳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4703978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릴스 · 캐러셀 · 스토리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03978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가게 · 개인 브랜드 홍보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082077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31" name="Shape 26"/>
          <p:cNvSpPr/>
          <p:nvPr/>
        </p:nvSpPr>
        <p:spPr>
          <a:xfrm>
            <a:off x="8402117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2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425" y="209854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270797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틱톡</a:t>
            </a:r>
            <a:endParaRPr lang="en-US" sz="2100" dirty="0"/>
          </a:p>
        </p:txBody>
      </p:sp>
      <p:sp>
        <p:nvSpPr>
          <p:cNvPr id="34" name="Text 28"/>
          <p:cNvSpPr txBox="1"/>
          <p:nvPr/>
        </p:nvSpPr>
        <p:spPr>
          <a:xfrm>
            <a:off x="8402117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발견과 트렌드. 소리와 밈이 퍼지는 속도가 빠른 곳</a:t>
            </a:r>
            <a:endParaRPr lang="en-US" sz="1450" dirty="0"/>
          </a:p>
        </p:txBody>
      </p:sp>
      <p:sp>
        <p:nvSpPr>
          <p:cNvPr id="35" name="Text 29"/>
          <p:cNvSpPr txBox="1"/>
          <p:nvPr/>
        </p:nvSpPr>
        <p:spPr>
          <a:xfrm>
            <a:off x="8402117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402117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짧은 세로 영상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8402117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40211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새로운 사람에게 닿기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프로의 제작 공정 7단계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누구에게 · 무엇을 · 왜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260266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43146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443146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프리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프로덕션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443146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대본 · 콘티 · 장소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443146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34732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17612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017612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촬영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017612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CE"/>
                </a:solidFill>
              </a:rPr>
              <a:t>빛 · 소리 · 샷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017612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오늘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09199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592079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5592079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편집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92079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컷 · 자막 · 음악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592079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3·4회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83665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66545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7166545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마스터링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166545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음량 · 색 · 규격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66545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58131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741011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741011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발행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741011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제목 · 썸네일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741011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32597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5477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0315477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분석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10315477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지표 → 다음 기획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15477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오늘은 3단계 '촬영'의 기초. 카드 아래 숫자는 각 단계를 깊게 배우는 회차입니다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① 카페 30초 릴스: 기획 → 촬영</a:t>
            </a:r>
            <a:endParaRPr lang="en-US" sz="2800" dirty="0"/>
          </a:p>
        </p:txBody>
      </p:sp>
      <p:pic>
        <p:nvPicPr>
          <p:cNvPr id="12" name="Image 0" descr="카페 릴스 6컷 콘티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5852160" cy="3904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12280" y="164592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040880" y="1764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기획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208483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근처 직장인에게, 비 오는 날 창가 자리와 라떼를, 저장하고 찾아오게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25146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"비 오는 날, 여기 창가 자리 하나면 충분해요"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812280" y="297180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40880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프리프로덕션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34107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6컷 콘티 · 샷 리스트 · 오전 창가빛 · 소품(우산, 젖은 창)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040880" y="38404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콘티 한 장, 샷 리스트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812280" y="429768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4416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촬영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040880" y="473659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5샷 시퀀스 + B롤(빗방울, 김 오르는 컵) · 우유 붓기는 60fps · 룸톤 10초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040880" y="5166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클립 20~30개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61447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가상의 예시입니다. 왼쪽 그림은 6컷 콘티(스토리보드).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② 카페 30초 릴스: 편집 → 분석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카페 릴스 완성 장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2331720" cy="42519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0초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957255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30초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520440" y="2011680"/>
            <a:ext cx="76197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93592" y="2011680"/>
            <a:ext cx="6705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18986" y="2011680"/>
            <a:ext cx="5553243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392138" y="2011680"/>
            <a:ext cx="54618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본론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908804" y="2011680"/>
            <a:ext cx="1560515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981956" y="2011680"/>
            <a:ext cx="1469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마무리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520440" y="2560320"/>
            <a:ext cx="7985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0–3초 훅: 우유가 퍼지는 슬로   ·   3–24초 본론: 창가 · 손 · 표정 · 컵   ·   24–30초 마무리: 간판 + "저장해 두세요"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520440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749040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편집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749040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훅 3초 → 본론 → 마무리 · 자막 3역할 · 음악 30~50%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27468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856068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 마스터링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856068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목소리 &gt; 음악 · 컷마다 색 통일 · 오탈자 · 1080×1920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520440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749040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 발행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3749040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커버 · 캡션 첫 줄 = 훅 · 해시태그 2~3개 · 위치 태그 · AI 표시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7627468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856068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 분석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856068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3초에 몇 명이 넘겼나 · 저장 수 → 다음 기획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프로덕션 현장 vs 1인 크리에이터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프로덕션 현장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역할마다 사람이 따로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05840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기획 PD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36544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36544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작가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05840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촬영감독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436544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36544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005840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음향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36544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36544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005840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컬러리스트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36544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36544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마케터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78728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598768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1인 크리에이터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598768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같은 역할을 혼자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598768" y="2834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bg1"/>
                </a:solidFill>
              </a:rPr>
              <a:t>나</a:t>
            </a:r>
            <a:endParaRPr lang="en-US" sz="7000" dirty="0"/>
          </a:p>
        </p:txBody>
      </p:sp>
      <p:sp>
        <p:nvSpPr>
          <p:cNvPr id="35" name="Text 32"/>
          <p:cNvSpPr txBox="1"/>
          <p:nvPr/>
        </p:nvSpPr>
        <p:spPr>
          <a:xfrm>
            <a:off x="7878928" y="283464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+</a:t>
            </a:r>
            <a:endParaRPr lang="en-US" sz="5400" dirty="0"/>
          </a:p>
        </p:txBody>
      </p:sp>
      <p:sp>
        <p:nvSpPr>
          <p:cNvPr id="36" name="Text 33"/>
          <p:cNvSpPr txBox="1"/>
          <p:nvPr/>
        </p:nvSpPr>
        <p:spPr>
          <a:xfrm>
            <a:off x="8656168" y="28346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accent1"/>
                </a:solidFill>
              </a:rPr>
              <a:t>AI</a:t>
            </a:r>
            <a:endParaRPr lang="en-US" sz="7000" dirty="0"/>
          </a:p>
        </p:txBody>
      </p:sp>
      <p:sp>
        <p:nvSpPr>
          <p:cNvPr id="37" name="Text 34"/>
          <p:cNvSpPr txBox="1"/>
          <p:nvPr/>
        </p:nvSpPr>
        <p:spPr>
          <a:xfrm>
            <a:off x="6598768" y="4297680"/>
            <a:ext cx="458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아이디어 · 대본 초안 · 자막 · 보정은 AI가 거들고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정하고 고르고 책임지는 건 내가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역할은 똑같다. 사람 수만 다르다. 그래서 1인 크리에이터에게 AI는 팀원이다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AI가 바꾼 제작 과정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3566160"/>
                <a:gridCol w="14932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단계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AI가 거드는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사람이 하는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배우는 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아이디어 후보 · 레퍼런스 정리 · 대본 초안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무엇을 왜 만들지, 최종 선택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프리프로덕션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콘티 그림 · 샷 리스트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장소 · 사람 섭외, 현장 판단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촬영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구도 피드백 · 찍을 수 없는 장면 생성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진짜 장소 · 사람 · 감정을 담기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 · 4회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편집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자동 자막 · 잡음 제거 · 컷 제안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어디서 자르고 무엇을 강조할지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마스터링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음량 · 색 자동 보정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끝까지 보고 최종 검수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발행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제목 · 캡션 · 썸네일 문구 후보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약속 지키기, AI 사용 표시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지표 요약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다음 기획 결정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 다음에 오는 것: 마스터링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Volum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소리 크기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목소리 &gt; 음악. 플랫폼이 음량을 맞추니 무작정 키우지 않기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2895539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9859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9859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색 · 밝기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9859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클립마다 톤을 한 가지로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105278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7959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Fo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79598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자막 점검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79598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오탈자, 잘린 글자, 버튼에 가리는 위치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7315017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33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xp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89337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내보내기 규격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89337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해상도 · 프레임 · 비율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524756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99076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heckDoub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06764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99076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최종 검수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99076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소리 켜고 한 번, 끄고 한 번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직접 해 보는 건 5회차. 오늘은 '편집이 끝이 아니다'만 기억하세요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화면이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68680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4460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655" y="3102559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쇼츠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218688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44468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63" y="3102559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44368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인스타그램 릴스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944368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568696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4476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671" y="3102559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틱톡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18704" y="2596896"/>
            <a:ext cx="4023360" cy="2267712"/>
          </a:xfrm>
          <a:prstGeom prst="roundRect">
            <a:avLst>
              <a:gd name="adj" fmla="val 5645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64624" y="336499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Youtu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819" y="355518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롱폼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644384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16:9 · 1920×1080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580644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 기본값  ·  세로 9:16  ·  1080×1920  ·  30fps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점심 시간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11:50–12:40  ·  오후는 카메라 원리부터. 폰을 충전하고, 저장공간을 10GB 이상 비워 두세요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4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03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3교시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① 사진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12:40–13:30  ·  얼마나 많은 빛을, 어떤 색으로, 어디에 초점을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사진은 빛을 담는 일: 노출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493776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71600" y="2240280"/>
            <a:ext cx="3566160" cy="3108960"/>
          </a:xfrm>
          <a:prstGeom prst="triangle">
            <a:avLst/>
          </a:prstGeom>
          <a:solidFill>
            <a:srgbClr val="1E2724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노출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743200" y="18288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432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조리개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012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01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셔터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2628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1645920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2" name="Shape 19"/>
          <p:cNvSpPr/>
          <p:nvPr/>
        </p:nvSpPr>
        <p:spPr>
          <a:xfrm>
            <a:off x="6217920" y="1865376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조리개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19456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빛이 들어오는 구멍의 크기  → 배경이 얼마나 흐려지나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5989320" y="2944368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6217920" y="3163824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셔터스피드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349300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빛을 받는 시간  → 움직임이 멈추나, 흐르나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89320" y="4242816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446227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83680" y="4379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ISO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4791456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빛에 반응하는 감도  → 화면이 깨끗한가, 자글자글한가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989320" y="562356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3"/>
                </a:solidFill>
              </a:rPr>
              <a:t>하나로 밝게 만들면, 나머지 둘 중 하나가 대가를 치른다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조리개 · 셔터 · ISO를 한 장에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017520"/>
                <a:gridCol w="295625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한쪽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다른 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폰에서는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조리개 (f값)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f/1.8 · 구멍 큼 · 밝음 · 배경 흐림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f/11 · 구멍 작음 · 어두움 · 앞뒤 선명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대부분 고정 → 인물 모드, 대상에 가까이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셔터스피드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1/1000 · 순간이 멈춤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1/30 · 움직임이 흐름, 흔들림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영상은 4교시 '2배 규칙'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100~400 · 깨끗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3200 이상 · 자글자글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어두우면 ISO 말고 빛을 더하기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조리개는 숫자가 작을수록 밝다 — 이것 하나만 확실히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화이트밸런스: 빛에도 색이 있다</a:t>
            </a:r>
            <a:endParaRPr lang="en-US" sz="2800" dirty="0"/>
          </a:p>
        </p:txBody>
      </p:sp>
      <p:pic>
        <p:nvPicPr>
          <p:cNvPr id="12" name="Image 0" descr="약 3,000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3423818" cy="2331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3,000K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촛불 · 전구 → 노랗게</a:t>
            </a:r>
            <a:endParaRPr lang="en-US" sz="1300" dirty="0"/>
          </a:p>
        </p:txBody>
      </p:sp>
      <p:pic>
        <p:nvPicPr>
          <p:cNvPr id="15" name="Image 1" descr="약 5,500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45920"/>
            <a:ext cx="3423818" cy="2331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3938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5,500K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383938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한낮 햇빛 → 자연스럽게</a:t>
            </a:r>
            <a:endParaRPr lang="en-US" sz="1300" dirty="0"/>
          </a:p>
        </p:txBody>
      </p:sp>
      <p:pic>
        <p:nvPicPr>
          <p:cNvPr id="18" name="Image 2" descr="약 7,000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45920"/>
            <a:ext cx="3423818" cy="2331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82077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7,000K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8082077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그늘 · 흐린 날 → 파랗게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영상은 화이트밸런스를 고정하고, 색이 다른 빛을 섞지 않기 (창가 빛 + 형광등 = 얼굴 반반)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심도 · 폰의 렌즈</a:t>
            </a:r>
            <a:endParaRPr lang="en-US" sz="2800" dirty="0"/>
          </a:p>
        </p:txBody>
      </p:sp>
      <p:pic>
        <p:nvPicPr>
          <p:cNvPr id="12" name="Image 0" descr="/home/user/MARUBIT/build/.cache/s1/img16_1_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2697480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얕은 심도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주인공만 선명 · 감성</a:t>
            </a:r>
            <a:endParaRPr lang="en-US" sz="1150" dirty="0"/>
          </a:p>
        </p:txBody>
      </p:sp>
      <p:pic>
        <p:nvPicPr>
          <p:cNvPr id="15" name="Image 1" descr="/home/user/MARUBIT/build/.cache/s1/img16_2_p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11880" y="1645920"/>
            <a:ext cx="2697480" cy="269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깊은 심도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전부 선명 · 정보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1645920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0" y="16459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0.5x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1755648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초광각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2075688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공간 전체 · 가장자리가 휨 · 얼굴 가까이는 왜곡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629400" y="2633472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858000" y="26334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1x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27432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기본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선명 · 대부분의 촬영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629400" y="3621024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858000" y="36210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2~3x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863840" y="3730752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망원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863840" y="4050792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얼굴이 자연스러움 · 배경 정리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줌 말고 발로. 렌즈 배율 사이의 디지털 줌은 화질이 떨어집니다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프로 모드로 바꿔 찍기 (짝과 25분)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갤럭시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카메라 → 더보기 → 프로 / 프로 동영상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 · 셔터 · WB를 직접 조절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아이폰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기본 카메라는 노출 조절 위주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무료 수동 앱 (예: Blackmagic Camera)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3832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같은 장면 ISO 100 vs 3200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손 흔들기 셔터 1/60 vs 1/1000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흰 종이 WB 전구 vs 맑음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인물 모드 켜고 / 끄고 (배경 흐림 비교)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9520" y="3337560"/>
            <a:ext cx="39163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다 찍었으면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19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가장 마음에 드는 1장 + 이유 한 줄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 드라이브 '1회차/3교시'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5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04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4교시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② 영상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13:40–14:30  ·  영상은 1초에 사진 수십 장. 그래서 규칙이 조금 다르다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프레임레이트: 1초에 몇 장인가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075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31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Shape 12"/>
          <p:cNvSpPr/>
          <p:nvPr/>
        </p:nvSpPr>
        <p:spPr>
          <a:xfrm>
            <a:off x="2579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7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Shape 14"/>
          <p:cNvSpPr/>
          <p:nvPr/>
        </p:nvSpPr>
        <p:spPr>
          <a:xfrm>
            <a:off x="3074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Shape 15"/>
          <p:cNvSpPr/>
          <p:nvPr/>
        </p:nvSpPr>
        <p:spPr>
          <a:xfrm>
            <a:off x="33223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99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Shape 17"/>
          <p:cNvSpPr/>
          <p:nvPr/>
        </p:nvSpPr>
        <p:spPr>
          <a:xfrm>
            <a:off x="38176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52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43129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05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48082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Shape 22"/>
          <p:cNvSpPr/>
          <p:nvPr/>
        </p:nvSpPr>
        <p:spPr>
          <a:xfrm>
            <a:off x="50558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Shape 23"/>
          <p:cNvSpPr/>
          <p:nvPr/>
        </p:nvSpPr>
        <p:spPr>
          <a:xfrm>
            <a:off x="53035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Shape 24"/>
          <p:cNvSpPr/>
          <p:nvPr/>
        </p:nvSpPr>
        <p:spPr>
          <a:xfrm>
            <a:off x="55511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88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9" name="Shape 26"/>
          <p:cNvSpPr/>
          <p:nvPr/>
        </p:nvSpPr>
        <p:spPr>
          <a:xfrm>
            <a:off x="60464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Shape 27"/>
          <p:cNvSpPr/>
          <p:nvPr/>
        </p:nvSpPr>
        <p:spPr>
          <a:xfrm>
            <a:off x="62941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Shape 28"/>
          <p:cNvSpPr/>
          <p:nvPr/>
        </p:nvSpPr>
        <p:spPr>
          <a:xfrm>
            <a:off x="65417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94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3" name="Shape 30"/>
          <p:cNvSpPr/>
          <p:nvPr/>
        </p:nvSpPr>
        <p:spPr>
          <a:xfrm>
            <a:off x="70370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Shape 31"/>
          <p:cNvSpPr/>
          <p:nvPr/>
        </p:nvSpPr>
        <p:spPr>
          <a:xfrm>
            <a:off x="7284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32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Shape 33"/>
          <p:cNvSpPr/>
          <p:nvPr/>
        </p:nvSpPr>
        <p:spPr>
          <a:xfrm>
            <a:off x="7780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7" name="Shape 34"/>
          <p:cNvSpPr/>
          <p:nvPr/>
        </p:nvSpPr>
        <p:spPr>
          <a:xfrm>
            <a:off x="8027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49640" y="178308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영화 같은 느낌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" y="30632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</a:t>
            </a:r>
            <a:endParaRPr lang="en-US" sz="4000" dirty="0"/>
          </a:p>
        </p:txBody>
      </p:sp>
      <p:sp>
        <p:nvSpPr>
          <p:cNvPr id="40" name="Text 37"/>
          <p:cNvSpPr txBox="1"/>
          <p:nvPr/>
        </p:nvSpPr>
        <p:spPr>
          <a:xfrm>
            <a:off x="1645920" y="3355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331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Shape 39"/>
          <p:cNvSpPr/>
          <p:nvPr/>
        </p:nvSpPr>
        <p:spPr>
          <a:xfrm>
            <a:off x="2529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hape 40"/>
          <p:cNvSpPr/>
          <p:nvPr/>
        </p:nvSpPr>
        <p:spPr>
          <a:xfrm>
            <a:off x="2727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hape 42"/>
          <p:cNvSpPr/>
          <p:nvPr/>
        </p:nvSpPr>
        <p:spPr>
          <a:xfrm>
            <a:off x="3124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Shape 43"/>
          <p:cNvSpPr/>
          <p:nvPr/>
        </p:nvSpPr>
        <p:spPr>
          <a:xfrm>
            <a:off x="33223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Shape 44"/>
          <p:cNvSpPr/>
          <p:nvPr/>
        </p:nvSpPr>
        <p:spPr>
          <a:xfrm>
            <a:off x="35204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Shape 45"/>
          <p:cNvSpPr/>
          <p:nvPr/>
        </p:nvSpPr>
        <p:spPr>
          <a:xfrm>
            <a:off x="37185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Shape 46"/>
          <p:cNvSpPr/>
          <p:nvPr/>
        </p:nvSpPr>
        <p:spPr>
          <a:xfrm>
            <a:off x="39166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Shape 47"/>
          <p:cNvSpPr/>
          <p:nvPr/>
        </p:nvSpPr>
        <p:spPr>
          <a:xfrm>
            <a:off x="41148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1" name="Shape 48"/>
          <p:cNvSpPr/>
          <p:nvPr/>
        </p:nvSpPr>
        <p:spPr>
          <a:xfrm>
            <a:off x="43129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Shape 49"/>
          <p:cNvSpPr/>
          <p:nvPr/>
        </p:nvSpPr>
        <p:spPr>
          <a:xfrm>
            <a:off x="45110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Shape 50"/>
          <p:cNvSpPr/>
          <p:nvPr/>
        </p:nvSpPr>
        <p:spPr>
          <a:xfrm>
            <a:off x="47091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4" name="Shape 51"/>
          <p:cNvSpPr/>
          <p:nvPr/>
        </p:nvSpPr>
        <p:spPr>
          <a:xfrm>
            <a:off x="49072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54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6" name="Shape 53"/>
          <p:cNvSpPr/>
          <p:nvPr/>
        </p:nvSpPr>
        <p:spPr>
          <a:xfrm>
            <a:off x="53035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" name="Shape 54"/>
          <p:cNvSpPr/>
          <p:nvPr/>
        </p:nvSpPr>
        <p:spPr>
          <a:xfrm>
            <a:off x="55016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Shape 55"/>
          <p:cNvSpPr/>
          <p:nvPr/>
        </p:nvSpPr>
        <p:spPr>
          <a:xfrm>
            <a:off x="56997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Shape 56"/>
          <p:cNvSpPr/>
          <p:nvPr/>
        </p:nvSpPr>
        <p:spPr>
          <a:xfrm>
            <a:off x="58978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0" name="Shape 57"/>
          <p:cNvSpPr/>
          <p:nvPr/>
        </p:nvSpPr>
        <p:spPr>
          <a:xfrm>
            <a:off x="60960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1" name="Shape 58"/>
          <p:cNvSpPr/>
          <p:nvPr/>
        </p:nvSpPr>
        <p:spPr>
          <a:xfrm>
            <a:off x="62941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2" name="Shape 59"/>
          <p:cNvSpPr/>
          <p:nvPr/>
        </p:nvSpPr>
        <p:spPr>
          <a:xfrm>
            <a:off x="64922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3" name="Shape 60"/>
          <p:cNvSpPr/>
          <p:nvPr/>
        </p:nvSpPr>
        <p:spPr>
          <a:xfrm>
            <a:off x="66903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4" name="Shape 61"/>
          <p:cNvSpPr/>
          <p:nvPr/>
        </p:nvSpPr>
        <p:spPr>
          <a:xfrm>
            <a:off x="68884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Shape 62"/>
          <p:cNvSpPr/>
          <p:nvPr/>
        </p:nvSpPr>
        <p:spPr>
          <a:xfrm>
            <a:off x="70866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Shape 63"/>
          <p:cNvSpPr/>
          <p:nvPr/>
        </p:nvSpPr>
        <p:spPr>
          <a:xfrm>
            <a:off x="7284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7" name="Shape 64"/>
          <p:cNvSpPr/>
          <p:nvPr/>
        </p:nvSpPr>
        <p:spPr>
          <a:xfrm>
            <a:off x="7482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8" name="Shape 65"/>
          <p:cNvSpPr/>
          <p:nvPr/>
        </p:nvSpPr>
        <p:spPr>
          <a:xfrm>
            <a:off x="7680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9" name="Shape 66"/>
          <p:cNvSpPr/>
          <p:nvPr/>
        </p:nvSpPr>
        <p:spPr>
          <a:xfrm>
            <a:off x="7879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0" name="Shape 67"/>
          <p:cNvSpPr/>
          <p:nvPr/>
        </p:nvSpPr>
        <p:spPr>
          <a:xfrm>
            <a:off x="8077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49640" y="30632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SNS 기본 · 우리 수업 기본값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685800" y="43434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60</a:t>
            </a:r>
            <a:endParaRPr lang="en-US" sz="4000" dirty="0"/>
          </a:p>
        </p:txBody>
      </p:sp>
      <p:sp>
        <p:nvSpPr>
          <p:cNvPr id="73" name="Text 70"/>
          <p:cNvSpPr txBox="1"/>
          <p:nvPr/>
        </p:nvSpPr>
        <p:spPr>
          <a:xfrm>
            <a:off x="164592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2331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Shape 72"/>
          <p:cNvSpPr/>
          <p:nvPr/>
        </p:nvSpPr>
        <p:spPr>
          <a:xfrm>
            <a:off x="2430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6" name="Shape 73"/>
          <p:cNvSpPr/>
          <p:nvPr/>
        </p:nvSpPr>
        <p:spPr>
          <a:xfrm>
            <a:off x="2529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Shape 74"/>
          <p:cNvSpPr/>
          <p:nvPr/>
        </p:nvSpPr>
        <p:spPr>
          <a:xfrm>
            <a:off x="2628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8" name="Shape 75"/>
          <p:cNvSpPr/>
          <p:nvPr/>
        </p:nvSpPr>
        <p:spPr>
          <a:xfrm>
            <a:off x="2727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Shape 76"/>
          <p:cNvSpPr/>
          <p:nvPr/>
        </p:nvSpPr>
        <p:spPr>
          <a:xfrm>
            <a:off x="2827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0" name="Shape 77"/>
          <p:cNvSpPr/>
          <p:nvPr/>
        </p:nvSpPr>
        <p:spPr>
          <a:xfrm>
            <a:off x="2926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1" name="Shape 78"/>
          <p:cNvSpPr/>
          <p:nvPr/>
        </p:nvSpPr>
        <p:spPr>
          <a:xfrm>
            <a:off x="3025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2" name="Shape 79"/>
          <p:cNvSpPr/>
          <p:nvPr/>
        </p:nvSpPr>
        <p:spPr>
          <a:xfrm>
            <a:off x="3124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3" name="Shape 80"/>
          <p:cNvSpPr/>
          <p:nvPr/>
        </p:nvSpPr>
        <p:spPr>
          <a:xfrm>
            <a:off x="3223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Shape 81"/>
          <p:cNvSpPr/>
          <p:nvPr/>
        </p:nvSpPr>
        <p:spPr>
          <a:xfrm>
            <a:off x="33223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5" name="Shape 82"/>
          <p:cNvSpPr/>
          <p:nvPr/>
        </p:nvSpPr>
        <p:spPr>
          <a:xfrm>
            <a:off x="34213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6" name="Shape 83"/>
          <p:cNvSpPr/>
          <p:nvPr/>
        </p:nvSpPr>
        <p:spPr>
          <a:xfrm>
            <a:off x="35204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7" name="Shape 84"/>
          <p:cNvSpPr/>
          <p:nvPr/>
        </p:nvSpPr>
        <p:spPr>
          <a:xfrm>
            <a:off x="36195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8" name="Shape 85"/>
          <p:cNvSpPr/>
          <p:nvPr/>
        </p:nvSpPr>
        <p:spPr>
          <a:xfrm>
            <a:off x="37185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Shape 86"/>
          <p:cNvSpPr/>
          <p:nvPr/>
        </p:nvSpPr>
        <p:spPr>
          <a:xfrm>
            <a:off x="38176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0" name="Shape 87"/>
          <p:cNvSpPr/>
          <p:nvPr/>
        </p:nvSpPr>
        <p:spPr>
          <a:xfrm>
            <a:off x="39166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Shape 88"/>
          <p:cNvSpPr/>
          <p:nvPr/>
        </p:nvSpPr>
        <p:spPr>
          <a:xfrm>
            <a:off x="40157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2" name="Shape 89"/>
          <p:cNvSpPr/>
          <p:nvPr/>
        </p:nvSpPr>
        <p:spPr>
          <a:xfrm>
            <a:off x="41148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Shape 90"/>
          <p:cNvSpPr/>
          <p:nvPr/>
        </p:nvSpPr>
        <p:spPr>
          <a:xfrm>
            <a:off x="42138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4" name="Shape 91"/>
          <p:cNvSpPr/>
          <p:nvPr/>
        </p:nvSpPr>
        <p:spPr>
          <a:xfrm>
            <a:off x="43129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Shape 92"/>
          <p:cNvSpPr/>
          <p:nvPr/>
        </p:nvSpPr>
        <p:spPr>
          <a:xfrm>
            <a:off x="44119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6" name="Shape 93"/>
          <p:cNvSpPr/>
          <p:nvPr/>
        </p:nvSpPr>
        <p:spPr>
          <a:xfrm>
            <a:off x="45110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7" name="Shape 94"/>
          <p:cNvSpPr/>
          <p:nvPr/>
        </p:nvSpPr>
        <p:spPr>
          <a:xfrm>
            <a:off x="46101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8" name="Shape 95"/>
          <p:cNvSpPr/>
          <p:nvPr/>
        </p:nvSpPr>
        <p:spPr>
          <a:xfrm>
            <a:off x="47091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9" name="Shape 96"/>
          <p:cNvSpPr/>
          <p:nvPr/>
        </p:nvSpPr>
        <p:spPr>
          <a:xfrm>
            <a:off x="48082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0" name="Shape 97"/>
          <p:cNvSpPr/>
          <p:nvPr/>
        </p:nvSpPr>
        <p:spPr>
          <a:xfrm>
            <a:off x="49072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8"/>
          <p:cNvSpPr/>
          <p:nvPr/>
        </p:nvSpPr>
        <p:spPr>
          <a:xfrm>
            <a:off x="50063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2" name="Shape 99"/>
          <p:cNvSpPr/>
          <p:nvPr/>
        </p:nvSpPr>
        <p:spPr>
          <a:xfrm>
            <a:off x="51054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0"/>
          <p:cNvSpPr/>
          <p:nvPr/>
        </p:nvSpPr>
        <p:spPr>
          <a:xfrm>
            <a:off x="52044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4" name="Shape 101"/>
          <p:cNvSpPr/>
          <p:nvPr/>
        </p:nvSpPr>
        <p:spPr>
          <a:xfrm>
            <a:off x="53035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Shape 102"/>
          <p:cNvSpPr/>
          <p:nvPr/>
        </p:nvSpPr>
        <p:spPr>
          <a:xfrm>
            <a:off x="54025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5016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Shape 104"/>
          <p:cNvSpPr/>
          <p:nvPr/>
        </p:nvSpPr>
        <p:spPr>
          <a:xfrm>
            <a:off x="56007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6997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7988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8978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9969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2" name="Shape 109"/>
          <p:cNvSpPr/>
          <p:nvPr/>
        </p:nvSpPr>
        <p:spPr>
          <a:xfrm>
            <a:off x="60960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Shape 110"/>
          <p:cNvSpPr/>
          <p:nvPr/>
        </p:nvSpPr>
        <p:spPr>
          <a:xfrm>
            <a:off x="61950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4" name="Shape 111"/>
          <p:cNvSpPr/>
          <p:nvPr/>
        </p:nvSpPr>
        <p:spPr>
          <a:xfrm>
            <a:off x="62941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5" name="Shape 112"/>
          <p:cNvSpPr/>
          <p:nvPr/>
        </p:nvSpPr>
        <p:spPr>
          <a:xfrm>
            <a:off x="63931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6" name="Shape 113"/>
          <p:cNvSpPr/>
          <p:nvPr/>
        </p:nvSpPr>
        <p:spPr>
          <a:xfrm>
            <a:off x="64922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Shape 114"/>
          <p:cNvSpPr/>
          <p:nvPr/>
        </p:nvSpPr>
        <p:spPr>
          <a:xfrm>
            <a:off x="65913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8" name="Shape 115"/>
          <p:cNvSpPr/>
          <p:nvPr/>
        </p:nvSpPr>
        <p:spPr>
          <a:xfrm>
            <a:off x="66903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9" name="Shape 116"/>
          <p:cNvSpPr/>
          <p:nvPr/>
        </p:nvSpPr>
        <p:spPr>
          <a:xfrm>
            <a:off x="67894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8884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1" name="Shape 118"/>
          <p:cNvSpPr/>
          <p:nvPr/>
        </p:nvSpPr>
        <p:spPr>
          <a:xfrm>
            <a:off x="69875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0866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3" name="Shape 120"/>
          <p:cNvSpPr/>
          <p:nvPr/>
        </p:nvSpPr>
        <p:spPr>
          <a:xfrm>
            <a:off x="71856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284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383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6" name="Shape 123"/>
          <p:cNvSpPr/>
          <p:nvPr/>
        </p:nvSpPr>
        <p:spPr>
          <a:xfrm>
            <a:off x="7482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581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680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780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0" name="Shape 127"/>
          <p:cNvSpPr/>
          <p:nvPr/>
        </p:nvSpPr>
        <p:spPr>
          <a:xfrm>
            <a:off x="7879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1" name="Shape 128"/>
          <p:cNvSpPr/>
          <p:nvPr/>
        </p:nvSpPr>
        <p:spPr>
          <a:xfrm>
            <a:off x="7978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077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176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8549640" y="434340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매끄러운 움직임 · 슬로모션 재료</a:t>
            </a:r>
            <a:endParaRPr lang="en-US" sz="1600" dirty="0"/>
          </a:p>
        </p:txBody>
      </p:sp>
      <p:sp>
        <p:nvSpPr>
          <p:cNvPr id="135" name="Text 132"/>
          <p:cNvSpPr txBox="1"/>
          <p:nvPr/>
        </p:nvSpPr>
        <p:spPr>
          <a:xfrm>
            <a:off x="2331720" y="5486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← 1초 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셔터 2배 규칙과 깜빡이는 조명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30fps → 셔터 1/60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1645920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자연스러운 움직임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60fps → 셔터 1/120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267004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슬로모션 재료로 찍을 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!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너무 빠른 셔터 (1/1000)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94176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움직임이 뚝뚝 끊겨 보여요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29400" y="1645920"/>
            <a:ext cx="487649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Shape 2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9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2086661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949440" y="26974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화면에 줄이 흐르면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6949440" y="3154680"/>
            <a:ext cx="4236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실내 형광등 · LED가 깜빡이는 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셔터를 1/60 또는 1/120으로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그래도 안 되면 창가 자연광으로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편집에서 문제가 되는 설정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HDR 동영상 → 끄기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폰에선 화려해도 편집 · 다른 화면에서 색이 틀어져 보일 수 있어요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File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HEVC(고효율) → 끄기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파일은 작지만 일부 PC에서 편집이 끊겨요. 호환성 우선(H.264)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Hd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4K → 1080p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4K는 파일이 약 4배. 수업 기본은 1080p 30fps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편집에서 생길 문제를 촬영 전에 막는 것. 메뉴 이름은 기종마다 조금씩 달라요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함께 세팅해요 · 15분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아이폰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카메라 → 비디오 녹화 → 1080p 30fps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화면에서 'HDR 비디오'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포맷 → '가장 호환성 높은 포맷'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격자 켜기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갤럭시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동영상 → 상단 해상도에서 FHD 30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고급 동영상 옵션 → 고효율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곳에서 HDR10+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수직 · 수평 안내선 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85800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Fa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509229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54480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렌즈 닦기</a:t>
            </a:r>
            <a:endParaRPr lang="en-US" sz="1450" dirty="0"/>
          </a:p>
        </p:txBody>
      </p:sp>
      <p:sp>
        <p:nvSpPr>
          <p:cNvPr id="22" name="Shape 18"/>
          <p:cNvSpPr/>
          <p:nvPr/>
        </p:nvSpPr>
        <p:spPr>
          <a:xfrm>
            <a:off x="3447974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3" name="Shape 19"/>
          <p:cNvSpPr/>
          <p:nvPr/>
        </p:nvSpPr>
        <p:spPr>
          <a:xfrm>
            <a:off x="3585134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1" descr="FaS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50922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316654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저장공간 10GB+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6210148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7" name="Shape 22"/>
          <p:cNvSpPr/>
          <p:nvPr/>
        </p:nvSpPr>
        <p:spPr>
          <a:xfrm>
            <a:off x="6347308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2" descr="FaBellSl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41" y="509229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78828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방해 금지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8972321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31" name="Shape 25"/>
          <p:cNvSpPr/>
          <p:nvPr/>
        </p:nvSpPr>
        <p:spPr>
          <a:xfrm>
            <a:off x="9109481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FaMob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015" y="5092294"/>
            <a:ext cx="285293" cy="28529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41001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기본은 세로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노출 잠그기 (AE/AF 잠금)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대상을 길게 누르기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45920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화면에서 찍을 대상을 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잠금 표시 확인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670048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아이폰 AE/AF 잠금 · 갤럭시 자물쇠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밝기 막대 조절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69417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위아래로 밀어 원하는 밝기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95160" y="1645920"/>
            <a:ext cx="451073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잠그지 않으면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228600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사람이 지나갈 때마다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밝기와 초점이 출렁입니다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38404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가장 쉬운 프로와 아마추어의 차이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다음 실습부터 모든 촬영은 '잠그고' 찍습니다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비교 클립 두 쌍 (15분)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Tachomet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30fps vs 60fps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넘기기, 물 따르기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같은 동작을 두 번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잠금 없이 vs 잠금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창가를 지나가며 찍기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밝기 출렁임 비교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4" name="Image 2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도전 미션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갤럭시 프로 동영상으로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셔터 1/60 vs 1/1000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아이폰은 수동 앱으로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찍은 클립은 드라이브 '1회차/4교시'로. 60fps 클립은 3회차 편집에서 슬로모션으로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6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05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5교시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화면의 언어와 빛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14:40–15:30  ·  얼마나 가까이, 어디서, 화면 어디에, 어떤 빛으로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샷 크기: 얼마나 가까이 찍느냐가 말을 정한다</a:t>
            </a:r>
            <a:endParaRPr lang="en-US" sz="2800" dirty="0"/>
          </a:p>
        </p:txBody>
      </p:sp>
      <p:pic>
        <p:nvPicPr>
          <p:cNvPr id="12" name="Image 0" descr="익스트림 와이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와이드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어디인지</a:t>
            </a:r>
            <a:endParaRPr lang="en-US" sz="1200" dirty="0"/>
          </a:p>
        </p:txBody>
      </p:sp>
      <p:pic>
        <p:nvPicPr>
          <p:cNvPr id="16" name="Image 1" descr="와이드 · 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 · 풀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8639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Wide / Full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88639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어디서</a:t>
            </a:r>
            <a:endParaRPr lang="en-US" sz="1200" dirty="0"/>
          </a:p>
        </p:txBody>
      </p:sp>
      <p:pic>
        <p:nvPicPr>
          <p:cNvPr id="20" name="Image 2" descr="미디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미디엄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08699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Medium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08699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24" name="Image 3" descr="클로즈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클로즈업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28758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Close-up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28758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감정, 동작</a:t>
            </a:r>
            <a:endParaRPr lang="en-US" sz="1200" dirty="0"/>
          </a:p>
        </p:txBody>
      </p:sp>
      <p:pic>
        <p:nvPicPr>
          <p:cNvPr id="28" name="Image 4" descr="익스트림 클로즈업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클로즈업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48818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Close-up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948818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강조, 질감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어디서(와이드) → 누가 무엇을(미디엄) → 어떤 감정으로(클로즈업)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앵글: 어디서 보느냐가 느낌을 바꾼다</a:t>
            </a:r>
            <a:endParaRPr lang="en-US" sz="2800" dirty="0"/>
          </a:p>
        </p:txBody>
      </p:sp>
      <p:pic>
        <p:nvPicPr>
          <p:cNvPr id="12" name="Image 0" descr="하이앵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2295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하이앵글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High angle  ·  내려다보기 · 작고 귀엽게</a:t>
            </a:r>
            <a:endParaRPr lang="en-US" sz="1150" dirty="0"/>
          </a:p>
        </p:txBody>
      </p:sp>
      <p:pic>
        <p:nvPicPr>
          <p:cNvPr id="15" name="Image 1" descr="아이레벨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2295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아이레벨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Eye level  ·  눈높이 · 자연스럽게</a:t>
            </a:r>
            <a:endParaRPr lang="en-US" sz="1150" dirty="0"/>
          </a:p>
        </p:txBody>
      </p:sp>
      <p:pic>
        <p:nvPicPr>
          <p:cNvPr id="18" name="Image 2" descr="로우앵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2295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로우앵글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Low angle  ·  올려다보기 · 크고 당당하게</a:t>
            </a:r>
            <a:endParaRPr lang="en-US" sz="1150" dirty="0"/>
          </a:p>
        </p:txBody>
      </p:sp>
      <p:pic>
        <p:nvPicPr>
          <p:cNvPr id="21" name="Image 3" descr="탑뷰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2295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탑뷰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Top-down  ·  바로 위 · 음식 · 손 작업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더치 앵글(기울이기): 불안하고 역동적인 느낌. 가끔만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① 주인공을 어디에 둘까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3423818" cy="2926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삼분할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선이 만나는 점에 주인공, 눈은 위쪽 선에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1827073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257556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68346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55092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pic>
        <p:nvPicPr>
          <p:cNvPr id="19" name="Image 1" descr="리딩 라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00200"/>
            <a:ext cx="3423818" cy="2926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83938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리딩 라인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383938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길 · 난간 · 복도의 선이 주인공을 가리키게</a:t>
            </a:r>
            <a:endParaRPr lang="en-US" sz="1150" dirty="0"/>
          </a:p>
        </p:txBody>
      </p:sp>
      <p:pic>
        <p:nvPicPr>
          <p:cNvPr id="22" name="Image 2" descr="프레임 속 프레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00200"/>
            <a:ext cx="3423818" cy="29260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082077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프레임 속 프레임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82077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문 · 창문으로 주인공을 한 번 더 감싸기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대칭: 양쪽이 같은 곳(복도 · 건물 정면)은 가운데가 정답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② 무엇을 비울까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96012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세로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691640"/>
            <a:ext cx="2331720" cy="4251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51560" y="1691640"/>
            <a:ext cx="2331720" cy="59527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923130"/>
            <a:ext cx="2331720" cy="1020470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6" name="Shape 12"/>
          <p:cNvSpPr/>
          <p:nvPr/>
        </p:nvSpPr>
        <p:spPr>
          <a:xfrm>
            <a:off x="3010205" y="3477463"/>
            <a:ext cx="373075" cy="1445666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6080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빨간 곳 = 버튼 · 캡션 자리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60020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4224528" y="18516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24528" y="1851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892040" y="1600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헤드룸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160020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위는 손가락 한두 개만큼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023360" y="269748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4224528" y="29489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4528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697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시선 여백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69748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보는 쪽, 가는 쪽에 공간을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023360" y="379476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9" name="Shape 25"/>
          <p:cNvSpPr/>
          <p:nvPr/>
        </p:nvSpPr>
        <p:spPr>
          <a:xfrm>
            <a:off x="4224528" y="40462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224528" y="4046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489204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세로 안전 영역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269480" y="379476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 · 아래 · 오른쪽은 버튼과 캡션 자리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023360" y="489204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Shape 30"/>
          <p:cNvSpPr/>
          <p:nvPr/>
        </p:nvSpPr>
        <p:spPr>
          <a:xfrm>
            <a:off x="4224528" y="51435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24528" y="5143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4892040" y="4892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수직선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269480" y="489204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문틀 · 건물 세로선을 화면과 나란히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빛의 방향</a:t>
            </a:r>
            <a:endParaRPr lang="en-US" sz="2800" dirty="0"/>
          </a:p>
        </p:txBody>
      </p:sp>
      <p:pic>
        <p:nvPicPr>
          <p:cNvPr id="12" name="Image 0" descr="순광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330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순광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정면 · 밝고 선명</a:t>
            </a:r>
            <a:endParaRPr lang="en-US" sz="1150" dirty="0"/>
          </a:p>
        </p:txBody>
      </p:sp>
      <p:pic>
        <p:nvPicPr>
          <p:cNvPr id="15" name="Image 1" descr="측광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330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측광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옆 · 입체감과 분위기</a:t>
            </a:r>
            <a:endParaRPr lang="en-US" sz="1150" dirty="0"/>
          </a:p>
        </p:txBody>
      </p:sp>
      <p:pic>
        <p:nvPicPr>
          <p:cNvPr id="18" name="Image 2" descr="역광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330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역광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뒤 · 윤곽은 예쁘지만 얼굴이 어두움</a:t>
            </a:r>
            <a:endParaRPr lang="en-US" sz="1150" dirty="0"/>
          </a:p>
        </p:txBody>
      </p:sp>
      <p:pic>
        <p:nvPicPr>
          <p:cNvPr id="21" name="Image 3" descr="그늘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3308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그늘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부드럽고 고르게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5778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5778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역광은 흰 종이 한 장으로 살린다: 얼굴 앞 아래쪽에서 빛을 튕겨 주기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3점 조명, 폰으로 하면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1828800" y="3703320"/>
            <a:ext cx="1234440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94760" y="3703320"/>
            <a:ext cx="1143000" cy="411480"/>
          </a:xfrm>
          <a:prstGeom prst="line">
            <a:avLst/>
          </a:prstGeom>
          <a:noFill/>
          <a:ln w="19050">
            <a:solidFill>
              <a:srgbClr val="C9B26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3063240" y="324612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036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27248" y="4937760"/>
            <a:ext cx="603504" cy="603504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4159" y="5094671"/>
            <a:ext cx="289682" cy="28968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80360" y="5550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CE"/>
                </a:solidFill>
              </a:rPr>
              <a:t>카메라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97280" y="3931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1" descr="Fa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75" y="41221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키 = 창문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395935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mage 2" descr="Fa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216" y="4130528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26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필 = 흰 종이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127248" y="201168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59" y="2168591"/>
            <a:ext cx="289682" cy="28968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33172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C2E0"/>
                </a:solidFill>
              </a:rPr>
              <a:t>백 = 뒤쪽 스탠드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160020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73736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키 라이트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210312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가장 강한 주 조명. 얼굴 정면에서 45도 옆, 살짝 위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256032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창문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446520" y="310896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720840" y="324612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 라이트</a:t>
            </a:r>
            <a:endParaRPr lang="en-US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720840" y="36118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반대쪽에서 그림자를 부드럽게 채움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6720840" y="406908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흰 종이 · 흰 벽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6446520" y="461772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6720840" y="475488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백 라이트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6720840" y="51206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뒤에서 머리 · 어깨 윤곽을 살려 배경과 분리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720840" y="55778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뒤쪽 스탠드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사진 미션 + AI 피드백 (25분)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학교 공간에서 15분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삼분할 × 2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헤드룸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대칭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시선 여백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리딩 라인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탑뷰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프레임 속 프레임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역광 + 흰 종이 반사판 × 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333695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400800" y="17647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075688"/>
            <a:ext cx="4876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사진의 구도에서 좋은 점 1개, 고칠 점 2개를 알려줘. 초보자가 다음 촬영에서 바로 고칠 수 있게, 샷 크기 · 앵글 · 구도 용어를 써서.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172200" y="4023360"/>
            <a:ext cx="5333695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워크북에 한 줄씩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57200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맞게 본 것 하나: ________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놓친 것 하나: ________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76072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AI는 규칙을 보고, 사람은 의도를 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7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06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6교시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움직임 · 컷 · 소리, 그리고 장비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15:40–16:30  ·  흔들림 없이, 한 장면을 여러 컷으로, 소리까지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흔들림 잡기와 카메라 움직임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10610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Pa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805" y="2000707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85800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고정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Static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5539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520349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44" y="20007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95539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2895539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105278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730088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ArrowsAl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000707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05278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틸트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105278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Tilt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315017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939827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ompressArrows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22" y="200070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15017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다가가기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315017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Push-in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24756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49566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Wal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9761" y="2000707"/>
            <a:ext cx="351130" cy="35113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24756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따라가기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9524756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Tracking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14400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1600200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한 클립에 한 움직임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383938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612538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5298338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생각보다 두 배 천천히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8082077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8310677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45" name="Text 37"/>
          <p:cNvSpPr txBox="1"/>
          <p:nvPr/>
        </p:nvSpPr>
        <p:spPr>
          <a:xfrm>
            <a:off x="8996477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시작과 끝에 2초 멈추기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흔들림은 자세로 먼저: 두 손, 팔꿈치는 몸에, 벽에 기대기. 앱 보정은 그다음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5샷 시퀀스: 뭘 찍을지 모를 때 꺼내는 공식</a:t>
            </a:r>
            <a:endParaRPr lang="en-US" sz="2800" dirty="0"/>
          </a:p>
        </p:txBody>
      </p:sp>
      <p:pic>
        <p:nvPicPr>
          <p:cNvPr id="12" name="Image 0" descr="손 클로즈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552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9552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 클로즈업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17" name="Image 1" descr="얼굴 클로즈업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299612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99612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얼굴 클로즈업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88639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어떤 표정으로</a:t>
            </a:r>
            <a:endParaRPr lang="en-US" sz="1200" dirty="0"/>
          </a:p>
        </p:txBody>
      </p:sp>
      <p:pic>
        <p:nvPicPr>
          <p:cNvPr id="22" name="Image 2" descr="와이드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19671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19671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08699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어디서</a:t>
            </a:r>
            <a:endParaRPr lang="en-US" sz="1200" dirty="0"/>
          </a:p>
        </p:txBody>
      </p:sp>
      <p:pic>
        <p:nvPicPr>
          <p:cNvPr id="27" name="Image 3" descr="어깨너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39731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9731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어깨너머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8758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 사람의 시점</a:t>
            </a:r>
            <a:endParaRPr lang="en-US" sz="1200" dirty="0"/>
          </a:p>
        </p:txBody>
      </p:sp>
      <p:pic>
        <p:nvPicPr>
          <p:cNvPr id="32" name="Image 4" descr="특이한 앵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59790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59790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특이한 앵글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48818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탑뷰 · 로우앵글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3949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3949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컷마다 7초 이상, 두 번씩. ①과 ②는 같은 동작을 다른 크기로 → 편집에서 이어 붙이면 자연스러워요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컷을 잇는 규칙: 180도 · 30도 · B롤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51560" y="3429000"/>
            <a:ext cx="466344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1097280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A49C"/>
                </a:solidFill>
              </a:rPr>
              <a:t>가상의 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74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Shape 13"/>
          <p:cNvSpPr/>
          <p:nvPr/>
        </p:nvSpPr>
        <p:spPr>
          <a:xfrm>
            <a:off x="4160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7" name="Shape 14"/>
          <p:cNvSpPr/>
          <p:nvPr/>
        </p:nvSpPr>
        <p:spPr>
          <a:xfrm>
            <a:off x="205740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311" y="4683191"/>
            <a:ext cx="289682" cy="28968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06908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991" y="4683191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430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1AE"/>
                </a:solidFill>
              </a:rPr>
              <a:t>카메라는 이쪽에서만 ✓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3081528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2" descr="Fa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4" y="20628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490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49C"/>
                </a:solidFill>
              </a:rPr>
              <a:t>넘어가면 방향이 뒤집혀 보여요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355080" y="160020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180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182880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180도 규칙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06640" y="224028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 사람 사이 선을 넘지 않기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355080" y="310896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583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333756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30도 규칙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7406640" y="374904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다시 찍을 땐 30도 이상, 또는 샷 크기를 바꾸기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355080" y="461772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6" name="Shape 30"/>
          <p:cNvSpPr/>
          <p:nvPr/>
        </p:nvSpPr>
        <p:spPr>
          <a:xfrm>
            <a:off x="6583680" y="49834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65836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06640" y="4846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B롤을 넉넉히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7406640" y="525780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손 · 소품 · 공간 컷. 편집에서 자른 자리를 덮어 줘요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소리는 영상의 절반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Ruler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뼘 거리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폰과 입 사이 한 뼘. 멀수록 방 울림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olumeM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조용한 자리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에어컨 · 냉장고 · 복도 소리 피하기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 10초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끝에 말없이 10초 녹음 → 편집에서 빈 곳 메꾸기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T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현장음 살리기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발소리 · 물소리. 음악으로 다 덮지 않기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참아도, 안 들리는 소리는 못 참는다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강사 장비 체험: 언제 쓰면 좋은가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삼각대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고정 샷 · 혼자 찍는 토크 · 타임랩스. 미니 삼각대도 충분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icro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무선 핀마이크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인터뷰 · 토크 · 내레이션. 폰 마이크와 같은 문장으로 비교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짐벌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걷거나 따라가며 찍을 때. 무겁고 세팅 시간이 들어요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크루별로 2분씩 돌려 써 보기. 장비는 사기 전에 자세부터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학교 공간에서 5샷 시퀀스 (20분)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짝이 행동하고, 나는 찍고 → 바꾸기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① 손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② 얼굴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③ 와이드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④ 어깨너머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⑤ 특이한 앵글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컷마다 7초 이상 · 두 번씩 · 앞뒤 2초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모든 컷 AE/AF 잠금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20840" y="1600200"/>
            <a:ext cx="4785055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95160" y="17556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행동 예시 (내 아이템이면 더 좋아요)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2148840"/>
            <a:ext cx="4236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디저트 포장하기 · 화장품 바르기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노트북으로 작업하기 · 커피 내리기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반려견 사진 넘겨 보기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720840" y="3931920"/>
            <a:ext cx="4785055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95160" y="4069080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크루 기록 담당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8056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크루가 촬영하는 모습을 찍어 두기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→ 6회차 우리 반 브이로그 재료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8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07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7교시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촬영 리뷰와 공유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16:40–17:30  ·  보고, 고르고, 남기기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 리뷰: 찍고, 보고, 고르기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105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드라이브에 올리기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160020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크루 폴더 → 내 이름 → 1회차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0604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163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0604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크루에게 보여 주기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60604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첫 시청자가 먼저 칭찬 1 + 제안 1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1188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8221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1188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체크하기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663440" y="361188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세로 · 흔들림 · 밝기 출렁임 · 초점 · 소리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61772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8280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61772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 베스트 컷 고르기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663440" y="461772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2회차 첫 업로드 재료 + 크루 이름 정하기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76072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편집은 3회차부터. 오늘은 보고 고르는 눈을 기르는 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배운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746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제작 공정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0020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기획 → 프리프로덕션 → 촬영 → 편집 → 마스터링 → 발행 → 분석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46888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6151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468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노출과 색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46888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조리개 · 셔터 · ISO + 화이트밸런스. 조리개는 숫자가 작을수록 밝다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337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영상 세팅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33756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1080p 30fps · 셔터 2배 · HDR과 HEVC 끄기 · AE/AF 잠금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20624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3525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206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화면의 언어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20624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샷 크기 · 앵글 · 구도 · 빛. 영어 이름은 4회차 AI 프롬프트가 된다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507492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5221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50749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컷과 소리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3931920" y="507492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5샷 시퀀스 · 180도 · 30도 · B롤 · 한 뼘 거리 · 룸톤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다음 시간까지 · 10/30 (금)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2484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콘텐츠 10편 저장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인스타 · 유튜브 · 틱톡 어디든. 왜 좋은지 한 줄씩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4383938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383938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52484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58258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만들고 싶은 채널 한 줄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4658258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누구에게, 무엇을 보여 주고 싶은지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8082077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8082077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8356397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ownlo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52484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56397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CapCut PC 설치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356397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오늘 못 한 사람만, 안내대로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685800" y="53492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60120" y="53492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선택: 5샷 시퀀스를 내 아이템으로 하나 더  ·  제출은 드라이브 '1회차 과제'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2회차 예고 · 기획하는 머리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51560" y="17830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10월 30일, 우리는 각자 채널을 엽니다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5603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강사도 같은 날, 여러분과 함께 새 채널을 엽니다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85800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0392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아이템 찾기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2287981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534869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99461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699461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레퍼런스 해부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13705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38393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4853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4853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콘셉트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98612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23300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9760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9760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기획안 · 대본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835189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082077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46669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46669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스토리보드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684258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931146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95738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095738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개설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고른 크루 베스트 컷이 여러분 채널의 첫 영상이 될 수도 있어요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AI는 장비,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연출은 당신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오늘 기른 '보는 눈'이 6번의 수업 내내 모든 것의 바닥이 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w Tree">
  <a:themeElements>
    <a:clrScheme name="Crew Tree">
      <a:dk1>
        <a:srgbClr val="1B211E"/>
      </a:dk1>
      <a:lt1>
        <a:srgbClr val="FFFFFF"/>
      </a:lt1>
      <a:dk2>
        <a:srgbClr val="121816"/>
      </a:dk2>
      <a:lt2>
        <a:srgbClr val="F3F6F4"/>
      </a:lt2>
      <a:accent1>
        <a:srgbClr val="D6A23C"/>
      </a:accent1>
      <a:accent2>
        <a:srgbClr val="1F5A43"/>
      </a:accent2>
      <a:accent3>
        <a:srgbClr val="B8473E"/>
      </a:accent3>
      <a:accent4>
        <a:srgbClr val="3B6F97"/>
      </a:accent4>
      <a:accent5>
        <a:srgbClr val="6E7A74"/>
      </a:accent5>
      <a:accent6>
        <a:srgbClr val="F2E3B8"/>
      </a:accent6>
      <a:hlink>
        <a:srgbClr val="3B6F97"/>
      </a:hlink>
      <a:folHlink>
        <a:srgbClr val="6E4E8E"/>
      </a:folHlink>
    </a:clrScheme>
    <a:fontScheme name="Crew Tre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촬영편집 1회차 — 보는 눈</dc:title>
  <dc:subject>PptxGenJS Presentation</dc:subject>
  <dc:creator>촬영편집 강사</dc:creator>
  <cp:lastModifiedBy>촬영편집 강사</cp:lastModifiedBy>
  <cp:revision>1</cp:revision>
  <dcterms:created xsi:type="dcterms:W3CDTF">2026-10-20T18:07:30Z</dcterms:created>
  <dcterms:modified xsi:type="dcterms:W3CDTF">2026-10-20T18:07:30Z</dcterms:modified>
</cp:coreProperties>
</file>