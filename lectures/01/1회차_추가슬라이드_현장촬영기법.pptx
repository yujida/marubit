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6교시 추가안 · 현장 촬영 기법" id="{bb5798f4-3af2-4a01-be9e-a9f4d9de30f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[추가안 시작] 오늘 오전까지가 '카메라 사용법'이었다면, 여기부터는 '현장의 일하는 방식'.
장비가 폰이어도 방식은 똑같이 쓸 수 있습니다. 다섯 묶음: 무빙 → 렌즈와 초점 → 커버리지 → 현장 운영 → 화질 · 색 · 빛 · 소리.
"이걸 다 외우자는 게 아니라, 현장 사람들이 왜 이렇게 일하는지 이유를 가져가자."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[무빙 ①] 오전의 팬 · 틸트는 '고개만 돌리기', 여기부터는 '카메라가 몸째 움직이기'.
평면도 보는 법: 위에서 내려다본 그림. 흰 원 = 사람, 금색 부채꼴 = 카메라가 보는 범위, 흐린 카메라 = 출발 위치.
달리: 줌과 달리 원근이 바뀐다(다음 장들에서). 트럭: 전경을 끼면 시차로 깊이감. 페디스털: 틸트와 헷갈리지 않기. 아크: 짐벌 실습 때 강사 시연.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[무빙 ②] 리빌: 숏폼 첫 1초 후킹에 강함. 휩 팬: 데이미언 셔젤 감독 영화(위플래시 · 라라랜드)에서 자주 보이는 전환.
돌리 줌: 히치콕 〈현기증〉(1958)에서 유명해져 'Vertigo effect', 〈죠스〉(1975) 해변 장면도 유명.
롱테이크: 〈1917〉은 영화 전체가 한 번에 찍은 것처럼 보이게 설계. 브이로그 오프닝 원테이크로 응용.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[무빙 실전] 표는 그대로 6교시 장비 체험 때 체크리스트로 씁니다. 강사 짐벌로 아크 · 페디스털 · 휩 팬 시연 → 크루별 2분 체험.
현장 기본: 움직임 시작 전 2초 정지, 끝나고 2초 정지(편집 손잡이). 빠른 휩 팬 외에는 생각보다 두 배 천천히.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[렌즈 ①] 현장에서 줌으로 '다가가기'를 잘 안 쓰는 이유: 줌은 확대일 뿐 원근(배경과 인물의 관계)이 그대로라 평면적.
달리는 카메라가 실제로 움직여 배경과 인물의 관계가 바뀌어 입체적. 폰의 디지털 줌은 화질까지 떨어짐.
돌리 줌: 카메라는 뒤로(또는 앞으로), 줌은 반대로 → 인물 크기는 같은데 배경만 변해 '세상이 흔들리는' 느낌. 도식: 금색 = 가까이서 넓게(배경이 넓게 보임), 흰색 = 멀리서 좁게.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[렌즈 ②] 세 칸 모두 인물 크기는 같게, 카메라 거리만 다르게 찍은 것. 광각은 배경이 작고 멀어지며 얼굴이 살짝 늘어남. 망원은 배경이 크게 다가오며(압축) 인물이 도드라짐.
실무: 인물 클로즈업은 2~3x로 조금 떨어져서(얼굴 왜곡이 줄어 예쁘게). 공간 소개 · 좁은 방은 0.5x. 인터뷰 B캠은 3x.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[렌즈 ③] 랙 포커스: 앞사람 → 뒷사람(또는 물건 → 사람)으로 초점을 옮겨 '이제 이걸 보세요'라고 말하는 기법. 현장에서는 포커스 풀러가 거리를 재서 정확히 돌립니다.
폰: ① 녹화 중 화면 탭(가장 쉬움, 속도는 폰이 정함) ② 아이폰 '시네마틱 모드'는 촬영 후 편집에서 초점을 바꿀 수 있음 ③ 수동 카메라 앱의 초점 링으로 천천히.
심도가 얕아야 효과가 큼: 앞 물체에 가까이, 배경은 멀리. 3x 망원 + 가까운 전경이 쉬운 조합.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[커버리지 ①] 커버리지 = 편집자가 고를 수 있게 같은 장면을 여러 각도 · 크기로 확보하는 것. 한 컷이 망가져도 다른 각도로 살릴 수 있는 보험.
보통 넓은 것에서 좁은 것으로: 마스터(전체 연기를 처음부터 끝까지) → 미디엄 → 어깨 너머 → 클로즈업 → 인서트 · 컷어웨이.
인서트 = 마스터 안에 있던 행동을 다르게 보여 주기(손, 컵), 컷어웨이 = 마스터에 없던 것(창밖, 다른 손님).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[커버리지 ②] 평면도: A와 B가 마주 앉은 대화. 빨간 점선 = 180도 선(오전에 배운 그 선). 모든 카메라는 선의 한쪽에만.
1 마스터 → 2 · 3 어깨 너머(OTS)로 숏-리버스 숏 → 4 · 5 클로즈업. 2와 3은 거울처럼 같은 거리 · 높이 · 렌즈로 찍어야 편집 때 자연스럽다.
아이라인: A의 시선은 화면 오른쪽, B의 시선은 화면 왼쪽으로 일관되게.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[커버리지 ③] 정보성 · 브랜딩 영상의 기본은 인터뷰. 폰 두 대로 현장 방식 그대로.
A캠 = 와이드(바스트, 정면에 가깝게), B캠 = 타이트(클로즈업, 45도 옆, 3x). 말을 잘라 붙일 때 A → B로 바꾸면 점프컷이 안 보입니다.
시선: 인터뷰이는 카메라가 아니라 카메라 바로 옆의 인터뷰어를 봅니다. 정보 전달형 숏폼은 렌즈를 직접 보는 경우도 있어 의도에 따라 선택.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[커버리지 ④] 편집에서 어색한 것은 대부분 촬영에서 생깁니다.
액션 겹쳐 찍기: 컵을 드는 동작을 와이드에서도 클로즈업에서도 처음부터 끝까지 → 편집에서 동작 중간에 자르면(컷 온 액션) 컷이 안 보입니다.
핸들: 액션 전 2~3초, 컷 후 2~3초. 룸톤: 그 장소의 '조용한 소리' 30초 이상 → 대사 사이 빈 곳을 메움.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[현장 운영 ①] 영화 현장은 정해진 순서로 말하고 대답합니다. 소리를 먼저 돌려야 테이크 앞부분 소리를 잃지 않기 때문에 사운드가 먼저.
조감독: "롤 사운드" → 녹음: "스피드" → 조감독: "롤 카메라" → 촬영: "롤링" → 슬레이트: "마커"(딱!) → 감독: "액션" → 감독: "컷".
팀마다 조금씩 다르고(동시에 돌리는 '턴오버' 등) 슬레이트는 보통 촬영부(세컨드)가 칩니다. 우리 크루 버전은 아래 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[현장 운영 ②] 슬레이트: 화면에 씬 · 컷 · 테이크 번호를 남기고, '딱' 소리로 소리와 화면을 맞춥니다. 폰 현장은 손뼉 + 종이에 번호를 써서 2초 비추기, 또는 슬레이트 앱.
숏리스트: 찍을 컷의 목록. 2교시의 카페 릴스를 숏리스트로 바꾸면 이렇게 됩니다. 2회차 기획안의 스토리보드가 현장에서는 이 표가 됩니다.
좋은 테이크 표시: 찍자마자 사진 앱에서 '하트'(즐겨찾기) → 편집 때 OK컷만 바로 찾기.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[현장 운영 ③] 스크립터(스크립트 수퍼바이저)는 컷과 컷이 이어지는지 기록하는 사람. 컵의 물 높이, 손에 든 쪽, 머리카락, 소품 위치.
우리 크루는 기록 담당이 매 컷 끝나고 사진 한 장 → 다음 각도 찍을 때 비교.
데이터: 현장 백업 담당(DIT)이 당일에 복사 · 확인. 우리는 3-2-1 규칙과 파일명 규칙.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[화질 ①] 180도 셔터 법칙: 셔터 속도 ≈ 1 / (fps × 2). 24fps → 1/50, 30fps → 1/60, 60fps → 1/120. 사람 눈에 자연스러운 움직임 번짐.
밝은 야외에서 폰은 조리개가 고정이라 셔터를 빠르게 올려 버림 → 움직임이 뚝뚝 끊김 → 현장은 ND 필터(렌즈용 선글라스)로 빛을 줄여 셔터를 지킴. 폰용 클립 ND가 있음.
기본 카메라 앱은 셔터를 못 바꾸는 경우가 많음: 갤럭시 '프로 동영상', 아이폰 · 일부 갤럭시 · 픽셀은 무료 Blackmagic Camera 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[화질 ②] 현장 색의 원칙: 촬영 중에 색이 변하면 안 된다(자동 화이트밸런스가 컷마다 바뀌는 것이 아마추어 티의 1순위).
두 대 이상이면 같은 기종 · 같은 설정, 시작할 때 흰 종이 · 회색 카드를 같이 찍어 두면 편집에서 맞추기 쉬움.
Log: 색을 일부러 밋밋하게 찍어 편집에서 넓게 보정하는 방식. 아이폰 15 Pro 이후의 Apple Log 등. 보정(LUT 적용)을 꼭 해야 하므로 초보는 기본 색으로 먼저.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[화질 ③] 오전의 3점 조명을 현장 방식으로 확장.
모티베이티드: 화면 속에 빛의 '이유'(창문 · 스탠드)가 있는 방향에서 비추기 → 자연스러움. 네거티브 필: 검은 천 · 옷으로 한쪽 빛을 막아 입체감 만들기(빛을 더하는 게 아니라 빼기).
실용 조명(Practicals): 화면 안에 보이는 스탠드 · 전구 · 모니터. 매직아워: 해 뜬 직후 · 해 지기 직전의 부드러운 빛, 블루아워는 해 진 직후.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[화질 ④] 오전의 '소리는 영상의 절반'을 현장 방식으로.
이중 녹음: 핀마이크(무선) + 폰 자체 녹음을 동시에 → 하나가 끊겨도 산다. 레벨: 말소리의 가장 큰 순간이 -12dB 근처, 0dB(빨간색)에 닿으면 깨져서 복구 불가.
와일드 트랙: 화면 없이 소리만 따로(문 닫는 소리, 발소리, 대사 한 번 더). 손뼉 싱크는 콜 순서 슬라이드 참고.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[정리] 크루 단톡방에 그대로 올려 두기. 오늘 실습부터 이 말로 소통합니다.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[실습] 크루별로 30초 대화 장면 하나를 '현장 방식'으로. 장면 예: 카페에서 커피를 건네며 한마디 주고받기.
역할: 감독(콜) · 촬영 · 녹음(두 번째 폰) · 슬레이트 겸 기록 · 배우 2명. 6명 크루는 촬영 B캠 추가.
순서: 블로킹 3분 → 마스터 → 어깨 너머 2컷 → 인서트 1컷 → 룸톤 30초. 끝나면 숏리스트에 OK 체크, 드라이브 업로드.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3317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420624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2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324612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4480560"/>
            <a:ext cx="71323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AI콘텐츠 크리에이터 실무 · 촬영편집 1회차 — 추가안: 현장 촬영 기법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12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103120"/>
            <a:ext cx="9784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188720" y="3977640"/>
            <a:ext cx="9784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영화 현장은 이렇게 찍는다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1981139" cy="356616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A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2697480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카메라 무빙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3246120"/>
            <a:ext cx="15239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CE"/>
                </a:solidFill>
              </a:rPr>
              <a:t>달리 · 트럭 · 크레인 · 아크 · 리빌 · 휩 팬 · 돌리 줌 · 롱테이크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895539" y="1600200"/>
            <a:ext cx="1981139" cy="356616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169859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B</a:t>
            </a:r>
            <a:endParaRPr lang="en-US" sz="4800" dirty="0"/>
          </a:p>
        </p:txBody>
      </p:sp>
      <p:sp>
        <p:nvSpPr>
          <p:cNvPr id="18" name="Text 15"/>
          <p:cNvSpPr txBox="1"/>
          <p:nvPr/>
        </p:nvSpPr>
        <p:spPr>
          <a:xfrm>
            <a:off x="3169859" y="2697480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렌즈와 초점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3169859" y="3246120"/>
            <a:ext cx="15239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CE"/>
                </a:solidFill>
              </a:rPr>
              <a:t>화각이 감정을 바꾼다. 초점 이동으로 시선을 옮긴다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105278" y="1600200"/>
            <a:ext cx="1981139" cy="356616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379598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C</a:t>
            </a:r>
            <a:endParaRPr lang="en-US" sz="4800" dirty="0"/>
          </a:p>
        </p:txBody>
      </p:sp>
      <p:sp>
        <p:nvSpPr>
          <p:cNvPr id="22" name="Text 19"/>
          <p:cNvSpPr txBox="1"/>
          <p:nvPr/>
        </p:nvSpPr>
        <p:spPr>
          <a:xfrm>
            <a:off x="5379598" y="2697480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커버리지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379598" y="3246120"/>
            <a:ext cx="15239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CE"/>
                </a:solidFill>
              </a:rPr>
              <a:t>한 장면을 여러 각도로. 대화 · 인터뷰 카메라 배치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315017" y="1600200"/>
            <a:ext cx="1981139" cy="356616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589337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D</a:t>
            </a:r>
            <a:endParaRPr lang="en-US" sz="4800" dirty="0"/>
          </a:p>
        </p:txBody>
      </p:sp>
      <p:sp>
        <p:nvSpPr>
          <p:cNvPr id="26" name="Text 23"/>
          <p:cNvSpPr txBox="1"/>
          <p:nvPr/>
        </p:nvSpPr>
        <p:spPr>
          <a:xfrm>
            <a:off x="7589337" y="2697480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현장 운영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7589337" y="3246120"/>
            <a:ext cx="15239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CE"/>
                </a:solidFill>
              </a:rPr>
              <a:t>콜 순서 · 슬레이트 · 숏리스트 · 연속성 · 데이터 백업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524756" y="1600200"/>
            <a:ext cx="1981139" cy="356616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799076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E</a:t>
            </a:r>
            <a:endParaRPr lang="en-US" sz="4800" dirty="0"/>
          </a:p>
        </p:txBody>
      </p:sp>
      <p:sp>
        <p:nvSpPr>
          <p:cNvPr id="30" name="Text 27"/>
          <p:cNvSpPr txBox="1"/>
          <p:nvPr/>
        </p:nvSpPr>
        <p:spPr>
          <a:xfrm>
            <a:off x="9799076" y="2697480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화질과 소리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9799076" y="3246120"/>
            <a:ext cx="15239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CE"/>
                </a:solidFill>
              </a:rPr>
              <a:t>180도 셔터 · 노출 도구 · 색 맞추기 · 조명 · 이중 녹음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85800" y="544068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60120" y="544068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장비는 폰이어도 일하는 방식은 현장과 똑같이. 그게 '실무'입니다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A 카메라 무빙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카메라 무빙 8가지 ①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572768"/>
            <a:ext cx="2533574" cy="4005072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pic>
        <p:nvPicPr>
          <p:cNvPr id="13" name="Image 0" descr="달리 인 · 아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2533574" cy="168904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86968" y="3398977"/>
            <a:ext cx="2167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DOLLY IN / OUT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86968" y="3645865"/>
            <a:ext cx="2167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달리 인 · 아웃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86968" y="4039057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카메라 자체가 다가가고 물러난다. 다가가면 몰입 · 긴장, 물러나면 고립 · 마무리.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86968" y="4889449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폰으로 · 짐벌 들고 천천히 걷기. 줌 대신 발로.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447974" y="1572768"/>
            <a:ext cx="2533574" cy="4005072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pic>
        <p:nvPicPr>
          <p:cNvPr id="19" name="Image 1" descr="트럭 (옆으로 이동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974" y="1572768"/>
            <a:ext cx="2533574" cy="16890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649142" y="3398977"/>
            <a:ext cx="2167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TRUCK · CRAB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3649142" y="3645865"/>
            <a:ext cx="2167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트럭 (옆으로 이동)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3649142" y="4039057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피사체와 나란히 옆으로. 앞의 기둥 · 나무가 지나가며 깊이(시차)가 생긴다.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649142" y="4889449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폰으로 · 전경을 하나 끼고 옆걸음. 바퀴 의자도 훌륭한 달리.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210148" y="1572768"/>
            <a:ext cx="2533574" cy="4005072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pic>
        <p:nvPicPr>
          <p:cNvPr id="25" name="Image 2" descr="페디스털 · 크레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148" y="1572768"/>
            <a:ext cx="2533574" cy="1689049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11316" y="3398977"/>
            <a:ext cx="2167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PEDESTAL · CRANE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6411316" y="3645865"/>
            <a:ext cx="2167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페디스털 · 크레인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6411316" y="4039057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카메라 높이를 올리고 내린다. 올라가며 공간 공개, 내려오며 인물로 진입.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6411316" y="4889449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폰으로 · 짐벌을 무릎 → 머리 위로. 틸트와 달리 몸 높이가 바뀐다.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8972321" y="1572768"/>
            <a:ext cx="2533574" cy="4005072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pic>
        <p:nvPicPr>
          <p:cNvPr id="31" name="Image 3" descr="아크 (둘러 돌기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321" y="1572768"/>
            <a:ext cx="2533574" cy="1689049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173489" y="3398977"/>
            <a:ext cx="2167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ARC · ORBIT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9173489" y="3645865"/>
            <a:ext cx="2167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아크 (둘러 돌기)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9173489" y="4039057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인물을 중심으로 원을 그리며 돈다. 결심 · 고백 · 제품 공개처럼 '중요한 순간'.</a:t>
            </a:r>
            <a:endParaRPr lang="en-US" sz="1150" dirty="0"/>
          </a:p>
        </p:txBody>
      </p:sp>
      <p:sp>
        <p:nvSpPr>
          <p:cNvPr id="35" name="Text 28"/>
          <p:cNvSpPr txBox="1"/>
          <p:nvPr/>
        </p:nvSpPr>
        <p:spPr>
          <a:xfrm>
            <a:off x="9173489" y="4889449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폰으로 · 짐벌로 인물과 같은 거리를 지키며 옆걸음으로 반 바퀴.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85800" y="57150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960120" y="57150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무빙은 '왜 움직이는지'가 먼저. 이유 없는 움직임은 흔들림일 뿐입니다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A 카메라 무빙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카메라 무빙 8가지 ②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572768"/>
            <a:ext cx="2533574" cy="4005072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pic>
        <p:nvPicPr>
          <p:cNvPr id="13" name="Image 0" descr="리빌 (드러내기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2533574" cy="168904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86968" y="3398977"/>
            <a:ext cx="2167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REVEAL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86968" y="3645865"/>
            <a:ext cx="2167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리빌 (드러내기)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86968" y="4039057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기둥 · 벽 · 물건 뒤에서 나오며 주인공을 보여 준다. 궁금증 → 해소.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86968" y="4889449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폰으로 · 벽 모서리나 컵 뒤에서 시작해 옆이나 위로 빠지기.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447974" y="1572768"/>
            <a:ext cx="2533574" cy="4005072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pic>
        <p:nvPicPr>
          <p:cNvPr id="19" name="Image 1" descr="휩 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974" y="1572768"/>
            <a:ext cx="2533574" cy="16890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649142" y="3398977"/>
            <a:ext cx="2167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WHIP PAN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3649142" y="3645865"/>
            <a:ext cx="2167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휩 팬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3649142" y="4039057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아주 빠른 팬으로 화면이 번지며 다음 대상으로 넘어간다. 에너지 · 장면 전환.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3649142" y="4889449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폰으로 · 끝 장면 휩 + 다음 장면 휩을 같은 방향으로 찍어 이으면 전환 효과.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210148" y="1572768"/>
            <a:ext cx="2533574" cy="4005072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pic>
        <p:nvPicPr>
          <p:cNvPr id="25" name="Image 2" descr="돌리 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148" y="1572768"/>
            <a:ext cx="2533574" cy="1689049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11316" y="3398977"/>
            <a:ext cx="2167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DOLLY ZOOM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6411316" y="3645865"/>
            <a:ext cx="2167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돌리 줌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6411316" y="4039057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물러나며 줌인(또는 반대). 인물 크기는 그대로, 배경만 늘었다 줄었다. 충격 · 현기증.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6411316" y="4889449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폰으로 · 뒤로 걸으며 줌인. 손으로는 어려워 짐벌 앱 기능을 쓰는 게 편하다.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8972321" y="1572768"/>
            <a:ext cx="2533574" cy="4005072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</p:sp>
      <p:pic>
        <p:nvPicPr>
          <p:cNvPr id="31" name="Image 3" descr="롱테이크 (원테이크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321" y="1572768"/>
            <a:ext cx="2533574" cy="1689049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173489" y="3398977"/>
            <a:ext cx="2167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LONG TAKE · ONER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9173489" y="3645865"/>
            <a:ext cx="21678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롱테이크 (원테이크)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9173489" y="4039057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끊지 않고 한 번에 따라간다. 현장감 · 긴장 · 시간이 실제로 흐르는 느낌.</a:t>
            </a:r>
            <a:endParaRPr lang="en-US" sz="1150" dirty="0"/>
          </a:p>
        </p:txBody>
      </p:sp>
      <p:sp>
        <p:nvSpPr>
          <p:cNvPr id="35" name="Text 28"/>
          <p:cNvSpPr txBox="1"/>
          <p:nvPr/>
        </p:nvSpPr>
        <p:spPr>
          <a:xfrm>
            <a:off x="9173489" y="4889449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폰으로 · 동선을 미리 걸어 보고(리허설) 짐벌로. 브이로그 오프닝에 강하다.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85800" y="57150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960120" y="57150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멋진 무빙도 한 영상에 한두 번. 많이 쓰면 효과가 사라집니다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A 카메라 무빙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폰과 짐벌로 현장 무빙 흉내 내기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108200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926080"/>
                <a:gridCol w="2956255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기법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장비 없이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짐벌이 있으면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현장 팁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달리 인 · 아웃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두 손 + 팔꿈치 고정, 닌자 걸음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가장 쉬운 무빙. 속도 일정하게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줌 대신 발로. 화질 손해 없음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트럭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바퀴 의자 · 카트에 앉아서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옆걸음, 짐벌 팬 모드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전경(기둥 · 화분)을 꼭 끼기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페디스털 · 크레인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무릎 높이에서 일어서며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로우 모드로 바닥 → 눈높이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틸트하지 말고 높이만 바꾸기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아크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인물과 같은 거리로 반 바퀴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팔로우 모드 + 옆걸음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인물 쪽으로 몸을 기울이기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리빌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물건 뒤에서 옆으로 빠지기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같은 방법, 더 부드럽게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첫 프레임은 완전히 가려 두기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휩 팬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손목 스냅으로 빠르게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스포츠(빠른 팬) 모드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두 장면을 같은 방향으로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돌리 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어려움(손으로 줌 조절 불가)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짐벌 앱의 돌리 줌 기능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배경이 깊은 장소에서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롱테이크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광각 0.5x + 닌자 걸음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동선 리허설 후 한 번에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실패 대비 두세 번 찍기</a:t>
                      </a:r>
                      <a:endParaRPr lang="en-US" sz="125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B 렌즈와 초점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줌과 달리는 다르다 · 돌리 줌의 원리</a:t>
            </a:r>
            <a:endParaRPr lang="en-US" sz="2800" dirty="0"/>
          </a:p>
        </p:txBody>
      </p:sp>
      <p:pic>
        <p:nvPicPr>
          <p:cNvPr id="12" name="Image 0" descr="돌리 줌 평면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5760720" cy="3840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858000" y="1572768"/>
            <a:ext cx="4647895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132320" y="1728216"/>
            <a:ext cx="4099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줌 (Zoom)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132320" y="2075688"/>
            <a:ext cx="4099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렌즈만 확대. 원근은 그대로라 평면적. 폰은 디지털 줌이면 화질도 손해.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858000" y="2871216"/>
            <a:ext cx="4647895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132320" y="3026664"/>
            <a:ext cx="4099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달리 (Dolly)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132320" y="3374136"/>
            <a:ext cx="4099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카메라가 실제로 이동. 배경과 인물의 관계가 바뀌어 입체적.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858000" y="4169664"/>
            <a:ext cx="4647895" cy="1161288"/>
          </a:xfrm>
          <a:prstGeom prst="roundRect">
            <a:avLst>
              <a:gd name="adj" fmla="val 6299"/>
            </a:avLst>
          </a:prstGeom>
          <a:solidFill>
            <a:schemeClr val="tx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132320" y="4325112"/>
            <a:ext cx="4099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돌리 줌 (Dolly Zoom)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7132320" y="4672584"/>
            <a:ext cx="40992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3CE"/>
                </a:solidFill>
              </a:rPr>
              <a:t>물러나며 줌인. 인물 크기는 그대로, 배경만 바짝 다가오며 늘어난다. 충격 · 깨달음의 순간.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85800" y="566928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60120" y="566928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다가가고 싶으면 줌 버튼보다 발. 폰은 렌즈 배율(0.5x · 1x · 3x)만 바꾸고 그 사이는 걸어서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B 렌즈와 초점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렌즈가 감정을 바꾼다 · 0.5x · 1x · 3x</a:t>
            </a:r>
            <a:endParaRPr lang="en-US" sz="2800" dirty="0"/>
          </a:p>
        </p:txBody>
      </p:sp>
      <p:pic>
        <p:nvPicPr>
          <p:cNvPr id="12" name="Image 0" descr="광각 · 표준 · 망원 비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10820095" cy="324602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4983389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0.5x 광각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880360" y="5038253"/>
            <a:ext cx="1229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WIDE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5349149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공간이 넓고 깊게, 다이내믹. 가까이 대면 얼굴이 늘어난다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5788061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→ 공간 소개 · 좁은 방 · 롱테이크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383938" y="4983389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1x 표준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578498" y="5038253"/>
            <a:ext cx="1229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NORMAL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383938" y="5349149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사람 눈과 비슷한 자연스러움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383938" y="5788061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→ 브이로그 · 기본 촬영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8082077" y="4983389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2~3x 망원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10276637" y="5038253"/>
            <a:ext cx="1229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TELEPHOTO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082077" y="5349149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배경이 당겨지는 압축 · 인물 강조 · 관찰하는 시선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082077" y="5788061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→ 인물 클로즈업 · 인터뷰 B캠 · 제품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B 렌즈와 초점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초점 이동 · 시선을 옮기는 가장 영화 같은 방법</a:t>
            </a:r>
            <a:endParaRPr lang="en-US" sz="2800" dirty="0"/>
          </a:p>
        </p:txBody>
      </p:sp>
      <p:pic>
        <p:nvPicPr>
          <p:cNvPr id="12" name="Image 0" descr="초점 이동 전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6400800" cy="25945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4242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앞사람에 초점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977640" y="4242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뒷사람으로 초점 이동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452360" y="1572768"/>
            <a:ext cx="4053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RACK FOCUS · FOCUS PULL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452360" y="1847088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폰으로 하는 세 가지 방법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7452360" y="237744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45236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8046720" y="2331720"/>
            <a:ext cx="3459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녹화 중 화면 탭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046720" y="2660904"/>
            <a:ext cx="345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가장 쉽다. 이동 속도는 폰이 정한다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452360" y="324612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452360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046720" y="3200400"/>
            <a:ext cx="3459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아이폰 시네마틱 모드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8046720" y="3529584"/>
            <a:ext cx="345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찍은 뒤 편집에서 초점을 옮길 수 있다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452360" y="411480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452360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8046720" y="4069080"/>
            <a:ext cx="3459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수동 카메라 앱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8046720" y="4398264"/>
            <a:ext cx="345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초점 링을 직접 천천히 돌린다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85800" y="54864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960120" y="54864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효과를 키우려면 심도를 얕게: 앞 물체에 가까이, 배경은 멀리, 3x 망원으로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C 커버리지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커버리지 · 한 장면을 여러 각도로 찍어 두기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1650949" cy="3017520"/>
          </a:xfrm>
          <a:prstGeom prst="roundRect">
            <a:avLst>
              <a:gd name="adj" fmla="val 4431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86968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86968" y="242316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마스터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86968" y="27889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6"/>
                </a:solidFill>
              </a:rPr>
              <a:t>MASTER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86968" y="3246120"/>
            <a:ext cx="13309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CE"/>
                </a:solidFill>
              </a:rPr>
              <a:t>장면 전체를 처음부터 끝까지 넓게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519629" y="1600200"/>
            <a:ext cx="1650949" cy="3017520"/>
          </a:xfrm>
          <a:prstGeom prst="roundRect">
            <a:avLst>
              <a:gd name="adj" fmla="val 4431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720797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2720797" y="242316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미디엄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720797" y="27889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MEDIUM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2720797" y="3246120"/>
            <a:ext cx="13309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두 사람 · 상반신, 관계가 보이게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53458" y="1600200"/>
            <a:ext cx="1650949" cy="3017520"/>
          </a:xfrm>
          <a:prstGeom prst="roundRect">
            <a:avLst>
              <a:gd name="adj" fmla="val 4431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554626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4554626" y="242316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어깨 너머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4554626" y="27889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OVER THE SHOULDER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4554626" y="3246120"/>
            <a:ext cx="13309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상대 어깨 너머로 말하는 사람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187288" y="1600200"/>
            <a:ext cx="1650949" cy="3017520"/>
          </a:xfrm>
          <a:prstGeom prst="roundRect">
            <a:avLst>
              <a:gd name="adj" fmla="val 4431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388456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6388456" y="242316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클로즈업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388456" y="27889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CLOSE-UP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388456" y="3246120"/>
            <a:ext cx="13309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표정 · 리액션, 가장 감정적인 컷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021117" y="1600200"/>
            <a:ext cx="1650949" cy="3017520"/>
          </a:xfrm>
          <a:prstGeom prst="roundRect">
            <a:avLst>
              <a:gd name="adj" fmla="val 4431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2285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</a:t>
            </a:r>
            <a:endParaRPr lang="en-US" sz="3000" dirty="0"/>
          </a:p>
        </p:txBody>
      </p:sp>
      <p:sp>
        <p:nvSpPr>
          <p:cNvPr id="34" name="Text 31"/>
          <p:cNvSpPr txBox="1"/>
          <p:nvPr/>
        </p:nvSpPr>
        <p:spPr>
          <a:xfrm>
            <a:off x="8222285" y="242316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인서트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222285" y="27889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INSERT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8222285" y="3246120"/>
            <a:ext cx="13309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손 · 컵 · 화면처럼 행동의 디테일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9854946" y="1600200"/>
            <a:ext cx="1650949" cy="3017520"/>
          </a:xfrm>
          <a:prstGeom prst="roundRect">
            <a:avLst>
              <a:gd name="adj" fmla="val 4431"/>
            </a:avLst>
          </a:prstGeom>
          <a:solidFill>
            <a:schemeClr val="bg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0056114" y="1737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6</a:t>
            </a:r>
            <a:endParaRPr lang="en-US" sz="3000" dirty="0"/>
          </a:p>
        </p:txBody>
      </p:sp>
      <p:sp>
        <p:nvSpPr>
          <p:cNvPr id="39" name="Text 36"/>
          <p:cNvSpPr txBox="1"/>
          <p:nvPr/>
        </p:nvSpPr>
        <p:spPr>
          <a:xfrm>
            <a:off x="10056114" y="242316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컷어웨이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10056114" y="2788920"/>
            <a:ext cx="13309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CUTAWAY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10056114" y="3246120"/>
            <a:ext cx="133090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장면 밖의 것: 창밖 · 시계 · 주변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868680" y="4892040"/>
            <a:ext cx="10454335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3" name="Text 40"/>
          <p:cNvSpPr txBox="1"/>
          <p:nvPr/>
        </p:nvSpPr>
        <p:spPr>
          <a:xfrm>
            <a:off x="685800" y="4983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넓게 → 좁게 (조명 · 세팅을 덜 바꾸는 순서)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85800" y="54864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960120" y="54864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편집은 찍어 둔 것 안에서만 할 수 있습니다. 커버리지는 편집자를 위한 보험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C 커버리지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대화 장면 카메라 배치 · 다섯 자리</a:t>
            </a:r>
            <a:endParaRPr lang="en-US" sz="2800" dirty="0"/>
          </a:p>
        </p:txBody>
      </p:sp>
      <p:pic>
        <p:nvPicPr>
          <p:cNvPr id="12" name="Image 0" descr="대화 장면 카메라 배치 평면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5760720" cy="3840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858000" y="16459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5800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424928" y="1591056"/>
            <a:ext cx="40809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마스터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7424928" y="1883664"/>
            <a:ext cx="4080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두 사람 전체, 장면 전부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858000" y="23042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58000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424928" y="2249424"/>
            <a:ext cx="40809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B 어깨 너머로 A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7424928" y="2542032"/>
            <a:ext cx="4080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숏 (Shot)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858000" y="29626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85800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424928" y="2907792"/>
            <a:ext cx="40809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A 어깨 너머로 B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424928" y="3200400"/>
            <a:ext cx="4080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리버스 숏 (Reverse Shot)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858000" y="3621024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85800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7424928" y="3566160"/>
            <a:ext cx="40809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A 클로즈업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3858768"/>
            <a:ext cx="4080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표정 · 리액션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858000" y="4279392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858000" y="4279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7424928" y="4224528"/>
            <a:ext cx="40809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B 클로즈업</a:t>
            </a:r>
            <a:endParaRPr lang="en-US" sz="1450" dirty="0"/>
          </a:p>
        </p:txBody>
      </p:sp>
      <p:sp>
        <p:nvSpPr>
          <p:cNvPr id="32" name="Text 28"/>
          <p:cNvSpPr txBox="1"/>
          <p:nvPr/>
        </p:nvSpPr>
        <p:spPr>
          <a:xfrm>
            <a:off x="7424928" y="4517136"/>
            <a:ext cx="4080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표정 · 리액션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858000" y="4937760"/>
            <a:ext cx="4647895" cy="502920"/>
          </a:xfrm>
          <a:prstGeom prst="roundRect">
            <a:avLst>
              <a:gd name="adj" fmla="val 14545"/>
            </a:avLst>
          </a:prstGeom>
          <a:solidFill>
            <a:srgbClr val="F6E3E1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7040880" y="4937760"/>
            <a:ext cx="4282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빨간 점선 = 180도 선. 카메라는 한쪽에만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685800" y="566928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960120" y="566928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2와 3은 거울처럼: 같은 거리 · 높이 · 배율로 찍어야 편집이 매끄럽습니다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C 커버리지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인터뷰 실무 · 카메라 두 대로 찍기</a:t>
            </a:r>
            <a:endParaRPr lang="en-US" sz="2800" dirty="0"/>
          </a:p>
        </p:txBody>
      </p:sp>
      <p:pic>
        <p:nvPicPr>
          <p:cNvPr id="12" name="Image 0" descr="인터뷰 두 대 카메라 평면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576072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1600200"/>
            <a:ext cx="464789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 A캠 와이드 + B캠 타이트(45도, 3x)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 인터뷰이는 카메라 옆 인터뷰어를 본다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 벽에서 1.5m 이상 떨어져 앉기(배경 깊이 · 그림자 없애기)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 창문(금색)을 얼굴 45도 앞쪽에: 키 라이트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 두 폰 모두 같은 화이트밸런스 · fps · 해상도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 시작 전 손뼉 한 번: 두 카메라 · 녹음 싱크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 질문 끝나고 1초 쉬고 대답(편집 여유)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85800" y="566928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960120" y="566928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B캠이 있으면 말을 잘라도 티가 나지 않습니다. 폰 두 대면 충분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C 커버리지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편집을 위한 촬영 · 현장에서 챙기는 네 가지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2499284" cy="36118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2395728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액션 겹쳐 찍기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2770632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OVERLAPPING ACTION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3154680"/>
            <a:ext cx="19963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같은 동작을 모든 각도에서 처음부터 끝까지. 편집에서 동작 중간에 잘라 이으면 컷이 사라진다(컷 온 액션).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459404" y="1600200"/>
            <a:ext cx="2499284" cy="36118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733724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02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3733724" y="2395728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핸들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3733724" y="2770632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HANDLES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733724" y="3154680"/>
            <a:ext cx="19963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'액션' 전 2~3초, '컷' 후 2~3초 그대로 두기. 전환 · 속도 조절에 쓸 여유.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33008" y="1600200"/>
            <a:ext cx="2499284" cy="36118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507328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03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507328" y="2395728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룸톤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507328" y="2770632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ROOM TONE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507328" y="3154680"/>
            <a:ext cx="19963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모두 멈추고 그 장소의 소리만 30초 이상. 대사 사이 빈 곳을 자연스럽게 메운다.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9006611" y="1600200"/>
            <a:ext cx="2499284" cy="36118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280931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04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9280931" y="2395728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B롤 넉넉히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9280931" y="2770632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B-ROLL · CUTAWAYS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280931" y="3154680"/>
            <a:ext cx="19963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손 · 소품 · 공간 · 창밖. 말이 길어질 때 덮을 그림. 필요하다 싶은 양의 두 배.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85800" y="54864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60120" y="54864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'나중에 편집에서 살리자'는 없습니다. 편집할 재료는 현장에서만 생깁니다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D 현장 운영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현장의 약속 · 촬영 시작 콜 순서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1428162" cy="160020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1755648"/>
            <a:ext cx="1153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조감독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2103120"/>
            <a:ext cx="1153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롤 사운드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2606040"/>
            <a:ext cx="1153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Roll Sound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251122" y="1645920"/>
            <a:ext cx="1428162" cy="160020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388282" y="1755648"/>
            <a:ext cx="1153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녹음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388282" y="2103120"/>
            <a:ext cx="1153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스피드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2388282" y="2606040"/>
            <a:ext cx="1153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Speed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816444" y="1645920"/>
            <a:ext cx="1428162" cy="160020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953604" y="1755648"/>
            <a:ext cx="1153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조감독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953604" y="2103120"/>
            <a:ext cx="1153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롤 카메라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953604" y="2606040"/>
            <a:ext cx="1153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Roll Camera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381767" y="1645920"/>
            <a:ext cx="1428162" cy="160020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518927" y="1755648"/>
            <a:ext cx="1153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촬영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518927" y="2103120"/>
            <a:ext cx="1153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롤링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518927" y="2606040"/>
            <a:ext cx="1153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Rolling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947089" y="1645920"/>
            <a:ext cx="1428162" cy="1600200"/>
          </a:xfrm>
          <a:prstGeom prst="roundRect">
            <a:avLst>
              <a:gd name="adj" fmla="val 5122"/>
            </a:avLst>
          </a:prstGeom>
          <a:solidFill>
            <a:schemeClr val="tx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084249" y="1755648"/>
            <a:ext cx="1153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촬영부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84249" y="2103120"/>
            <a:ext cx="1153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마커!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7084249" y="2606040"/>
            <a:ext cx="1153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3CE"/>
                </a:solidFill>
              </a:rPr>
              <a:t>Marker · 슬레이트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512411" y="1645920"/>
            <a:ext cx="1428162" cy="1600200"/>
          </a:xfrm>
          <a:prstGeom prst="roundRect">
            <a:avLst>
              <a:gd name="adj" fmla="val 5122"/>
            </a:avLst>
          </a:prstGeom>
          <a:solidFill>
            <a:schemeClr val="tx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649571" y="1755648"/>
            <a:ext cx="1153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감독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649571" y="2103120"/>
            <a:ext cx="1153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액션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8649571" y="2606040"/>
            <a:ext cx="1153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3CE"/>
                </a:solidFill>
              </a:rPr>
              <a:t>Action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0077733" y="1645920"/>
            <a:ext cx="1428162" cy="160020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0214893" y="1755648"/>
            <a:ext cx="1153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감독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214893" y="2103120"/>
            <a:ext cx="1153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컷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10214893" y="2606040"/>
            <a:ext cx="1153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Cut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68580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우리 크루 버전 (폰 촬영)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685800" y="3931920"/>
            <a:ext cx="142816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77240" y="3931920"/>
            <a:ext cx="12452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감독 "녹음!"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2251122" y="3931920"/>
            <a:ext cx="142816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342562" y="3931920"/>
            <a:ext cx="12452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녹음 "돌아요"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3816444" y="3931920"/>
            <a:ext cx="142816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907884" y="3931920"/>
            <a:ext cx="12452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감독 "카메라!"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5381767" y="3931920"/>
            <a:ext cx="142816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473207" y="3931920"/>
            <a:ext cx="12452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촬영 "돌아요"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6947089" y="3931920"/>
            <a:ext cx="142816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038529" y="3931920"/>
            <a:ext cx="12452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슬레이트 손뼉 짝!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8512411" y="3931920"/>
            <a:ext cx="142816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603851" y="3931920"/>
            <a:ext cx="12452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2초 쉬고 "액션"</a:t>
            </a:r>
            <a:endParaRPr lang="en-US" sz="1250" dirty="0"/>
          </a:p>
        </p:txBody>
      </p:sp>
      <p:sp>
        <p:nvSpPr>
          <p:cNvPr id="53" name="Shape 50"/>
          <p:cNvSpPr/>
          <p:nvPr/>
        </p:nvSpPr>
        <p:spPr>
          <a:xfrm>
            <a:off x="10077733" y="3931920"/>
            <a:ext cx="142816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4E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0169173" y="3931920"/>
            <a:ext cx="12452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끝나고 2초 뒤 "컷"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685800" y="512064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960120" y="512064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콜 순서를 지키면 '찍었는데 소리가 없다', '앞부분이 잘렸다'가 사라집니다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D 현장 운영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슬레이트와 숏리스트 · 무엇을 몇 번째로 찍었나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45920"/>
            <a:ext cx="3840480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1719072"/>
            <a:ext cx="457200" cy="365760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417320" y="1719072"/>
            <a:ext cx="457200" cy="365760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2057400" y="1719072"/>
            <a:ext cx="457200" cy="365760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2697480" y="1719072"/>
            <a:ext cx="457200" cy="365760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3337560" y="1719072"/>
            <a:ext cx="457200" cy="365760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3977640" y="1719072"/>
            <a:ext cx="457200" cy="365760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85800" y="2194560"/>
            <a:ext cx="3840480" cy="2743200"/>
          </a:xfrm>
          <a:prstGeom prst="rect">
            <a:avLst/>
          </a:prstGeom>
          <a:solidFill>
            <a:srgbClr val="1B211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68680" y="2377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SCENE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263347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3</a:t>
            </a:r>
            <a:endParaRPr lang="en-US" sz="4400" dirty="0"/>
          </a:p>
        </p:txBody>
      </p:sp>
      <p:sp>
        <p:nvSpPr>
          <p:cNvPr id="22" name="Text 19"/>
          <p:cNvSpPr txBox="1"/>
          <p:nvPr/>
        </p:nvSpPr>
        <p:spPr>
          <a:xfrm>
            <a:off x="2057400" y="2377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SHOT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2057400" y="263347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4</a:t>
            </a:r>
            <a:endParaRPr lang="en-US" sz="4400" dirty="0"/>
          </a:p>
        </p:txBody>
      </p:sp>
      <p:sp>
        <p:nvSpPr>
          <p:cNvPr id="24" name="Text 21"/>
          <p:cNvSpPr txBox="1"/>
          <p:nvPr/>
        </p:nvSpPr>
        <p:spPr>
          <a:xfrm>
            <a:off x="3246120" y="2377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TAKE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246120" y="2633472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2</a:t>
            </a:r>
            <a:endParaRPr lang="en-US" sz="44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" y="3657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CE"/>
                </a:solidFill>
              </a:rPr>
              <a:t>PROD  카페 릴스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3CE"/>
                </a:solidFill>
              </a:rPr>
              <a:t>DIR  ○○○   CAM  ○○○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3CE"/>
                </a:solidFill>
              </a:rPr>
              <a:t>DATE  2026. 10. 22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5047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폰 현장: 종이에 번호 + 손뼉 '짝'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45920"/>
          <a:ext cx="6659575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011680"/>
                <a:gridCol w="1325880"/>
                <a:gridCol w="2133295"/>
                <a:gridCol w="502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씬-컷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크기 · 앵글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무빙 · 기법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OK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1-1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익스트림 클로즈업 · 탑뷰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고정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라떼아트가 그려지는 잔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1-2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미디엄 · 아이레벨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달리 인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바리스타가 잔을 건넨다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1-3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와이드 · 하이앵글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페디스털 다운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비 오는 창가와 카페 전경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1-4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클로즈업 · 3x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초점 이동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컵 → 손님의 미소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1-5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인서트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고정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원두를 가는 손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1-6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와이드 · 외부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리빌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간판 뒤에서 나오는 카페 외관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685800" y="54864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960120" y="54864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좋은 테이크는 찍자마자 '하트'. 편집 때 OK컷만 바로 찾습니다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D 현장 운영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연속성과 데이터 · 현장이 끝나도 끝이 아니다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5272888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05840" y="1783080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CONTINUITY · 연속성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05740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컷이 바뀌어도 세상은 그대로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651760"/>
            <a:ext cx="46328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컵 · 물 높이 · 소품 위치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어느 손으로 들었나, 어느 쪽을 보나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머리카락 · 옷깃 · 소매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빛의 방향 · 창밖 날씨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매 컷 끝나면 기록 담당이 사진 한 장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33008" y="1600200"/>
            <a:ext cx="5272888" cy="365760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53048" y="1783080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6"/>
                </a:solidFill>
              </a:rPr>
              <a:t>DATA · 3-2-1 백업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553048" y="205740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원본은 세 군데에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553048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7147408" y="2651760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사본 세 개 (원본 포함)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553048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7147408" y="3200400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서로 다른 저장 장치 두 종류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553048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7147408" y="3749040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한 개는 다른 장소 (클라우드)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553048" y="4434840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파일명: 날짜_장면_컷_테이크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예) 1022_카페_03_T2.mp4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85800" y="54864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60120" y="54864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폰 → 드라이브 크루 폴더 → 내 PC. 수업 끝나기 전에 업로드 확인까지가 촬영입니다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E 화질 · 색 · 빛 · 소리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노출 실무 · 180도 셔터와 모니터링 도구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3931920" cy="365760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05840" y="1783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6"/>
                </a:solidFill>
              </a:rPr>
              <a:t>180° SHUTTER RULE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103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셔터 = 1 / (fps × 2)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24fps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242316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→  1/50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3383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30fps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242316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→  1/60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931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60fps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242316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→  1/120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572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3CE"/>
                </a:solidFill>
              </a:rPr>
              <a:t>밝은 야외 → ND 필터로 빛을 줄여 셔터 지키기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892040" y="1600200"/>
            <a:ext cx="6613855" cy="811530"/>
          </a:xfrm>
          <a:prstGeom prst="roundRect">
            <a:avLst>
              <a:gd name="adj" fmla="val 9014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166360" y="17099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지브라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166360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ZEBRA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1600200"/>
            <a:ext cx="42821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하얗게 날아갈 곳에 빗금 표시. 얼굴엔 빗금이 살짝 걸리기 직전까지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892040" y="2548890"/>
            <a:ext cx="6613855" cy="811530"/>
          </a:xfrm>
          <a:prstGeom prst="roundRect">
            <a:avLst>
              <a:gd name="adj" fmla="val 9014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166360" y="265861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폴스 컬러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166360" y="300609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FALSE COLOR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995160" y="2548890"/>
            <a:ext cx="42821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밝기를 색으로 표시. 피부가 같은 색으로 나오게 맞추기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892040" y="3497580"/>
            <a:ext cx="6613855" cy="811530"/>
          </a:xfrm>
          <a:prstGeom prst="roundRect">
            <a:avLst>
              <a:gd name="adj" fmla="val 9014"/>
            </a:avLst>
          </a:prstGeom>
          <a:solidFill>
            <a:schemeClr val="bg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166360" y="36073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포커스 피킹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166360" y="39547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FOCUS PEAKING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95160" y="3497580"/>
            <a:ext cx="42821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초점 맞은 테두리에 색 표시. 수동 초점의 필수품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4892040" y="4446270"/>
            <a:ext cx="6613855" cy="811530"/>
          </a:xfrm>
          <a:prstGeom prst="roundRect">
            <a:avLst>
              <a:gd name="adj" fmla="val 9014"/>
            </a:avLst>
          </a:prstGeom>
          <a:solidFill>
            <a:schemeClr val="bg2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166360" y="455599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히스토그램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166360" y="4903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HISTOGRAM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995160" y="4446270"/>
            <a:ext cx="42821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밝기 분포 그래프. 오른쪽 벽에 붙으면 하늘 · 창이 날아감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685800" y="54864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960120" y="54864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수동 앱: 갤럭시 '프로 동영상' · 무료 Blackmagic Camera(아이폰, 일부 갤럭시 · 픽셀)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E 화질 · 색 · 빛 · 소리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색 실무 · 고정하고, 맞추고, 남겨 두기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2499284" cy="33832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2395728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고정하기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2770632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LOCK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3154680"/>
            <a:ext cx="19963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화이트밸런스 · 노출 · 초점을 잠그고 찍기. 컷 중간에 색이 변하지 않게.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459404" y="1600200"/>
            <a:ext cx="2499284" cy="33832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733724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02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3733724" y="2395728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맞추기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733724" y="2770632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MATCH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733724" y="3154680"/>
            <a:ext cx="19963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두 카메라는 같은 설정. 시작할 때 흰 종이 · 회색 카드를 함께 찍기.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33008" y="1600200"/>
            <a:ext cx="2499284" cy="338328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507328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03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507328" y="2395728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남겨 두기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507328" y="2770632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LOG &amp; LUT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507328" y="3154680"/>
            <a:ext cx="19963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3CE"/>
                </a:solidFill>
              </a:rPr>
              <a:t>Log로 밋밋하게 찍고 편집에서 LUT로 색 입히기. 보정할 시간이 있을 때만.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9006611" y="1600200"/>
            <a:ext cx="2499284" cy="33832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280931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04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9280931" y="2395728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같은 빛에서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9280931" y="2770632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LIGHT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280931" y="3154680"/>
            <a:ext cx="19963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한 장면은 같은 시간대에. 해가 움직이면 컷마다 색이 달라진다.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85800" y="525780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60120" y="525780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아마추어 티의 1순위는 컷마다 바뀌는 색. 화이트밸런스부터 고정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E 화질 · 색 · 빛 · 소리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빛 실무 · 현장 조명팀이 쓰는 다섯 가지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2003085" cy="3566160"/>
          </a:xfrm>
          <a:prstGeom prst="roundRect">
            <a:avLst>
              <a:gd name="adj" fmla="val 3652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187452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4" name="Image 0" descr="FaWindowMaximiz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202192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0120" y="2587752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모티베이티드 빛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3017520"/>
            <a:ext cx="145444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MOTIVATED LIGHT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화면 속 창문 · 스탠드 쪽에서 빛이 오게. 빛에 '이유'가 있으면 자연스럽다.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890053" y="1600200"/>
            <a:ext cx="2003085" cy="3566160"/>
          </a:xfrm>
          <a:prstGeom prst="roundRect">
            <a:avLst>
              <a:gd name="adj" fmla="val 3652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3164373" y="187452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9" name="Image 1" descr="FaAdju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774" y="2021921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164373" y="2587752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네거티브 필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3164373" y="3017520"/>
            <a:ext cx="145444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NEGATIVE FILL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검은 천 · 어두운 옷으로 한쪽 빛을 막기. 빛을 빼서 입체감을.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94305" y="1600200"/>
            <a:ext cx="2003085" cy="3566160"/>
          </a:xfrm>
          <a:prstGeom prst="roundRect">
            <a:avLst>
              <a:gd name="adj" fmla="val 3652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5368625" y="187452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4" name="Image 2" descr="FaSu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027" y="202192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368625" y="2587752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림 · 역광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368625" y="3017520"/>
            <a:ext cx="145444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RIM · BACKLIGHT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뒤에서 오는 빛으로 머리 · 어깨 윤곽. 배경과 인물이 분리된다.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298558" y="1600200"/>
            <a:ext cx="2003085" cy="3566160"/>
          </a:xfrm>
          <a:prstGeom prst="roundRect">
            <a:avLst>
              <a:gd name="adj" fmla="val 3652"/>
            </a:avLst>
          </a:prstGeom>
          <a:solidFill>
            <a:schemeClr val="bg2"/>
          </a:solidFill>
          <a:ln/>
        </p:spPr>
      </p:sp>
      <p:sp>
        <p:nvSpPr>
          <p:cNvPr id="28" name="Shape 22"/>
          <p:cNvSpPr/>
          <p:nvPr/>
        </p:nvSpPr>
        <p:spPr>
          <a:xfrm>
            <a:off x="7572878" y="187452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9" name="Image 3" descr="FaLightbul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0279" y="2021921"/>
            <a:ext cx="272125" cy="27212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572878" y="2587752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실용 조명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572878" y="3017520"/>
            <a:ext cx="145444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PRACTICALS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화면 안의 스탠드 · 전구 · 모니터. 분위기와 깊이를 동시에.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9502811" y="1600200"/>
            <a:ext cx="2003085" cy="3566160"/>
          </a:xfrm>
          <a:prstGeom prst="roundRect">
            <a:avLst>
              <a:gd name="adj" fmla="val 3652"/>
            </a:avLst>
          </a:prstGeom>
          <a:solidFill>
            <a:schemeClr val="bg2"/>
          </a:solidFill>
          <a:ln/>
        </p:spPr>
      </p:sp>
      <p:sp>
        <p:nvSpPr>
          <p:cNvPr id="33" name="Shape 26"/>
          <p:cNvSpPr/>
          <p:nvPr/>
        </p:nvSpPr>
        <p:spPr>
          <a:xfrm>
            <a:off x="9777131" y="1874520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34" name="Image 4" descr="FaCloudSu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532" y="2021921"/>
            <a:ext cx="272125" cy="27212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777131" y="2587752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매직아워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9777131" y="3017520"/>
            <a:ext cx="145444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GOLDEN · BLUE HOUR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해 뜬 직후 · 해 지기 직전의 부드러운 금빛, 해 진 직후의 푸른빛.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685800" y="544068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960120" y="544068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조명은 더하기만이 아니라 빼기. 흰 종이(반사)와 검은 천(네거티브 필)이 기본 장비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E 화질 · 색 · 빛 · 소리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소리 실무 · 녹음부가 지키는 다섯 가지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572768"/>
            <a:ext cx="10820095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886968" y="165506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86968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157276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이중 녹음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297680" y="1572768"/>
            <a:ext cx="7025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핀마이크 + 폰 녹음 동시에. 하나가 끊겨도 산다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2304288"/>
            <a:ext cx="10820095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968" y="238658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86968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230428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마이크는 가까이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304288"/>
            <a:ext cx="7025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입에서 한 뼘. 거리가 두 배면 잡음이 확 늘어난다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85800" y="3035808"/>
            <a:ext cx="10820095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886968" y="311810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86968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303580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레벨 -12dB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035808"/>
            <a:ext cx="7025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가장 큰 말소리가 -12dB 근처. 0dB에 닿으면 깨진다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85800" y="3767328"/>
            <a:ext cx="10820095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8" name="Shape 25"/>
          <p:cNvSpPr/>
          <p:nvPr/>
        </p:nvSpPr>
        <p:spPr>
          <a:xfrm>
            <a:off x="886968" y="384962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86968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04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554480" y="376732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룸톤 30초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3767328"/>
            <a:ext cx="7025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모두 멈추고 그 공간 소리만. 편집의 빈틈을 메운다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85800" y="4498848"/>
            <a:ext cx="10820095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33" name="Shape 30"/>
          <p:cNvSpPr/>
          <p:nvPr/>
        </p:nvSpPr>
        <p:spPr>
          <a:xfrm>
            <a:off x="886968" y="458114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86968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05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554480" y="449884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와일드 트랙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498848"/>
            <a:ext cx="7025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소리만 따로: 문 소리 · 발소리 · 대사 한 번 더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85800" y="544068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960120" y="544068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흐린 화면은 참아도 깨진 소리는 못 참습니다. 녹음은 두 군데에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현장 용어 사전 · 오늘부터 우리끼리 쓰는 말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5272888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3552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용어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뜻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스탠바이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촬영 준비 완료, 모두 제자리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롤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녹화 · 녹음 시작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슬레이트 · 마커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번호판 + 딱 소리로 싱크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액션 / 컷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연기 시작 / 멈춤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테이크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같은 컷을 찍은 횟수(T1, T2…)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킵 · OK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쓸 수 있는 컷, 보관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NG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다시 찍기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픽업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앞부분 빼고 중간부터 다시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554480"/>
          <a:ext cx="5272888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3552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용어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뜻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마스터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장면 전체를 넓게 한 번에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인서트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손 · 소품 같은 디테일 컷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커버리지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여러 각도로 확보한 컷 묶음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셋업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카메라 위치를 바꾸는 것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블로킹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배우 동선과 위치 정하기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마크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배우가 설 자리에 붙인 테이프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룸톤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그 공간의 조용한 소리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콜시트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그날의 촬영 일정표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6교시 · 추가안: 현장 촬영 기법  · 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25151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5463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0756087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50292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11176711" y="5029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DDE4E0"/>
          </a:solidFill>
          <a:ln/>
        </p:spPr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85800" y="71323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실습 · 우리 크루 미니 촬영 현장 (20분)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5800" y="1572768"/>
            <a:ext cx="2003085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1847088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4" name="Image 0" descr="FaBullho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1994489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0120" y="2560320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감독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2990088"/>
            <a:ext cx="14544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콜 순서 진행 · OK 판단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890053" y="1572768"/>
            <a:ext cx="2003085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3164373" y="1847088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19" name="Image 1" descr="FaVi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774" y="1994489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164373" y="2560320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촬영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3164373" y="2990088"/>
            <a:ext cx="14544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숏리스트대로 · AE/AF 잠금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94305" y="1572768"/>
            <a:ext cx="2003085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5368625" y="1847088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4" name="Image 2" descr="FaMicro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027" y="1994489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368625" y="2560320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녹음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368625" y="2990088"/>
            <a:ext cx="14544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두 번째 폰 · 룸톤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298558" y="1572768"/>
            <a:ext cx="2003085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28" name="Shape 22"/>
          <p:cNvSpPr/>
          <p:nvPr/>
        </p:nvSpPr>
        <p:spPr>
          <a:xfrm>
            <a:off x="7572878" y="1847088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29" name="Image 3" descr="FaClipboardLi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0279" y="1994489"/>
            <a:ext cx="272125" cy="27212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572878" y="2560320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슬레이트 · 기록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572878" y="2990088"/>
            <a:ext cx="14544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손뼉 · 번호 · 연속성 사진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9502811" y="1572768"/>
            <a:ext cx="2003085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33" name="Shape 26"/>
          <p:cNvSpPr/>
          <p:nvPr/>
        </p:nvSpPr>
        <p:spPr>
          <a:xfrm>
            <a:off x="9777131" y="1847088"/>
            <a:ext cx="566928" cy="566928"/>
          </a:xfrm>
          <a:prstGeom prst="ellipse">
            <a:avLst/>
          </a:prstGeom>
          <a:solidFill>
            <a:srgbClr val="E6EEE9"/>
          </a:solidFill>
          <a:ln/>
        </p:spPr>
      </p:sp>
      <p:pic>
        <p:nvPicPr>
          <p:cNvPr id="34" name="Image 4" descr="FaUserFriend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532" y="1994489"/>
            <a:ext cx="272125" cy="27212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777131" y="2560320"/>
            <a:ext cx="14544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배우 2명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9777131" y="2990088"/>
            <a:ext cx="14544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마크 지키기 · 같은 동작 반복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685800" y="3749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찍을 것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685800" y="40690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마스터 1  ·  어깨 너머 2 (숏 · 리버스)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인서트 1 (컵 · 손)  ·  룸톤 30초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☐  모든 테이크 앞뒤 2초, 콜 순서대로</a:t>
            </a:r>
            <a:endParaRPr lang="en-US" sz="1400" dirty="0"/>
          </a:p>
        </p:txBody>
      </p:sp>
      <p:sp>
        <p:nvSpPr>
          <p:cNvPr id="39" name="Shape 31"/>
          <p:cNvSpPr/>
          <p:nvPr/>
        </p:nvSpPr>
        <p:spPr>
          <a:xfrm>
            <a:off x="6537960" y="3703320"/>
            <a:ext cx="4967935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40" name="Text 32"/>
          <p:cNvSpPr txBox="1"/>
          <p:nvPr/>
        </p:nvSpPr>
        <p:spPr>
          <a:xfrm>
            <a:off x="6766560" y="3867912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ChatGPT에 숏리스트를 붙여 넣고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6766560" y="4178808"/>
            <a:ext cx="4510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우리 크루가 찍은 대화 장면 숏리스트야. 편집할 때 빠진 컷이 있는지, 180도 선을 넘은 컷이 있는지 확인하고, 추가로 찍으면 좋을 컷 2개를 추천해 줘.</a:t>
            </a:r>
            <a:endParaRPr lang="en-US" sz="1350" dirty="0"/>
          </a:p>
        </p:txBody>
      </p:sp>
      <p:sp>
        <p:nvSpPr>
          <p:cNvPr id="42" name="Shape 34"/>
          <p:cNvSpPr/>
          <p:nvPr/>
        </p:nvSpPr>
        <p:spPr>
          <a:xfrm>
            <a:off x="685800" y="5532120"/>
            <a:ext cx="10820095" cy="512064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960120" y="5532120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오늘 찍은 장면은 3회차 CapCut 첫 편집 재료가 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A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w Tree">
  <a:themeElements>
    <a:clrScheme name="Crew Tree">
      <a:dk1>
        <a:srgbClr val="1B211E"/>
      </a:dk1>
      <a:lt1>
        <a:srgbClr val="FFFFFF"/>
      </a:lt1>
      <a:dk2>
        <a:srgbClr val="121816"/>
      </a:dk2>
      <a:lt2>
        <a:srgbClr val="F3F6F4"/>
      </a:lt2>
      <a:accent1>
        <a:srgbClr val="D6A23C"/>
      </a:accent1>
      <a:accent2>
        <a:srgbClr val="1F5A43"/>
      </a:accent2>
      <a:accent3>
        <a:srgbClr val="B8473E"/>
      </a:accent3>
      <a:accent4>
        <a:srgbClr val="3B6F97"/>
      </a:accent4>
      <a:accent5>
        <a:srgbClr val="6E7A74"/>
      </a:accent5>
      <a:accent6>
        <a:srgbClr val="F2E3B8"/>
      </a:accent6>
      <a:hlink>
        <a:srgbClr val="3B6F97"/>
      </a:hlink>
      <a:folHlink>
        <a:srgbClr val="6E4E8E"/>
      </a:folHlink>
    </a:clrScheme>
    <a:fontScheme name="Crew Tre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촬영편집 1회차 추가안 — 영화 현장 촬영 기법</dc:title>
  <dc:subject>PptxGenJS Presentation</dc:subject>
  <dc:creator>촬영편집 강사</dc:creator>
  <cp:lastModifiedBy>촬영편집 강사</cp:lastModifiedBy>
  <cp:revision>1</cp:revision>
  <dcterms:created xsi:type="dcterms:W3CDTF">2026-10-20T19:07:40Z</dcterms:created>
  <dcterms:modified xsi:type="dcterms:W3CDTF">2026-10-20T19:07:40Z</dcterms:modified>
</cp:coreProperties>
</file>